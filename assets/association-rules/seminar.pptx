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78"/>
  </p:notesMasterIdLst>
  <p:sldIdLst>
    <p:sldId id="358" r:id="rId4"/>
    <p:sldId id="357" r:id="rId5"/>
    <p:sldId id="828" r:id="rId6"/>
    <p:sldId id="336" r:id="rId7"/>
    <p:sldId id="858" r:id="rId8"/>
    <p:sldId id="859" r:id="rId9"/>
    <p:sldId id="860" r:id="rId10"/>
    <p:sldId id="347" r:id="rId11"/>
    <p:sldId id="306" r:id="rId12"/>
    <p:sldId id="320" r:id="rId13"/>
    <p:sldId id="318" r:id="rId14"/>
    <p:sldId id="321" r:id="rId15"/>
    <p:sldId id="322" r:id="rId16"/>
    <p:sldId id="323" r:id="rId17"/>
    <p:sldId id="324" r:id="rId18"/>
    <p:sldId id="856" r:id="rId19"/>
    <p:sldId id="308" r:id="rId20"/>
    <p:sldId id="325" r:id="rId21"/>
    <p:sldId id="857" r:id="rId22"/>
    <p:sldId id="311" r:id="rId23"/>
    <p:sldId id="340" r:id="rId24"/>
    <p:sldId id="829" r:id="rId25"/>
    <p:sldId id="314" r:id="rId26"/>
    <p:sldId id="315" r:id="rId27"/>
    <p:sldId id="316" r:id="rId28"/>
    <p:sldId id="317" r:id="rId29"/>
    <p:sldId id="327" r:id="rId30"/>
    <p:sldId id="328" r:id="rId31"/>
    <p:sldId id="329" r:id="rId32"/>
    <p:sldId id="330" r:id="rId33"/>
    <p:sldId id="326" r:id="rId34"/>
    <p:sldId id="826" r:id="rId35"/>
    <p:sldId id="830" r:id="rId36"/>
    <p:sldId id="767" r:id="rId37"/>
    <p:sldId id="833" r:id="rId38"/>
    <p:sldId id="817" r:id="rId39"/>
    <p:sldId id="764" r:id="rId40"/>
    <p:sldId id="770" r:id="rId41"/>
    <p:sldId id="861" r:id="rId42"/>
    <p:sldId id="862" r:id="rId43"/>
    <p:sldId id="863" r:id="rId44"/>
    <p:sldId id="864" r:id="rId45"/>
    <p:sldId id="865" r:id="rId46"/>
    <p:sldId id="866" r:id="rId47"/>
    <p:sldId id="867" r:id="rId48"/>
    <p:sldId id="868" r:id="rId49"/>
    <p:sldId id="869" r:id="rId50"/>
    <p:sldId id="870" r:id="rId51"/>
    <p:sldId id="871" r:id="rId52"/>
    <p:sldId id="872" r:id="rId53"/>
    <p:sldId id="825" r:id="rId54"/>
    <p:sldId id="838" r:id="rId55"/>
    <p:sldId id="842" r:id="rId56"/>
    <p:sldId id="841" r:id="rId57"/>
    <p:sldId id="839" r:id="rId58"/>
    <p:sldId id="843" r:id="rId59"/>
    <p:sldId id="873" r:id="rId60"/>
    <p:sldId id="874" r:id="rId61"/>
    <p:sldId id="875" r:id="rId62"/>
    <p:sldId id="876" r:id="rId63"/>
    <p:sldId id="877" r:id="rId64"/>
    <p:sldId id="878" r:id="rId65"/>
    <p:sldId id="879" r:id="rId66"/>
    <p:sldId id="880" r:id="rId67"/>
    <p:sldId id="881" r:id="rId68"/>
    <p:sldId id="882" r:id="rId69"/>
    <p:sldId id="883" r:id="rId70"/>
    <p:sldId id="884" r:id="rId71"/>
    <p:sldId id="885" r:id="rId72"/>
    <p:sldId id="886" r:id="rId73"/>
    <p:sldId id="887" r:id="rId74"/>
    <p:sldId id="888" r:id="rId75"/>
    <p:sldId id="889" r:id="rId76"/>
    <p:sldId id="890" r:id="rId77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C9FF"/>
    <a:srgbClr val="B7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C059CE-755A-42CA-8AF7-9F5068BDAF94}" v="148" dt="2026-02-12T10:15:16.151"/>
    <p1510:client id="{DEE53597-B362-8740-A779-6A4816221789}" v="42" dt="2026-02-12T23:37:19.2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49"/>
    <p:restoredTop sz="94189"/>
  </p:normalViewPr>
  <p:slideViewPr>
    <p:cSldViewPr snapToGrid="0" snapToObjects="1">
      <p:cViewPr>
        <p:scale>
          <a:sx n="96" d="100"/>
          <a:sy n="96" d="100"/>
        </p:scale>
        <p:origin x="1592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tableStyles" Target="tableStyle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customXml" Target="../customXml/item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FD3CEE1F-8BB5-9220-0F37-F293FC99731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0336C8CE-38A9-8FB7-0699-68678124EA7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2E5A347C-C906-564E-8C31-E20B2314B976}" type="datetime1">
              <a:rPr lang="en-US"/>
              <a:pPr>
                <a:defRPr/>
              </a:pPr>
              <a:t>10/1/26</a:t>
            </a:fld>
            <a:endParaRPr lang="en-US"/>
          </a:p>
        </p:txBody>
      </p:sp>
      <p:sp>
        <p:nvSpPr>
          <p:cNvPr id="13316" name="Rectangle 1028">
            <a:extLst>
              <a:ext uri="{FF2B5EF4-FFF2-40B4-BE49-F238E27FC236}">
                <a16:creationId xmlns:a16="http://schemas.microsoft.com/office/drawing/2014/main" id="{84A3B36B-4FE0-DEA8-18C3-D7559327594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1029">
            <a:extLst>
              <a:ext uri="{FF2B5EF4-FFF2-40B4-BE49-F238E27FC236}">
                <a16:creationId xmlns:a16="http://schemas.microsoft.com/office/drawing/2014/main" id="{01CBA025-B6C9-7AC0-E310-F7C8802B3EF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462" name="Rectangle 1030">
            <a:extLst>
              <a:ext uri="{FF2B5EF4-FFF2-40B4-BE49-F238E27FC236}">
                <a16:creationId xmlns:a16="http://schemas.microsoft.com/office/drawing/2014/main" id="{9503BDA0-1C3E-A3DD-33B3-6A1AE9FE040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1031">
            <a:extLst>
              <a:ext uri="{FF2B5EF4-FFF2-40B4-BE49-F238E27FC236}">
                <a16:creationId xmlns:a16="http://schemas.microsoft.com/office/drawing/2014/main" id="{CC872519-30BF-26D3-9F3F-44A0F955FE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D68690CE-36E7-DA4D-86FF-6F91628BA3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-105" charset="0"/>
        <a:ea typeface="ＭＳ Ｐゴシック" pitchFamily="-105" charset="-128"/>
        <a:cs typeface="ＭＳ Ｐゴシック" pitchFamily="-105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-105" charset="0"/>
        <a:ea typeface="ＭＳ Ｐゴシック" pitchFamily="-105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-105" charset="0"/>
        <a:ea typeface="ＭＳ Ｐゴシック" pitchFamily="-105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-105" charset="0"/>
        <a:ea typeface="ＭＳ Ｐゴシック" pitchFamily="-105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-105" charset="0"/>
        <a:ea typeface="ＭＳ Ｐゴシック" pitchFamily="-10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026">
            <a:extLst>
              <a:ext uri="{FF2B5EF4-FFF2-40B4-BE49-F238E27FC236}">
                <a16:creationId xmlns:a16="http://schemas.microsoft.com/office/drawing/2014/main" id="{81C85E33-15E4-2A69-C555-DD33678E7B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2" name="Rectangle 1027">
            <a:extLst>
              <a:ext uri="{FF2B5EF4-FFF2-40B4-BE49-F238E27FC236}">
                <a16:creationId xmlns:a16="http://schemas.microsoft.com/office/drawing/2014/main" id="{C92CBEC7-CB5E-50AC-9F12-D77F4F180C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This is an alternative title page with space for images.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727CAB8D-50D2-0985-C4FD-DA9D0D7705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29F52292-33E2-ED7D-1DD7-62BBB29C9C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ko-KR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F5BE6098-8FBC-B48C-20AB-B48224DE2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A8F1A133-16D5-F156-B8C5-4324DAAFF3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B4713E0A-642E-C407-F5A0-5164DC3F00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CA0181BD-7894-5E74-6D22-6648644368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EEBD8081-3A5C-EE45-81C4-86F81CB0BE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DD391936-CAEC-F22B-C353-0B94F54360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4230EA9F-CCB0-73A6-EF93-4C890D518B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323AF8C9-2FE6-83C8-5EC7-92B7374EC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D675FC40-C770-EB9E-8B10-CC82F11CDC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0BFB3CC5-DEA8-73D7-23FF-9FFCDB4DC7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F61BD959-3119-8AE1-6FEB-57951684AD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860751A6-E3A3-0527-254D-FBAA617608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2D256E73-98BA-59D3-4499-BF49E0F139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F0C905AA-404C-9678-7C2F-1F26E550D6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7AB3011A-01CE-49D7-3DA6-F138C9DBA6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72DC87A3-4659-6723-8560-18B226BAF2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43731654-186B-656D-DB11-0094166A3C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2C4C3579-38CD-3304-1A22-925B51A865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4CF97C27-ADEF-4864-6EF2-43011F1E71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D03F91EA-1E69-52BF-4562-633987400F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D0BCC6DE-808E-E615-9E70-3A0ABD4B1C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C52669F4-0BC6-0E1A-A080-EA840A948F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3F0A3684-B03A-D851-A4EF-C9FABC2EDE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AB9084B8-DC35-B2FC-5A15-F1BE13FD42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ACDEFB55-850E-8424-6C75-5A19B55CF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93A04567-6287-CF2E-2A2D-D3F865EA36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A35E8-C11E-21BA-46C2-913757E70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8AF1CBE0-B5E0-274F-C23D-160B11D4E5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EC0CEBF6-4510-4ED8-E030-C61B6556C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  <p:extLst>
      <p:ext uri="{BB962C8B-B14F-4D97-AF65-F5344CB8AC3E}">
        <p14:creationId xmlns:p14="http://schemas.microsoft.com/office/powerpoint/2010/main" val="8274649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D3F9FFBB-877F-ADF1-12CC-3A8BD1A6D1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107463B0-FD48-D2CD-EBB0-1B7BA0CE49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AB21A125-0920-5880-2BA2-F9DFDEDA48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9A3A4F03-A452-BD4D-4304-E381A0AF44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CD40E-55A2-D21C-AF18-8078BF781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4E6B05E3-201E-EA8C-4925-01C4C19A0F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94FE4E66-E215-0618-B8BA-5476A6F396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  <p:extLst>
      <p:ext uri="{BB962C8B-B14F-4D97-AF65-F5344CB8AC3E}">
        <p14:creationId xmlns:p14="http://schemas.microsoft.com/office/powerpoint/2010/main" val="16486771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FC855BCA-A213-D13B-DDDF-1AF2C01925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EC17DB71-911A-F7BE-88EB-7296567176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EAF02E3E-7AF6-0538-7F81-2F7A4115FA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7E99857A-F55A-D25D-0BC0-36C205863F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0A92FBAA-7CB2-A298-BAEB-64CCE6A26E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80591E98-7F85-95BC-7613-F41BF09E6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2F59ED7E-D6A4-DFF4-7847-D92963B67E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FA895BCC-9945-1898-CC4F-54A8A98B0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12807690-F2BC-3105-2902-E1191DD300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C7E7C8B2-060E-4380-1487-B963A44952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8CB258D3-9295-E206-0700-5F35082CA9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8A80244A-389E-C942-399F-B0C320B9A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8C8BEAA4-EDC8-BC91-7D35-3FEB04BD3C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006969DE-B599-45A2-48D0-143429102A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CBE2A11F-6F0F-5A01-F54F-9A3D91B61D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96FEBB29-786C-60F6-7AA6-A540036EE0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E6D45747-2B01-EDBF-493C-2CBD853764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3314923B-A786-FBF8-1628-C770256D1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5FF192D0-F379-A227-2796-01C3C9854A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090CC48F-E5A9-0BB4-71F4-7B688D1EC0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E90530A8-99C4-C7BD-EB1D-56A7CE5DCF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418090E8-0030-AB73-660D-5C0FD7A44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62A18A5E-30C2-3E08-EE06-53DFB7A2AB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0828B5E9-D8FE-29A8-F8DE-1E6EF9F57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33838736-6FCB-7CEB-8EF6-78F048E04C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A2CC7DBA-42B3-DEEA-02D1-02FBD6F56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A0C568C2-0E8F-ABF9-0E90-D50D9B3756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84B2E63B-A42C-3017-2167-E74661130A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E6F93C5E-1224-2C10-357F-104B6D489C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46CEACDE-CFA4-F03F-8018-4C5B88945E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4A15B16B-C976-38DC-0953-F05985837E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E7F831EC-D0AD-7020-6B6A-707897581A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8EF2E446-7DAD-2764-E1FF-65633B6150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4" name="Rectangle 3">
            <a:extLst>
              <a:ext uri="{FF2B5EF4-FFF2-40B4-BE49-F238E27FC236}">
                <a16:creationId xmlns:a16="http://schemas.microsoft.com/office/drawing/2014/main" id="{D63BF573-3114-EB57-C669-C5AE8136C6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6C008BDE-D9F5-8484-0D40-7B682A9022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039F2A1C-1208-E294-BD9F-2D59372BB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676B0423-06D0-6FED-46CC-9C7C989895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BEEF1873-42C5-0650-4A3C-FA931447EB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>
            <a:extLst>
              <a:ext uri="{FF2B5EF4-FFF2-40B4-BE49-F238E27FC236}">
                <a16:creationId xmlns:a16="http://schemas.microsoft.com/office/drawing/2014/main" id="{AA999B9E-EAB9-87F9-524B-E1D49E05B3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8" name="Rectangle 3">
            <a:extLst>
              <a:ext uri="{FF2B5EF4-FFF2-40B4-BE49-F238E27FC236}">
                <a16:creationId xmlns:a16="http://schemas.microsoft.com/office/drawing/2014/main" id="{D89E874A-B095-E0C2-0161-64F35C0BA0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0683243A-C01A-F7EF-E6C9-EB36A88E32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6" name="Rectangle 3">
            <a:extLst>
              <a:ext uri="{FF2B5EF4-FFF2-40B4-BE49-F238E27FC236}">
                <a16:creationId xmlns:a16="http://schemas.microsoft.com/office/drawing/2014/main" id="{B9DE6D7B-683A-1FD5-889B-E203E86A6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>
            <a:extLst>
              <a:ext uri="{FF2B5EF4-FFF2-40B4-BE49-F238E27FC236}">
                <a16:creationId xmlns:a16="http://schemas.microsoft.com/office/drawing/2014/main" id="{F78A47FC-20F9-1FBE-BAD0-2486C8DB78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4" name="Rectangle 3">
            <a:extLst>
              <a:ext uri="{FF2B5EF4-FFF2-40B4-BE49-F238E27FC236}">
                <a16:creationId xmlns:a16="http://schemas.microsoft.com/office/drawing/2014/main" id="{33B418B5-616C-140D-3577-4EB5C23D9D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  <a:r>
              <a:rPr lang="es-ES_tradnl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Tid</a:t>
            </a:r>
          </a:p>
          <a:p>
            <a:pPr eaLnBrk="1" hangingPunct="1"/>
            <a:r>
              <a:rPr lang="es-ES_tradnl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Items</a:t>
            </a:r>
          </a:p>
          <a:p>
            <a:pPr eaLnBrk="1" hangingPunct="1"/>
            <a:r>
              <a:rPr lang="es-ES_tradnl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10</a:t>
            </a:r>
          </a:p>
          <a:p>
            <a:pPr eaLnBrk="1" hangingPunct="1"/>
            <a:r>
              <a:rPr lang="es-ES_tradnl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A,B,C,D,E</a:t>
            </a:r>
          </a:p>
          <a:p>
            <a:pPr eaLnBrk="1" hangingPunct="1"/>
            <a:r>
              <a:rPr lang="es-ES_tradnl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20</a:t>
            </a:r>
          </a:p>
          <a:p>
            <a:pPr eaLnBrk="1" hangingPunct="1"/>
            <a:r>
              <a:rPr lang="es-ES_tradnl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B,C,D,E,</a:t>
            </a:r>
          </a:p>
          <a:p>
            <a:pPr eaLnBrk="1" hangingPunct="1"/>
            <a:r>
              <a:rPr lang="es-ES_tradnl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30</a:t>
            </a:r>
          </a:p>
          <a:p>
            <a:pPr eaLnBrk="1" hangingPunct="1"/>
            <a:r>
              <a:rPr lang="es-ES_tradnl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A,C,D,F</a:t>
            </a:r>
          </a:p>
          <a:p>
            <a:pPr eaLnBrk="1" hangingPunct="1"/>
            <a:r>
              <a:rPr lang="es-ES_tradnl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Tid</a:t>
            </a:r>
          </a:p>
          <a:p>
            <a:pPr eaLnBrk="1" hangingPunct="1"/>
            <a:r>
              <a:rPr lang="es-ES_tradnl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Items</a:t>
            </a:r>
          </a:p>
          <a:p>
            <a:pPr eaLnBrk="1" hangingPunct="1"/>
            <a:r>
              <a:rPr lang="es-ES_tradnl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10</a:t>
            </a:r>
          </a:p>
          <a:p>
            <a:pPr eaLnBrk="1" hangingPunct="1"/>
            <a:r>
              <a:rPr lang="es-ES_tradnl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A,B,C,D,E</a:t>
            </a:r>
          </a:p>
          <a:p>
            <a:pPr eaLnBrk="1" hangingPunct="1"/>
            <a:r>
              <a:rPr lang="es-ES_tradnl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20</a:t>
            </a:r>
          </a:p>
          <a:p>
            <a:pPr eaLnBrk="1" hangingPunct="1"/>
            <a:r>
              <a:rPr lang="es-ES_tradnl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B,C,D,E,</a:t>
            </a:r>
          </a:p>
          <a:p>
            <a:pPr eaLnBrk="1" hangingPunct="1"/>
            <a:r>
              <a:rPr lang="es-ES_tradnl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30</a:t>
            </a:r>
          </a:p>
          <a:p>
            <a:pPr eaLnBrk="1" hangingPunct="1"/>
            <a:r>
              <a:rPr lang="es-ES_tradnl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A,C,D,F</a:t>
            </a:r>
          </a:p>
          <a:p>
            <a:pPr eaLnBrk="1" hangingPunct="1"/>
            <a:endParaRPr lang="en-US" altLang="en-US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>
            <a:extLst>
              <a:ext uri="{FF2B5EF4-FFF2-40B4-BE49-F238E27FC236}">
                <a16:creationId xmlns:a16="http://schemas.microsoft.com/office/drawing/2014/main" id="{0CB3D010-4139-B080-3C2D-E61798BED7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2" name="Rectangle 3">
            <a:extLst>
              <a:ext uri="{FF2B5EF4-FFF2-40B4-BE49-F238E27FC236}">
                <a16:creationId xmlns:a16="http://schemas.microsoft.com/office/drawing/2014/main" id="{565D73FC-1CFE-A2EE-C528-2DCC8ACE0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>
            <a:extLst>
              <a:ext uri="{FF2B5EF4-FFF2-40B4-BE49-F238E27FC236}">
                <a16:creationId xmlns:a16="http://schemas.microsoft.com/office/drawing/2014/main" id="{6932D145-717A-F941-970E-5B0ACD6CD6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0" name="Rectangle 3">
            <a:extLst>
              <a:ext uri="{FF2B5EF4-FFF2-40B4-BE49-F238E27FC236}">
                <a16:creationId xmlns:a16="http://schemas.microsoft.com/office/drawing/2014/main" id="{21840434-6830-8BFD-1AD6-29C47ABC6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>
            <a:extLst>
              <a:ext uri="{FF2B5EF4-FFF2-40B4-BE49-F238E27FC236}">
                <a16:creationId xmlns:a16="http://schemas.microsoft.com/office/drawing/2014/main" id="{C5D3F736-7603-4D14-EF7B-1FD01D9852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8" name="Rectangle 3">
            <a:extLst>
              <a:ext uri="{FF2B5EF4-FFF2-40B4-BE49-F238E27FC236}">
                <a16:creationId xmlns:a16="http://schemas.microsoft.com/office/drawing/2014/main" id="{4160D5F8-509E-583A-A1F2-F0491B7CC7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>
            <a:extLst>
              <a:ext uri="{FF2B5EF4-FFF2-40B4-BE49-F238E27FC236}">
                <a16:creationId xmlns:a16="http://schemas.microsoft.com/office/drawing/2014/main" id="{6B14EB36-491F-10D7-B8B3-1C2371B741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6" name="Rectangle 3">
            <a:extLst>
              <a:ext uri="{FF2B5EF4-FFF2-40B4-BE49-F238E27FC236}">
                <a16:creationId xmlns:a16="http://schemas.microsoft.com/office/drawing/2014/main" id="{C9108E76-EA51-2BD7-F909-92F344A35B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>
            <a:extLst>
              <a:ext uri="{FF2B5EF4-FFF2-40B4-BE49-F238E27FC236}">
                <a16:creationId xmlns:a16="http://schemas.microsoft.com/office/drawing/2014/main" id="{A86F7262-99FD-431C-3078-30C86A9034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4" name="Rectangle 3">
            <a:extLst>
              <a:ext uri="{FF2B5EF4-FFF2-40B4-BE49-F238E27FC236}">
                <a16:creationId xmlns:a16="http://schemas.microsoft.com/office/drawing/2014/main" id="{64690C07-96C0-5BE5-6DB1-86EDE8B1D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>
            <a:extLst>
              <a:ext uri="{FF2B5EF4-FFF2-40B4-BE49-F238E27FC236}">
                <a16:creationId xmlns:a16="http://schemas.microsoft.com/office/drawing/2014/main" id="{E34992A1-5B9B-8B11-20B7-1E6C9B8C0F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2" name="Rectangle 3">
            <a:extLst>
              <a:ext uri="{FF2B5EF4-FFF2-40B4-BE49-F238E27FC236}">
                <a16:creationId xmlns:a16="http://schemas.microsoft.com/office/drawing/2014/main" id="{68EDF4B7-9DF6-7747-6845-65D10DF9A7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>
            <a:extLst>
              <a:ext uri="{FF2B5EF4-FFF2-40B4-BE49-F238E27FC236}">
                <a16:creationId xmlns:a16="http://schemas.microsoft.com/office/drawing/2014/main" id="{0864A1EF-7B07-2C3B-CDF2-A83A720348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0" name="Rectangle 3">
            <a:extLst>
              <a:ext uri="{FF2B5EF4-FFF2-40B4-BE49-F238E27FC236}">
                <a16:creationId xmlns:a16="http://schemas.microsoft.com/office/drawing/2014/main" id="{E989CAEA-571E-ADBC-43EA-914CEF2DC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>
            <a:extLst>
              <a:ext uri="{FF2B5EF4-FFF2-40B4-BE49-F238E27FC236}">
                <a16:creationId xmlns:a16="http://schemas.microsoft.com/office/drawing/2014/main" id="{16625CE0-0059-00BA-745D-4E5A44EC35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8" name="Rectangle 3">
            <a:extLst>
              <a:ext uri="{FF2B5EF4-FFF2-40B4-BE49-F238E27FC236}">
                <a16:creationId xmlns:a16="http://schemas.microsoft.com/office/drawing/2014/main" id="{9D9CE45F-EBAB-43B7-A87C-E51A4BC87D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>
            <a:extLst>
              <a:ext uri="{FF2B5EF4-FFF2-40B4-BE49-F238E27FC236}">
                <a16:creationId xmlns:a16="http://schemas.microsoft.com/office/drawing/2014/main" id="{7AFB7BA7-C304-4C3E-3A46-ADF081901A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6" name="Rectangle 3">
            <a:extLst>
              <a:ext uri="{FF2B5EF4-FFF2-40B4-BE49-F238E27FC236}">
                <a16:creationId xmlns:a16="http://schemas.microsoft.com/office/drawing/2014/main" id="{31C3ADD5-A3C6-5AE0-AB6D-AA7EDA5DA1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2">
            <a:extLst>
              <a:ext uri="{FF2B5EF4-FFF2-40B4-BE49-F238E27FC236}">
                <a16:creationId xmlns:a16="http://schemas.microsoft.com/office/drawing/2014/main" id="{7920F42F-0FC6-0446-3399-3EAACC06A1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4" name="Rectangle 3">
            <a:extLst>
              <a:ext uri="{FF2B5EF4-FFF2-40B4-BE49-F238E27FC236}">
                <a16:creationId xmlns:a16="http://schemas.microsoft.com/office/drawing/2014/main" id="{6647213A-C8EE-A024-7609-148249D30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2">
            <a:extLst>
              <a:ext uri="{FF2B5EF4-FFF2-40B4-BE49-F238E27FC236}">
                <a16:creationId xmlns:a16="http://schemas.microsoft.com/office/drawing/2014/main" id="{98F49CF4-2888-5D7F-14B2-4FB094D72F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2" name="Rectangle 3">
            <a:extLst>
              <a:ext uri="{FF2B5EF4-FFF2-40B4-BE49-F238E27FC236}">
                <a16:creationId xmlns:a16="http://schemas.microsoft.com/office/drawing/2014/main" id="{F6718BB1-3C2A-AB9C-9D53-002AD74B5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>
            <a:extLst>
              <a:ext uri="{FF2B5EF4-FFF2-40B4-BE49-F238E27FC236}">
                <a16:creationId xmlns:a16="http://schemas.microsoft.com/office/drawing/2014/main" id="{5626DF69-3B86-8DC6-1F34-25D5D57B03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0" name="Rectangle 3">
            <a:extLst>
              <a:ext uri="{FF2B5EF4-FFF2-40B4-BE49-F238E27FC236}">
                <a16:creationId xmlns:a16="http://schemas.microsoft.com/office/drawing/2014/main" id="{890BA156-2F68-9672-D842-AA33450F79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>
            <a:extLst>
              <a:ext uri="{FF2B5EF4-FFF2-40B4-BE49-F238E27FC236}">
                <a16:creationId xmlns:a16="http://schemas.microsoft.com/office/drawing/2014/main" id="{8FFD5BBC-EF1E-18E1-BEDB-B2E7534FBC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8" name="Rectangle 3">
            <a:extLst>
              <a:ext uri="{FF2B5EF4-FFF2-40B4-BE49-F238E27FC236}">
                <a16:creationId xmlns:a16="http://schemas.microsoft.com/office/drawing/2014/main" id="{32C22288-AD2D-C2F8-F0F9-98ED0E52A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2">
            <a:extLst>
              <a:ext uri="{FF2B5EF4-FFF2-40B4-BE49-F238E27FC236}">
                <a16:creationId xmlns:a16="http://schemas.microsoft.com/office/drawing/2014/main" id="{18D2FF69-552B-ABD4-F368-AC9AF0423D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6" name="Rectangle 3">
            <a:extLst>
              <a:ext uri="{FF2B5EF4-FFF2-40B4-BE49-F238E27FC236}">
                <a16:creationId xmlns:a16="http://schemas.microsoft.com/office/drawing/2014/main" id="{094D4C4B-B44A-FB77-73B9-4A91FC7F7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>
            <a:extLst>
              <a:ext uri="{FF2B5EF4-FFF2-40B4-BE49-F238E27FC236}">
                <a16:creationId xmlns:a16="http://schemas.microsoft.com/office/drawing/2014/main" id="{6E5B7914-D189-A2C3-4680-A2787508C6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4" name="Rectangle 3">
            <a:extLst>
              <a:ext uri="{FF2B5EF4-FFF2-40B4-BE49-F238E27FC236}">
                <a16:creationId xmlns:a16="http://schemas.microsoft.com/office/drawing/2014/main" id="{9CB82700-7615-FC1C-54F3-713BC2476B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Slide for body text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2">
            <a:extLst>
              <a:ext uri="{FF2B5EF4-FFF2-40B4-BE49-F238E27FC236}">
                <a16:creationId xmlns:a16="http://schemas.microsoft.com/office/drawing/2014/main" id="{0A09D672-BAEF-B889-8948-3FD9F6B58C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2" name="Rectangle 3">
            <a:extLst>
              <a:ext uri="{FF2B5EF4-FFF2-40B4-BE49-F238E27FC236}">
                <a16:creationId xmlns:a16="http://schemas.microsoft.com/office/drawing/2014/main" id="{CC30FFCF-16D3-D62A-1DA1-78BA8C6CB3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Slide Image Placeholder 1">
            <a:extLst>
              <a:ext uri="{FF2B5EF4-FFF2-40B4-BE49-F238E27FC236}">
                <a16:creationId xmlns:a16="http://schemas.microsoft.com/office/drawing/2014/main" id="{CCA99176-5939-E7A1-52C0-AE4BEFB598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0" name="Notes Placeholder 2">
            <a:extLst>
              <a:ext uri="{FF2B5EF4-FFF2-40B4-BE49-F238E27FC236}">
                <a16:creationId xmlns:a16="http://schemas.microsoft.com/office/drawing/2014/main" id="{181EAD5F-E3A4-A1F2-75C2-6B21913ED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0051" name="Slide Number Placeholder 3">
            <a:extLst>
              <a:ext uri="{FF2B5EF4-FFF2-40B4-BE49-F238E27FC236}">
                <a16:creationId xmlns:a16="http://schemas.microsoft.com/office/drawing/2014/main" id="{BCC5571A-79C7-3DE2-FF5E-8E4E1404C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D36717F-01BE-B742-A6FC-735EB07C0D5E}" type="slidenum">
              <a:rPr lang="en-US" altLang="en-US">
                <a:latin typeface="Tahoma" panose="020B0604030504040204" pitchFamily="34" charset="0"/>
                <a:ea typeface="굴림" panose="020B0600000101010101" pitchFamily="34" charset="-127"/>
              </a:rPr>
              <a:pPr>
                <a:spcBef>
                  <a:spcPct val="0"/>
                </a:spcBef>
              </a:pPr>
              <a:t>64</a:t>
            </a:fld>
            <a:endParaRPr lang="en-US" altLang="en-US">
              <a:latin typeface="Tahoma" panose="020B060403050404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2">
            <a:extLst>
              <a:ext uri="{FF2B5EF4-FFF2-40B4-BE49-F238E27FC236}">
                <a16:creationId xmlns:a16="http://schemas.microsoft.com/office/drawing/2014/main" id="{42F92099-5EB7-7251-2EC0-492593C821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8" name="Rectangle 3">
            <a:extLst>
              <a:ext uri="{FF2B5EF4-FFF2-40B4-BE49-F238E27FC236}">
                <a16:creationId xmlns:a16="http://schemas.microsoft.com/office/drawing/2014/main" id="{146114CC-9153-050D-030E-C78C0A43E6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2">
            <a:extLst>
              <a:ext uri="{FF2B5EF4-FFF2-40B4-BE49-F238E27FC236}">
                <a16:creationId xmlns:a16="http://schemas.microsoft.com/office/drawing/2014/main" id="{3A2CCA70-7FB4-C5F4-FB04-1112BEA20A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6" name="Rectangle 3">
            <a:extLst>
              <a:ext uri="{FF2B5EF4-FFF2-40B4-BE49-F238E27FC236}">
                <a16:creationId xmlns:a16="http://schemas.microsoft.com/office/drawing/2014/main" id="{40EB7B61-C21D-8FC2-80B3-2F59553B55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Slide Image Placeholder 1">
            <a:extLst>
              <a:ext uri="{FF2B5EF4-FFF2-40B4-BE49-F238E27FC236}">
                <a16:creationId xmlns:a16="http://schemas.microsoft.com/office/drawing/2014/main" id="{963FF1A9-A565-6338-0B13-83B0DBBBA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4" name="Notes Placeholder 2">
            <a:extLst>
              <a:ext uri="{FF2B5EF4-FFF2-40B4-BE49-F238E27FC236}">
                <a16:creationId xmlns:a16="http://schemas.microsoft.com/office/drawing/2014/main" id="{A8371213-B534-0363-3952-01851D031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6195" name="Slide Number Placeholder 3">
            <a:extLst>
              <a:ext uri="{FF2B5EF4-FFF2-40B4-BE49-F238E27FC236}">
                <a16:creationId xmlns:a16="http://schemas.microsoft.com/office/drawing/2014/main" id="{68A2E8A7-D37F-DDE2-B29B-0471AFC15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3C07E58-4E64-5641-9EE7-B042DFF68FB5}" type="slidenum">
              <a:rPr lang="en-US" altLang="en-US">
                <a:latin typeface="Tahoma" panose="020B0604030504040204" pitchFamily="34" charset="0"/>
                <a:ea typeface="굴림" panose="020B0600000101010101" pitchFamily="34" charset="-127"/>
              </a:rPr>
              <a:pPr>
                <a:spcBef>
                  <a:spcPct val="0"/>
                </a:spcBef>
              </a:pPr>
              <a:t>67</a:t>
            </a:fld>
            <a:endParaRPr lang="en-US" altLang="en-US">
              <a:latin typeface="Tahoma" panose="020B060403050404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Slide Image Placeholder 1">
            <a:extLst>
              <a:ext uri="{FF2B5EF4-FFF2-40B4-BE49-F238E27FC236}">
                <a16:creationId xmlns:a16="http://schemas.microsoft.com/office/drawing/2014/main" id="{3023692A-DFD3-D829-CBBB-21CB9699D6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2" name="Notes Placeholder 2">
            <a:extLst>
              <a:ext uri="{FF2B5EF4-FFF2-40B4-BE49-F238E27FC236}">
                <a16:creationId xmlns:a16="http://schemas.microsoft.com/office/drawing/2014/main" id="{D12D3198-FB6C-B7CE-3A96-A31EAE29E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8243" name="Slide Number Placeholder 3">
            <a:extLst>
              <a:ext uri="{FF2B5EF4-FFF2-40B4-BE49-F238E27FC236}">
                <a16:creationId xmlns:a16="http://schemas.microsoft.com/office/drawing/2014/main" id="{84E3E075-9E55-E266-2E55-728D02F29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6AE54C2-DBE6-F848-9EF0-ADCD0E3AD1C2}" type="slidenum">
              <a:rPr lang="en-US" altLang="en-US">
                <a:latin typeface="Tahoma" panose="020B0604030504040204" pitchFamily="34" charset="0"/>
                <a:ea typeface="굴림" panose="020B0600000101010101" pitchFamily="34" charset="-127"/>
              </a:rPr>
              <a:pPr>
                <a:spcBef>
                  <a:spcPct val="0"/>
                </a:spcBef>
              </a:pPr>
              <a:t>68</a:t>
            </a:fld>
            <a:endParaRPr lang="en-US" altLang="en-US">
              <a:latin typeface="Tahoma" panose="020B060403050404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2">
            <a:extLst>
              <a:ext uri="{FF2B5EF4-FFF2-40B4-BE49-F238E27FC236}">
                <a16:creationId xmlns:a16="http://schemas.microsoft.com/office/drawing/2014/main" id="{20D58591-8B4C-76A5-5EDA-C0DFA11A60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0" name="Rectangle 3">
            <a:extLst>
              <a:ext uri="{FF2B5EF4-FFF2-40B4-BE49-F238E27FC236}">
                <a16:creationId xmlns:a16="http://schemas.microsoft.com/office/drawing/2014/main" id="{82DA179F-18CC-E420-10DA-B99326C66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2">
            <a:extLst>
              <a:ext uri="{FF2B5EF4-FFF2-40B4-BE49-F238E27FC236}">
                <a16:creationId xmlns:a16="http://schemas.microsoft.com/office/drawing/2014/main" id="{5DB9E50E-D6B3-13D7-2A5F-89F8269E2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8" name="Rectangle 3">
            <a:extLst>
              <a:ext uri="{FF2B5EF4-FFF2-40B4-BE49-F238E27FC236}">
                <a16:creationId xmlns:a16="http://schemas.microsoft.com/office/drawing/2014/main" id="{41A57BDB-B024-06F3-2695-768B3540A9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2">
            <a:extLst>
              <a:ext uri="{FF2B5EF4-FFF2-40B4-BE49-F238E27FC236}">
                <a16:creationId xmlns:a16="http://schemas.microsoft.com/office/drawing/2014/main" id="{3EFEEE33-6A75-AA25-DD66-B4750CB2A8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6" name="Rectangle 3">
            <a:extLst>
              <a:ext uri="{FF2B5EF4-FFF2-40B4-BE49-F238E27FC236}">
                <a16:creationId xmlns:a16="http://schemas.microsoft.com/office/drawing/2014/main" id="{D6A61CED-3C37-822C-8AF7-7D54F02792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Rectangle 2">
            <a:extLst>
              <a:ext uri="{FF2B5EF4-FFF2-40B4-BE49-F238E27FC236}">
                <a16:creationId xmlns:a16="http://schemas.microsoft.com/office/drawing/2014/main" id="{F6FEA0B1-E886-24E4-B1E4-628139545C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4" name="Rectangle 3">
            <a:extLst>
              <a:ext uri="{FF2B5EF4-FFF2-40B4-BE49-F238E27FC236}">
                <a16:creationId xmlns:a16="http://schemas.microsoft.com/office/drawing/2014/main" id="{44AEB5D8-24BD-DC72-EF5F-36BEB108E9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Rectangle 2">
            <a:extLst>
              <a:ext uri="{FF2B5EF4-FFF2-40B4-BE49-F238E27FC236}">
                <a16:creationId xmlns:a16="http://schemas.microsoft.com/office/drawing/2014/main" id="{FA4FF2C7-7847-747A-9678-D8107BC22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2" name="Rectangle 3">
            <a:extLst>
              <a:ext uri="{FF2B5EF4-FFF2-40B4-BE49-F238E27FC236}">
                <a16:creationId xmlns:a16="http://schemas.microsoft.com/office/drawing/2014/main" id="{20BB414F-92CD-09D0-6922-45BE33BD67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2">
            <a:extLst>
              <a:ext uri="{FF2B5EF4-FFF2-40B4-BE49-F238E27FC236}">
                <a16:creationId xmlns:a16="http://schemas.microsoft.com/office/drawing/2014/main" id="{5FF6D553-C3E7-85B5-D72D-2A8F5B4042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0" name="Rectangle 3">
            <a:extLst>
              <a:ext uri="{FF2B5EF4-FFF2-40B4-BE49-F238E27FC236}">
                <a16:creationId xmlns:a16="http://schemas.microsoft.com/office/drawing/2014/main" id="{825700E6-D1DA-5B14-90AF-4C593B7386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AU">
              <a:latin typeface="Calibri" panose="020F0502020204030204" pitchFamily="34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6A214-8266-09FA-C06C-CF6995175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7A689-14F7-224B-967D-BDCED35873EE}" type="datetime1">
              <a:rPr lang="en-US"/>
              <a:pPr>
                <a:defRPr/>
              </a:pPr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11EE3-8C31-3E65-3817-F83FABA49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54986-DB56-8AAB-C320-05E076B0C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27854C-73BE-0840-B1E7-7552D7D8CF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2679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3870E-3B02-C4E9-12DE-F8F21806E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879DAC-F1AC-B347-816A-68A55E3FACB6}" type="datetime1">
              <a:rPr lang="en-US"/>
              <a:pPr>
                <a:defRPr/>
              </a:pPr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310B2-407E-F73D-8917-41B83BB5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E3C3A-B94D-2FFB-BB8E-61EB9B54D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AEF41-A01D-5746-88AF-F6C7723411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984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C6982-7812-7BBE-7BC5-511ECE4B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BA357-6E99-124A-B250-1DEC0D307C1C}" type="datetime1">
              <a:rPr lang="en-US"/>
              <a:pPr>
                <a:defRPr/>
              </a:pPr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EBCCB-AA96-5052-538C-B34C31C31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B8F8A-FB40-2565-0AAC-077BF956A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D010B-61BC-2540-AE71-8512A3E900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3540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C7CC687-1DD1-DFD2-D152-580E1F5FF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E671D-629D-F243-B6CB-44185DAB2D1A}" type="datetime1">
              <a:rPr lang="en-US"/>
              <a:pPr>
                <a:defRPr/>
              </a:pPr>
              <a:t>10/1/26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778B927-4FFE-9BC5-26A5-56AD28BFD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3AB38A9-9246-49B0-9CA6-9BF6A9EF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EC12F-F79C-9842-B33E-6E1105D849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7227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47C9BAD-A238-5DBD-AE46-E498A4522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D45932-274D-EF4A-BD36-B727362C539E}" type="datetime1">
              <a:rPr lang="en-US"/>
              <a:pPr>
                <a:defRPr/>
              </a:pPr>
              <a:t>10/1/26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E92905B-6006-E7DA-A631-404B88A39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5BA5282-C2F2-1A66-234A-99590420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C42733-60FE-0647-AE09-054E3AE7ED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6261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2B29EE-EE3F-BE70-B643-FB874443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84EE0B-ABEE-FB4C-88C6-4CB10E3A056B}" type="datetime1">
              <a:rPr lang="en-US"/>
              <a:pPr>
                <a:defRPr/>
              </a:pPr>
              <a:t>10/1/26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5B5103B-8A32-D1E5-2027-EDFD7715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7E7C4F3-5253-899E-96C2-162380933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CB1CA-6294-CA47-920E-B24A332F17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2821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46A8C47-06F7-8E2D-78FE-A277E0B29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AF6D6E-76CC-8848-AEE5-47161F8750F0}" type="datetime1">
              <a:rPr lang="en-US"/>
              <a:pPr>
                <a:defRPr/>
              </a:pPr>
              <a:t>10/1/26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D6E8DCD-2037-9472-7236-34F80D4AF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C24266C-8D7F-99E7-C4AC-21C2D8852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4797BC-8092-1B44-8226-4FBF92A8F3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104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CD0837C-2904-647A-88F9-1012459F1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2536A8-B739-0F4D-8114-FCF8937067DC}" type="datetime1">
              <a:rPr lang="en-US"/>
              <a:pPr>
                <a:defRPr/>
              </a:pPr>
              <a:t>10/1/26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40C0F71-B1DA-702B-A012-FB403F0CD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3935346-8608-D61E-DB0B-F62A1B68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08B766-5CC6-DB46-975E-0CB69B425A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720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B210444-1E16-9F93-F6A4-46BA353B5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A256CB-C065-E342-85CF-7469896CAD4D}" type="datetime1">
              <a:rPr lang="en-US"/>
              <a:pPr>
                <a:defRPr/>
              </a:pPr>
              <a:t>10/1/26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4486593-E258-F6C4-3D0E-12AF358C9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0329FEC-7CD4-C406-9EE8-637F5606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47D318-6DEE-A340-BA9D-1F2E14DCF7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223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E7066-0E3C-C74A-B5C5-06C62AD81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5B6D75-EEE7-FA48-A87F-1C7F2CF624A7}" type="datetime1">
              <a:rPr lang="en-US"/>
              <a:pPr>
                <a:defRPr/>
              </a:pPr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50339-2B8F-D43E-698D-CB65465DE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2567C-F431-AF91-D234-BE05C4F92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1A848A-532E-7949-95A1-5CA8A8069A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46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A8002-B0BF-45ED-FBA3-85A77432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884B1-A813-004A-A1D5-63D4A884EFFB}" type="datetime1">
              <a:rPr lang="en-US"/>
              <a:pPr>
                <a:defRPr/>
              </a:pPr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56D1B-8367-D2C7-C47E-BC574AAF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707EF-3149-6468-00D4-EDF2476E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97073-3F60-B64A-997A-D63CA8EEEA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9273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2EC62CC5-9B36-3972-4548-54B5E7440DD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C811D82-0CA8-9F6E-8055-2BA9AD5FD2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text styles</a:t>
            </a:r>
          </a:p>
          <a:p>
            <a:pPr lvl="1"/>
            <a:r>
              <a:rPr lang="en-AU" altLang="en-US"/>
              <a:t>Second level</a:t>
            </a:r>
          </a:p>
          <a:p>
            <a:pPr lvl="2"/>
            <a:r>
              <a:rPr lang="en-AU" altLang="en-US"/>
              <a:t>Third level</a:t>
            </a:r>
          </a:p>
          <a:p>
            <a:pPr lvl="3"/>
            <a:r>
              <a:rPr lang="en-AU" altLang="en-US"/>
              <a:t>Fourth level</a:t>
            </a:r>
          </a:p>
          <a:p>
            <a:pPr lvl="4"/>
            <a:r>
              <a:rPr lang="en-AU" altLang="en-US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54F4C-7B6B-F038-6343-CC941BCA63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C05A584F-BD66-C044-B061-AFEC312B62CE}" type="datetime1">
              <a:rPr lang="en-US"/>
              <a:pPr>
                <a:defRPr/>
              </a:pPr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63170-0573-39E5-46C7-966043440B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  <a:ea typeface="ＭＳ Ｐゴシック" pitchFamily="34" charset="-128"/>
              </a:defRPr>
            </a:lvl1pPr>
          </a:lstStyle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B640F-BDD1-2FA1-6049-5E8D35317D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F370A57-CA12-2947-B16F-3EC9D20BBA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5" charset="0"/>
          <a:ea typeface="ＭＳ Ｐゴシック" pitchFamily="-105" charset="-128"/>
          <a:cs typeface="ＭＳ Ｐゴシック" pitchFamily="-105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5" charset="0"/>
          <a:ea typeface="ＭＳ Ｐゴシック" pitchFamily="-105" charset="-128"/>
          <a:cs typeface="ＭＳ Ｐゴシック" pitchFamily="-105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5" charset="0"/>
          <a:ea typeface="ＭＳ Ｐゴシック" pitchFamily="-105" charset="-128"/>
          <a:cs typeface="ＭＳ Ｐゴシック" pitchFamily="-105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5" charset="0"/>
          <a:ea typeface="ＭＳ Ｐゴシック" pitchFamily="-105" charset="-128"/>
          <a:cs typeface="ＭＳ Ｐゴシック" pitchFamily="-105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5" charset="0"/>
          <a:ea typeface="ＭＳ Ｐゴシック" pitchFamily="-105" charset="-128"/>
          <a:cs typeface="ＭＳ Ｐゴシック" pitchFamily="-105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5" charset="0"/>
          <a:ea typeface="ＭＳ Ｐゴシック" pitchFamily="-105" charset="-128"/>
          <a:cs typeface="ＭＳ Ｐゴシック" pitchFamily="-105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5" charset="0"/>
          <a:ea typeface="ＭＳ Ｐゴシック" pitchFamily="-105" charset="-128"/>
          <a:cs typeface="ＭＳ Ｐゴシック" pitchFamily="-105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5" charset="0"/>
          <a:ea typeface="ＭＳ Ｐゴシック" pitchFamily="-105" charset="-128"/>
          <a:cs typeface="ＭＳ Ｐゴシック" pitchFamily="-105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-105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-105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-105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-105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8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1.jpeg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4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20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7.emf"/><Relationship Id="rId17" Type="http://schemas.openxmlformats.org/officeDocument/2006/relationships/oleObject" Target="../embeddings/oleObject13.bin"/><Relationship Id="rId2" Type="http://schemas.openxmlformats.org/officeDocument/2006/relationships/notesSlide" Target="../notesSlides/notesSlide63.xml"/><Relationship Id="rId16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8.e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0.e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7.emf"/><Relationship Id="rId17" Type="http://schemas.openxmlformats.org/officeDocument/2006/relationships/oleObject" Target="../embeddings/oleObject21.bin"/><Relationship Id="rId2" Type="http://schemas.openxmlformats.org/officeDocument/2006/relationships/notesSlide" Target="../notesSlides/notesSlide64.xml"/><Relationship Id="rId16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18.e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20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17.emf"/><Relationship Id="rId17" Type="http://schemas.openxmlformats.org/officeDocument/2006/relationships/oleObject" Target="../embeddings/oleObject29.bin"/><Relationship Id="rId2" Type="http://schemas.openxmlformats.org/officeDocument/2006/relationships/notesSlide" Target="../notesSlides/notesSlide65.xml"/><Relationship Id="rId16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18.e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20.e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17.emf"/><Relationship Id="rId17" Type="http://schemas.openxmlformats.org/officeDocument/2006/relationships/oleObject" Target="../embeddings/oleObject37.bin"/><Relationship Id="rId2" Type="http://schemas.openxmlformats.org/officeDocument/2006/relationships/notesSlide" Target="../notesSlides/notesSlide66.xml"/><Relationship Id="rId16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18.e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BFCF463F-E7E5-B035-1572-027F76E6A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52400"/>
          </a:xfrm>
          <a:prstGeom prst="rect">
            <a:avLst/>
          </a:prstGeom>
          <a:gradFill rotWithShape="1">
            <a:gsLst>
              <a:gs pos="0">
                <a:srgbClr val="00AEEF"/>
              </a:gs>
              <a:gs pos="100000">
                <a:srgbClr val="2E3192"/>
              </a:gs>
            </a:gsLst>
            <a:lin ang="0" scaled="1"/>
          </a:gradFill>
          <a:ln>
            <a:noFill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</a:endParaRPr>
          </a:p>
        </p:txBody>
      </p:sp>
      <p:pic>
        <p:nvPicPr>
          <p:cNvPr id="14338" name="Picture 7" descr="JCU_Logo_RGB.jpg">
            <a:extLst>
              <a:ext uri="{FF2B5EF4-FFF2-40B4-BE49-F238E27FC236}">
                <a16:creationId xmlns:a16="http://schemas.microsoft.com/office/drawing/2014/main" id="{6D3B1EB0-158A-4CBF-D562-8AF7080B6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286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Line 10">
            <a:extLst>
              <a:ext uri="{FF2B5EF4-FFF2-40B4-BE49-F238E27FC236}">
                <a16:creationId xmlns:a16="http://schemas.microsoft.com/office/drawing/2014/main" id="{D5197915-7117-C172-91AB-98700ECC7A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1184275"/>
            <a:ext cx="8153400" cy="4763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Slide Number Placeholder 10">
            <a:extLst>
              <a:ext uri="{FF2B5EF4-FFF2-40B4-BE49-F238E27FC236}">
                <a16:creationId xmlns:a16="http://schemas.microsoft.com/office/drawing/2014/main" id="{656F3958-4588-EBFB-6958-3A919026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7E4E03-B903-424F-88E2-C570CFBC3FFF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C86571F-1CAE-C45A-DB0C-F6BC858AE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965325"/>
            <a:ext cx="7361238" cy="1920875"/>
          </a:xfrm>
        </p:spPr>
        <p:txBody>
          <a:bodyPr wrap="none" lIns="0" tIns="0" rIns="0" bIns="0" anchor="t"/>
          <a:lstStyle/>
          <a:p>
            <a:pPr>
              <a:defRPr/>
            </a:pPr>
            <a:r>
              <a:rPr lang="en-AU" altLang="ko-KR" sz="4800" b="1" dirty="0">
                <a:solidFill>
                  <a:srgbClr val="005ABB"/>
                </a:solidFill>
                <a:latin typeface="+mn-lt"/>
                <a:ea typeface="ＭＳ Ｐゴシック" pitchFamily="34" charset="-128"/>
              </a:rPr>
              <a:t>Association Rules mining</a:t>
            </a:r>
            <a:br>
              <a:rPr lang="en-AU" altLang="ko-KR" sz="4800" b="1" dirty="0">
                <a:solidFill>
                  <a:srgbClr val="005ABB"/>
                </a:solidFill>
                <a:latin typeface="+mn-lt"/>
                <a:ea typeface="ＭＳ Ｐゴシック" pitchFamily="34" charset="-128"/>
              </a:rPr>
            </a:br>
            <a:r>
              <a:rPr lang="en-AU" altLang="ko-KR" sz="4800" b="1" dirty="0">
                <a:solidFill>
                  <a:srgbClr val="005ABB"/>
                </a:solidFill>
                <a:latin typeface="+mn-lt"/>
                <a:ea typeface="ＭＳ Ｐゴシック" pitchFamily="34" charset="-128"/>
              </a:rPr>
              <a:t>Princess of Data Mining</a:t>
            </a:r>
            <a:endParaRPr lang="en-AU" altLang="ko-KR" sz="3200" b="1" dirty="0">
              <a:solidFill>
                <a:srgbClr val="005ABB"/>
              </a:solidFill>
              <a:latin typeface="+mn-lt"/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5C01072-1051-ACB8-C140-DFC8DCE88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769100" cy="1143000"/>
          </a:xfrm>
        </p:spPr>
        <p:txBody>
          <a:bodyPr/>
          <a:lstStyle/>
          <a:p>
            <a:pPr algn="l"/>
            <a:r>
              <a:rPr lang="en-US" altLang="ko-KR">
                <a:solidFill>
                  <a:srgbClr val="005ABB"/>
                </a:solidFill>
                <a:latin typeface="Times" pitchFamily="-84" charset="0"/>
                <a:ea typeface="ＭＳ Ｐゴシック" panose="020B0600070205080204" pitchFamily="34" charset="-128"/>
              </a:rPr>
              <a:t>Reading</a:t>
            </a:r>
          </a:p>
        </p:txBody>
      </p:sp>
      <p:pic>
        <p:nvPicPr>
          <p:cNvPr id="16386" name="Picture 7" descr="JCU_Logo_RGB.jpg">
            <a:extLst>
              <a:ext uri="{FF2B5EF4-FFF2-40B4-BE49-F238E27FC236}">
                <a16:creationId xmlns:a16="http://schemas.microsoft.com/office/drawing/2014/main" id="{57FDFB7E-CB5D-C5EA-027E-772A0F5EC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74638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Line 9">
            <a:extLst>
              <a:ext uri="{FF2B5EF4-FFF2-40B4-BE49-F238E27FC236}">
                <a16:creationId xmlns:a16="http://schemas.microsoft.com/office/drawing/2014/main" id="{C0108863-9F5F-F89A-68EE-597915F5C2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303338"/>
            <a:ext cx="8316913" cy="0"/>
          </a:xfrm>
          <a:prstGeom prst="line">
            <a:avLst/>
          </a:prstGeom>
          <a:noFill/>
          <a:ln w="1270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Line 10">
            <a:extLst>
              <a:ext uri="{FF2B5EF4-FFF2-40B4-BE49-F238E27FC236}">
                <a16:creationId xmlns:a16="http://schemas.microsoft.com/office/drawing/2014/main" id="{A828C476-491D-18E6-C88A-94E6B877F7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86538"/>
            <a:ext cx="8316913" cy="0"/>
          </a:xfrm>
          <a:prstGeom prst="line">
            <a:avLst/>
          </a:prstGeom>
          <a:noFill/>
          <a:ln w="1270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Slide Number Placeholder 7">
            <a:extLst>
              <a:ext uri="{FF2B5EF4-FFF2-40B4-BE49-F238E27FC236}">
                <a16:creationId xmlns:a16="http://schemas.microsoft.com/office/drawing/2014/main" id="{8C27D8B7-D939-19DF-0E10-A7D35862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8D6776-3789-5942-97DC-E116937AFDD3}" type="slidenum">
              <a:rPr lang="ko-KR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90" name="Rectangle 1">
            <a:extLst>
              <a:ext uri="{FF2B5EF4-FFF2-40B4-BE49-F238E27FC236}">
                <a16:creationId xmlns:a16="http://schemas.microsoft.com/office/drawing/2014/main" id="{76B1FDEA-BCA3-0D35-D8E7-D438585A1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8" y="1597025"/>
            <a:ext cx="797401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ts val="13"/>
              </a:spcBef>
              <a:spcAft>
                <a:spcPts val="13"/>
              </a:spcAft>
              <a:buFont typeface="Symbol" pitchFamily="2" charset="2"/>
              <a:buChar char=""/>
            </a:pPr>
            <a:r>
              <a:rPr lang="en-GB" altLang="en-US" sz="1800" dirty="0">
                <a:ea typeface="DengXian" panose="02010600030101010101" pitchFamily="2" charset="-122"/>
              </a:rPr>
              <a:t>Jiawei Han, Micheline </a:t>
            </a:r>
            <a:r>
              <a:rPr lang="en-GB" altLang="en-US" sz="1800" dirty="0" err="1">
                <a:ea typeface="DengXian" panose="02010600030101010101" pitchFamily="2" charset="-122"/>
              </a:rPr>
              <a:t>Kamber</a:t>
            </a:r>
            <a:r>
              <a:rPr lang="en-GB" altLang="en-US" sz="1800" dirty="0">
                <a:ea typeface="DengXian" panose="02010600030101010101" pitchFamily="2" charset="-122"/>
              </a:rPr>
              <a:t> and Jian Pei. (2012) </a:t>
            </a:r>
            <a:r>
              <a:rPr lang="en-GB" altLang="en-US" sz="1800" b="1" dirty="0">
                <a:ea typeface="DengXian" panose="02010600030101010101" pitchFamily="2" charset="-122"/>
              </a:rPr>
              <a:t>Data Mining: Concepts and Techniques</a:t>
            </a:r>
            <a:r>
              <a:rPr lang="en-GB" altLang="en-US" sz="1800" dirty="0">
                <a:ea typeface="DengXian" panose="02010600030101010101" pitchFamily="2" charset="-122"/>
              </a:rPr>
              <a:t>, third edition, Morgan Kaufmann. ISBN: 978-0123814791.</a:t>
            </a:r>
            <a:r>
              <a:rPr lang="en-GB" altLang="en-US" sz="1800" dirty="0">
                <a:solidFill>
                  <a:srgbClr val="000000"/>
                </a:solidFill>
                <a:ea typeface="DengXian" panose="02010600030101010101" pitchFamily="2" charset="-122"/>
              </a:rPr>
              <a:t> (or later edition) </a:t>
            </a:r>
            <a:r>
              <a:rPr lang="en-GB" altLang="en-US" sz="1800" dirty="0">
                <a:solidFill>
                  <a:srgbClr val="FF0000"/>
                </a:solidFill>
                <a:ea typeface="DengXian" panose="02010600030101010101" pitchFamily="2" charset="-122"/>
              </a:rPr>
              <a:t> </a:t>
            </a:r>
            <a:r>
              <a:rPr lang="en-GB" altLang="en-US" sz="1800" b="1" dirty="0">
                <a:solidFill>
                  <a:srgbClr val="FF0000"/>
                </a:solidFill>
                <a:ea typeface="DengXian" panose="02010600030101010101" pitchFamily="2" charset="-122"/>
              </a:rPr>
              <a:t>Chapter 6</a:t>
            </a:r>
            <a:endParaRPr lang="en-AU" altLang="en-US" sz="2000" b="1" dirty="0">
              <a:solidFill>
                <a:srgbClr val="FF0000"/>
              </a:solidFill>
              <a:ea typeface="DengXian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0F84808E-103F-939A-19F8-6AF1007F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Outline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18434" name="Picture 7" descr="JCU_Logo_RGB.jpg">
            <a:extLst>
              <a:ext uri="{FF2B5EF4-FFF2-40B4-BE49-F238E27FC236}">
                <a16:creationId xmlns:a16="http://schemas.microsoft.com/office/drawing/2014/main" id="{41B4EAB9-E053-07BE-E890-D0EA4DDF0D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Line 9">
            <a:extLst>
              <a:ext uri="{FF2B5EF4-FFF2-40B4-BE49-F238E27FC236}">
                <a16:creationId xmlns:a16="http://schemas.microsoft.com/office/drawing/2014/main" id="{1DC7CD76-504C-BFF9-B950-97F781CB40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Line 10">
            <a:extLst>
              <a:ext uri="{FF2B5EF4-FFF2-40B4-BE49-F238E27FC236}">
                <a16:creationId xmlns:a16="http://schemas.microsoft.com/office/drawing/2014/main" id="{38D8A261-C10E-D6FD-1F70-7466638F96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7" name="Content Placeholder 2">
            <a:extLst>
              <a:ext uri="{FF2B5EF4-FFF2-40B4-BE49-F238E27FC236}">
                <a16:creationId xmlns:a16="http://schemas.microsoft.com/office/drawing/2014/main" id="{1F87E441-E850-78D1-165B-559AA348C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03363"/>
            <a:ext cx="8077200" cy="462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14400" indent="-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AU" altLang="en-US" sz="2800" b="1">
                <a:cs typeface="Arial" panose="020B0604020202020204" pitchFamily="34" charset="0"/>
              </a:rPr>
              <a:t>ARM Background</a:t>
            </a:r>
          </a:p>
          <a:p>
            <a:r>
              <a:rPr lang="en-AU" altLang="en-US" sz="2800">
                <a:cs typeface="Arial" panose="020B0604020202020204" pitchFamily="34" charset="0"/>
              </a:rPr>
              <a:t>Apriori</a:t>
            </a:r>
          </a:p>
          <a:p>
            <a:r>
              <a:rPr lang="en-AU" altLang="en-US" sz="2800">
                <a:cs typeface="Arial" panose="020B0604020202020204" pitchFamily="34" charset="0"/>
              </a:rPr>
              <a:t>FP-Tree</a:t>
            </a:r>
          </a:p>
          <a:p>
            <a:r>
              <a:rPr lang="en-AU" altLang="en-US" sz="2800">
                <a:cs typeface="Arial" panose="020B0604020202020204" pitchFamily="34" charset="0"/>
              </a:rPr>
              <a:t>Various ARM</a:t>
            </a:r>
          </a:p>
          <a:p>
            <a:r>
              <a:rPr lang="en-AU" altLang="en-US" sz="2800">
                <a:cs typeface="Arial" panose="020B0604020202020204" pitchFamily="34" charset="0"/>
              </a:rPr>
              <a:t>Constraint ARM</a:t>
            </a:r>
            <a:endParaRPr lang="en-AU" altLang="en-US" sz="2400">
              <a:cs typeface="Arial" panose="020B0604020202020204" pitchFamily="34" charset="0"/>
            </a:endParaRPr>
          </a:p>
          <a:p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AU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8" name="Slide Number Placeholder 6">
            <a:extLst>
              <a:ext uri="{FF2B5EF4-FFF2-40B4-BE49-F238E27FC236}">
                <a16:creationId xmlns:a16="http://schemas.microsoft.com/office/drawing/2014/main" id="{0D7C6837-B86F-9662-EE14-1B7BB8ED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2E6C68-EBF8-FD48-98DE-E989D2D2D34D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B30D7445-707F-5902-83F0-5CC445E93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Association Rules Mining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20482" name="Picture 7" descr="JCU_Logo_RGB.jpg">
            <a:extLst>
              <a:ext uri="{FF2B5EF4-FFF2-40B4-BE49-F238E27FC236}">
                <a16:creationId xmlns:a16="http://schemas.microsoft.com/office/drawing/2014/main" id="{C3B368B6-8149-44A9-5E56-1A3534FA6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Line 9">
            <a:extLst>
              <a:ext uri="{FF2B5EF4-FFF2-40B4-BE49-F238E27FC236}">
                <a16:creationId xmlns:a16="http://schemas.microsoft.com/office/drawing/2014/main" id="{CDC99D10-03F9-513D-6B87-C385531326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4" name="Line 10">
            <a:extLst>
              <a:ext uri="{FF2B5EF4-FFF2-40B4-BE49-F238E27FC236}">
                <a16:creationId xmlns:a16="http://schemas.microsoft.com/office/drawing/2014/main" id="{0217C528-7494-4145-858B-8CF4F9FB57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5" name="Slide Number Placeholder 6">
            <a:extLst>
              <a:ext uri="{FF2B5EF4-FFF2-40B4-BE49-F238E27FC236}">
                <a16:creationId xmlns:a16="http://schemas.microsoft.com/office/drawing/2014/main" id="{D480B794-0CD1-91C1-9EA4-0975C7D5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819524-18C4-094B-A702-FB1A30C08E68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0486" name="Picture 2" descr="mage result for association rules mining what it is?">
            <a:extLst>
              <a:ext uri="{FF2B5EF4-FFF2-40B4-BE49-F238E27FC236}">
                <a16:creationId xmlns:a16="http://schemas.microsoft.com/office/drawing/2014/main" id="{7BC536AA-B5CA-60CF-BDAD-3D6A581E9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75" y="2152650"/>
            <a:ext cx="6137275" cy="321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7" name="Rectangle 1">
            <a:extLst>
              <a:ext uri="{FF2B5EF4-FFF2-40B4-BE49-F238E27FC236}">
                <a16:creationId xmlns:a16="http://schemas.microsoft.com/office/drawing/2014/main" id="{CE2B121F-55DC-F726-012F-09D535663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5413" y="5634038"/>
            <a:ext cx="255111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Source: https://au.mathworks.com/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8B6DA386-A5DB-9C78-09E3-F1A05F09B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Association Rules Mining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22530" name="Picture 7" descr="JCU_Logo_RGB.jpg">
            <a:extLst>
              <a:ext uri="{FF2B5EF4-FFF2-40B4-BE49-F238E27FC236}">
                <a16:creationId xmlns:a16="http://schemas.microsoft.com/office/drawing/2014/main" id="{53045E72-5B5B-CF6E-2677-F3DF48D5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Line 9">
            <a:extLst>
              <a:ext uri="{FF2B5EF4-FFF2-40B4-BE49-F238E27FC236}">
                <a16:creationId xmlns:a16="http://schemas.microsoft.com/office/drawing/2014/main" id="{3F65C9D5-9B5D-3D64-ADFB-14BA8E24B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2" name="Line 10">
            <a:extLst>
              <a:ext uri="{FF2B5EF4-FFF2-40B4-BE49-F238E27FC236}">
                <a16:creationId xmlns:a16="http://schemas.microsoft.com/office/drawing/2014/main" id="{2BC31382-3515-EB1D-C0B6-53840CF2F2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Slide Number Placeholder 6">
            <a:extLst>
              <a:ext uri="{FF2B5EF4-FFF2-40B4-BE49-F238E27FC236}">
                <a16:creationId xmlns:a16="http://schemas.microsoft.com/office/drawing/2014/main" id="{BA789625-2385-F93C-A3B7-EDC1D4E8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3DF0DE-C126-F744-96A3-0A9181D4ABF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A4BE6E-4B61-BCFA-7F06-FCD228F1B0A7}"/>
              </a:ext>
            </a:extLst>
          </p:cNvPr>
          <p:cNvGraphicFramePr>
            <a:graphicFrameLocks noGrp="1"/>
          </p:cNvGraphicFramePr>
          <p:nvPr/>
        </p:nvGraphicFramePr>
        <p:xfrm>
          <a:off x="868363" y="2787650"/>
          <a:ext cx="5076830" cy="2527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6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76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76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76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76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76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1217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I1</a:t>
                      </a:r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I2</a:t>
                      </a:r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I3</a:t>
                      </a:r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I4</a:t>
                      </a:r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I5</a:t>
                      </a:r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I6</a:t>
                      </a:r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I7</a:t>
                      </a:r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I8</a:t>
                      </a:r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I9</a:t>
                      </a:r>
                    </a:p>
                  </a:txBody>
                  <a:tcPr marL="91445" marR="91445" marT="45729" marB="4572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217">
                <a:tc>
                  <a:txBody>
                    <a:bodyPr/>
                    <a:lstStyle/>
                    <a:p>
                      <a:r>
                        <a:rPr lang="en-US" sz="1800" dirty="0"/>
                        <a:t>ID1</a:t>
                      </a:r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217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ID2</a:t>
                      </a:r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217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ID3</a:t>
                      </a:r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217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ID4</a:t>
                      </a:r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217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ID5</a:t>
                      </a:r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5" marR="91445" marT="45729" marB="4572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1124CF-AF9A-A7EA-BAD1-8B25950B7DBE}"/>
              </a:ext>
            </a:extLst>
          </p:cNvPr>
          <p:cNvGraphicFramePr>
            <a:graphicFrameLocks noGrp="1"/>
          </p:cNvGraphicFramePr>
          <p:nvPr/>
        </p:nvGraphicFramePr>
        <p:xfrm>
          <a:off x="6630988" y="2787650"/>
          <a:ext cx="1900238" cy="2560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05">
                <a:tc>
                  <a:txBody>
                    <a:bodyPr/>
                    <a:lstStyle/>
                    <a:p>
                      <a:r>
                        <a:rPr lang="en-US" sz="1800" dirty="0"/>
                        <a:t>I199999</a:t>
                      </a:r>
                    </a:p>
                  </a:txBody>
                  <a:tcPr marL="91478" marR="91478"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I200000</a:t>
                      </a:r>
                    </a:p>
                  </a:txBody>
                  <a:tcPr marL="91478" marR="91478" marT="45726" marB="4572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78" marR="91478"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78" marR="91478" marT="45726" marB="4572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78" marR="91478"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78" marR="91478" marT="45726" marB="4572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78" marR="91478"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78" marR="91478" marT="45726" marB="4572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78" marR="91478"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78" marR="91478" marT="45726" marB="4572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78" marR="91478" marT="45726" marB="4572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78" marR="91478" marT="45726" marB="4572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78" marR="91478"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78" marR="91478" marT="45726" marB="4572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583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F773DB03-755F-BC4E-8F8E-06EE29C28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ARM - Cartoon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24578" name="Picture 7" descr="JCU_Logo_RGB.jpg">
            <a:extLst>
              <a:ext uri="{FF2B5EF4-FFF2-40B4-BE49-F238E27FC236}">
                <a16:creationId xmlns:a16="http://schemas.microsoft.com/office/drawing/2014/main" id="{36B61D63-46B6-77BF-201F-0DFCFB74E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Line 9">
            <a:extLst>
              <a:ext uri="{FF2B5EF4-FFF2-40B4-BE49-F238E27FC236}">
                <a16:creationId xmlns:a16="http://schemas.microsoft.com/office/drawing/2014/main" id="{1196A7E5-BE2D-3781-86CE-39CECA652E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Line 10">
            <a:extLst>
              <a:ext uri="{FF2B5EF4-FFF2-40B4-BE49-F238E27FC236}">
                <a16:creationId xmlns:a16="http://schemas.microsoft.com/office/drawing/2014/main" id="{D404CBAE-67F5-FEB2-5E31-4B73D4C42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1" name="Slide Number Placeholder 6">
            <a:extLst>
              <a:ext uri="{FF2B5EF4-FFF2-40B4-BE49-F238E27FC236}">
                <a16:creationId xmlns:a16="http://schemas.microsoft.com/office/drawing/2014/main" id="{81C04540-D16D-A62F-21CE-43730D94B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E52D4A-0A6E-8E4B-82C3-381FE3436CF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4582" name="Picture 2" descr="http://gerardnico.com/wiki/_media/data_mining/basket_analysis_joke.png">
            <a:extLst>
              <a:ext uri="{FF2B5EF4-FFF2-40B4-BE49-F238E27FC236}">
                <a16:creationId xmlns:a16="http://schemas.microsoft.com/office/drawing/2014/main" id="{A9C4F65D-0A98-7928-2802-BFFD97BA2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1866900"/>
            <a:ext cx="4610100" cy="393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Rectangle 10">
            <a:extLst>
              <a:ext uri="{FF2B5EF4-FFF2-40B4-BE49-F238E27FC236}">
                <a16:creationId xmlns:a16="http://schemas.microsoft.com/office/drawing/2014/main" id="{365A81D3-10D1-E599-B385-C29B8B105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9038" y="5986463"/>
            <a:ext cx="42259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Source: http://gerardnico.com/wiki/data_mining/association/</a:t>
            </a:r>
          </a:p>
        </p:txBody>
      </p:sp>
    </p:spTree>
    <p:extLst>
      <p:ext uri="{BB962C8B-B14F-4D97-AF65-F5344CB8AC3E}">
        <p14:creationId xmlns:p14="http://schemas.microsoft.com/office/powerpoint/2010/main" val="715115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3271F13C-1FD0-706D-BA8D-E92336741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ARM - Quote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26626" name="Picture 7" descr="JCU_Logo_RGB.jpg">
            <a:extLst>
              <a:ext uri="{FF2B5EF4-FFF2-40B4-BE49-F238E27FC236}">
                <a16:creationId xmlns:a16="http://schemas.microsoft.com/office/drawing/2014/main" id="{A59B9E91-05BA-6773-5380-C0E28101E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Line 9">
            <a:extLst>
              <a:ext uri="{FF2B5EF4-FFF2-40B4-BE49-F238E27FC236}">
                <a16:creationId xmlns:a16="http://schemas.microsoft.com/office/drawing/2014/main" id="{BF5222BB-9094-505C-0A3B-A20F51259E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28" name="Line 10">
            <a:extLst>
              <a:ext uri="{FF2B5EF4-FFF2-40B4-BE49-F238E27FC236}">
                <a16:creationId xmlns:a16="http://schemas.microsoft.com/office/drawing/2014/main" id="{4F2243E2-83EE-4076-F62B-8081531DA7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29" name="Slide Number Placeholder 6">
            <a:extLst>
              <a:ext uri="{FF2B5EF4-FFF2-40B4-BE49-F238E27FC236}">
                <a16:creationId xmlns:a16="http://schemas.microsoft.com/office/drawing/2014/main" id="{079AAC60-6D07-83DB-AE05-B858A6A2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EB0BDD-CE2E-8444-8233-6B5366E8E39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6630" name="Rectangle 10">
            <a:extLst>
              <a:ext uri="{FF2B5EF4-FFF2-40B4-BE49-F238E27FC236}">
                <a16:creationId xmlns:a16="http://schemas.microsoft.com/office/drawing/2014/main" id="{AFD27FAD-5E94-8AEC-6FE4-B26FF4BD7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963" y="5876925"/>
            <a:ext cx="42164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Source: </a:t>
            </a:r>
            <a:r>
              <a:rPr lang="mr-IN" altLang="en-US" sz="1200">
                <a:latin typeface="Arial" panose="020B0604020202020204" pitchFamily="34" charset="0"/>
                <a:ea typeface="Mangal" panose="02040503050203030202" pitchFamily="18" charset="0"/>
              </a:rPr>
              <a:t>https://au.pinterest.com/pin/150378075037497787/</a:t>
            </a:r>
            <a:endParaRPr lang="en-US" altLang="en-US" sz="1200">
              <a:latin typeface="Arial" panose="020B0604020202020204" pitchFamily="34" charset="0"/>
            </a:endParaRPr>
          </a:p>
        </p:txBody>
      </p:sp>
      <p:pic>
        <p:nvPicPr>
          <p:cNvPr id="26631" name="Picture 2" descr="mage result for association rules mining quote">
            <a:extLst>
              <a:ext uri="{FF2B5EF4-FFF2-40B4-BE49-F238E27FC236}">
                <a16:creationId xmlns:a16="http://schemas.microsoft.com/office/drawing/2014/main" id="{C7DB075E-C649-163D-7CC8-544F7FD83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1336675"/>
            <a:ext cx="3205163" cy="448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5640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DAC102F2-0177-87A7-DFA7-836FB8757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ARM </a:t>
            </a:r>
            <a:r>
              <a:rPr lang="mr-IN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–</a:t>
            </a:r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 Important Terms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28674" name="Picture 7" descr="JCU_Logo_RGB.jpg">
            <a:extLst>
              <a:ext uri="{FF2B5EF4-FFF2-40B4-BE49-F238E27FC236}">
                <a16:creationId xmlns:a16="http://schemas.microsoft.com/office/drawing/2014/main" id="{D18C95EC-7A6B-9780-EB6D-55786EC66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Line 9">
            <a:extLst>
              <a:ext uri="{FF2B5EF4-FFF2-40B4-BE49-F238E27FC236}">
                <a16:creationId xmlns:a16="http://schemas.microsoft.com/office/drawing/2014/main" id="{F85B5E5A-DE24-1330-250D-835FB4C74A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6" name="Line 10">
            <a:extLst>
              <a:ext uri="{FF2B5EF4-FFF2-40B4-BE49-F238E27FC236}">
                <a16:creationId xmlns:a16="http://schemas.microsoft.com/office/drawing/2014/main" id="{C0B8FAAE-F5AB-BD10-2176-C8BD5AF23E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Slide Number Placeholder 6">
            <a:extLst>
              <a:ext uri="{FF2B5EF4-FFF2-40B4-BE49-F238E27FC236}">
                <a16:creationId xmlns:a16="http://schemas.microsoft.com/office/drawing/2014/main" id="{1305EFB9-79F8-048A-3C13-291B45216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FB0FAC-DF2C-2144-A6CE-70D54151FF4F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8678" name="TextBox 1">
            <a:extLst>
              <a:ext uri="{FF2B5EF4-FFF2-40B4-BE49-F238E27FC236}">
                <a16:creationId xmlns:a16="http://schemas.microsoft.com/office/drawing/2014/main" id="{C795FBD4-5977-77DB-5897-601335A7F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5425" y="2578100"/>
            <a:ext cx="1263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highlight>
                  <a:srgbClr val="FFFF00"/>
                </a:highlight>
                <a:latin typeface="Arial" panose="020B0604020202020204" pitchFamily="34" charset="0"/>
              </a:rPr>
              <a:t>Support</a:t>
            </a:r>
          </a:p>
        </p:txBody>
      </p:sp>
      <p:sp>
        <p:nvSpPr>
          <p:cNvPr id="28679" name="TextBox 11">
            <a:extLst>
              <a:ext uri="{FF2B5EF4-FFF2-40B4-BE49-F238E27FC236}">
                <a16:creationId xmlns:a16="http://schemas.microsoft.com/office/drawing/2014/main" id="{AC7B4F58-3D90-B159-38D5-F8C6560EF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088" y="3762375"/>
            <a:ext cx="1744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highlight>
                  <a:srgbClr val="FFFF00"/>
                </a:highlight>
                <a:latin typeface="Arial" panose="020B0604020202020204" pitchFamily="34" charset="0"/>
              </a:rPr>
              <a:t>Confidence</a:t>
            </a:r>
          </a:p>
        </p:txBody>
      </p:sp>
      <p:sp>
        <p:nvSpPr>
          <p:cNvPr id="28680" name="TextBox 12">
            <a:extLst>
              <a:ext uri="{FF2B5EF4-FFF2-40B4-BE49-F238E27FC236}">
                <a16:creationId xmlns:a16="http://schemas.microsoft.com/office/drawing/2014/main" id="{6E788EED-F932-9A3F-6902-10228B17C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575" y="2198688"/>
            <a:ext cx="2614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highlight>
                  <a:srgbClr val="FFFF00"/>
                </a:highlight>
                <a:latin typeface="Arial" panose="020B0604020202020204" pitchFamily="34" charset="0"/>
              </a:rPr>
              <a:t>Frequent patterns</a:t>
            </a:r>
          </a:p>
        </p:txBody>
      </p:sp>
      <p:sp>
        <p:nvSpPr>
          <p:cNvPr id="28681" name="TextBox 13">
            <a:extLst>
              <a:ext uri="{FF2B5EF4-FFF2-40B4-BE49-F238E27FC236}">
                <a16:creationId xmlns:a16="http://schemas.microsoft.com/office/drawing/2014/main" id="{486875D6-31C0-DABA-4D3C-432AF8E0A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3" y="3314700"/>
            <a:ext cx="23415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Closed patterns</a:t>
            </a:r>
          </a:p>
        </p:txBody>
      </p:sp>
      <p:sp>
        <p:nvSpPr>
          <p:cNvPr id="28682" name="TextBox 14">
            <a:extLst>
              <a:ext uri="{FF2B5EF4-FFF2-40B4-BE49-F238E27FC236}">
                <a16:creationId xmlns:a16="http://schemas.microsoft.com/office/drawing/2014/main" id="{2D9ACD95-8811-A17C-CFF5-18C8198E9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4940300"/>
            <a:ext cx="1963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Max patterns</a:t>
            </a:r>
          </a:p>
        </p:txBody>
      </p:sp>
      <p:sp>
        <p:nvSpPr>
          <p:cNvPr id="28683" name="TextBox 15">
            <a:extLst>
              <a:ext uri="{FF2B5EF4-FFF2-40B4-BE49-F238E27FC236}">
                <a16:creationId xmlns:a16="http://schemas.microsoft.com/office/drawing/2014/main" id="{675F76E7-17D7-1D00-5067-B29E9263A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200525"/>
            <a:ext cx="18446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highlight>
                  <a:srgbClr val="FFFF00"/>
                </a:highlight>
                <a:latin typeface="Arial" panose="020B0604020202020204" pitchFamily="34" charset="0"/>
              </a:rPr>
              <a:t>Strong rules</a:t>
            </a: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750A6696-8678-84F6-31ED-F0C38D239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140" y="3217913"/>
            <a:ext cx="5950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highlight>
                  <a:srgbClr val="FFFF00"/>
                </a:highlight>
                <a:latin typeface="Arial" panose="020B0604020202020204" pitchFamily="34" charset="0"/>
              </a:rPr>
              <a:t>Lift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D271BCBC-A11F-3A08-DC26-CC863EF3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Association Rules Mining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30722" name="Picture 7" descr="JCU_Logo_RGB.jpg">
            <a:extLst>
              <a:ext uri="{FF2B5EF4-FFF2-40B4-BE49-F238E27FC236}">
                <a16:creationId xmlns:a16="http://schemas.microsoft.com/office/drawing/2014/main" id="{8F7C5556-E87C-1CFE-8D1A-4E70D5A30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Line 9">
            <a:extLst>
              <a:ext uri="{FF2B5EF4-FFF2-40B4-BE49-F238E27FC236}">
                <a16:creationId xmlns:a16="http://schemas.microsoft.com/office/drawing/2014/main" id="{2EDE563C-6071-054A-D6AB-91567E3E4A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4" name="Line 10">
            <a:extLst>
              <a:ext uri="{FF2B5EF4-FFF2-40B4-BE49-F238E27FC236}">
                <a16:creationId xmlns:a16="http://schemas.microsoft.com/office/drawing/2014/main" id="{0F47AEA3-A6E0-6EDC-967D-6392FFBFEF4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84E778D-E4D6-BB15-70A9-CDFCFC0B8EA6}"/>
              </a:ext>
            </a:extLst>
          </p:cNvPr>
          <p:cNvSpPr txBox="1">
            <a:spLocks/>
          </p:cNvSpPr>
          <p:nvPr/>
        </p:nvSpPr>
        <p:spPr bwMode="auto">
          <a:xfrm>
            <a:off x="609600" y="1503363"/>
            <a:ext cx="8077200" cy="4852987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2800" dirty="0">
                <a:latin typeface="+mn-lt"/>
                <a:cs typeface="Arial" pitchFamily="34" charset="0"/>
              </a:rPr>
              <a:t>Concerned with the discovery of significant associations among data items.</a:t>
            </a:r>
            <a:endParaRPr lang="en-AU" sz="2800" dirty="0">
              <a:latin typeface="+mn-lt"/>
              <a:cs typeface="Arial" pitchFamily="34" charset="0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AU" sz="2800" dirty="0">
                <a:latin typeface="+mn-lt"/>
                <a:cs typeface="Arial" pitchFamily="34" charset="0"/>
              </a:rPr>
              <a:t>Called as “affinity analysis”, “market basket analysis” or “frequent pattern analysis”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AU" sz="2800" dirty="0">
                <a:latin typeface="+mn-lt"/>
                <a:cs typeface="Arial" pitchFamily="34" charset="0"/>
              </a:rPr>
              <a:t>Finding </a:t>
            </a:r>
            <a:r>
              <a:rPr lang="en-AU" sz="2800" dirty="0">
                <a:solidFill>
                  <a:srgbClr val="FF0000"/>
                </a:solidFill>
                <a:latin typeface="+mn-lt"/>
                <a:cs typeface="Arial" pitchFamily="34" charset="0"/>
              </a:rPr>
              <a:t>inherent regularities </a:t>
            </a:r>
            <a:r>
              <a:rPr lang="en-AU" sz="2800" dirty="0">
                <a:latin typeface="+mn-lt"/>
                <a:cs typeface="Arial" pitchFamily="34" charset="0"/>
              </a:rPr>
              <a:t>(associations) from frequent </a:t>
            </a:r>
            <a:r>
              <a:rPr lang="en-AU" sz="2800" dirty="0" err="1">
                <a:latin typeface="+mn-lt"/>
                <a:cs typeface="Arial" pitchFamily="34" charset="0"/>
              </a:rPr>
              <a:t>itemsets</a:t>
            </a:r>
            <a:r>
              <a:rPr lang="en-AU" sz="2800" dirty="0">
                <a:latin typeface="+mn-lt"/>
                <a:cs typeface="Arial" pitchFamily="34" charset="0"/>
              </a:rPr>
              <a:t> (= association rules)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  <a:defRPr/>
            </a:pPr>
            <a:r>
              <a:rPr lang="en-AU" dirty="0">
                <a:latin typeface="+mn-lt"/>
                <a:cs typeface="Arial" pitchFamily="34" charset="0"/>
              </a:rPr>
              <a:t>What products were often purchased together?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AU" sz="2800" dirty="0">
                <a:latin typeface="+mn-lt"/>
                <a:cs typeface="Arial" pitchFamily="34" charset="0"/>
              </a:rPr>
              <a:t>Study of </a:t>
            </a:r>
            <a:r>
              <a:rPr lang="en-AU" altLang="en-US" sz="2800" dirty="0">
                <a:latin typeface="+mn-lt"/>
                <a:cs typeface="Arial" pitchFamily="34" charset="0"/>
              </a:rPr>
              <a:t>“</a:t>
            </a:r>
            <a:r>
              <a:rPr lang="en-AU" sz="2800" dirty="0">
                <a:latin typeface="+mn-lt"/>
                <a:cs typeface="Arial" pitchFamily="34" charset="0"/>
              </a:rPr>
              <a:t>what goes with what</a:t>
            </a:r>
            <a:r>
              <a:rPr lang="en-AU" altLang="en-US" sz="2800" dirty="0">
                <a:latin typeface="+mn-lt"/>
                <a:cs typeface="Arial" pitchFamily="34" charset="0"/>
              </a:rPr>
              <a:t>”</a:t>
            </a:r>
            <a:endParaRPr lang="en-AU" sz="2800" dirty="0">
              <a:latin typeface="+mn-lt"/>
              <a:cs typeface="Arial" pitchFamily="34" charset="0"/>
            </a:endParaRP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  <a:defRPr/>
            </a:pPr>
            <a:r>
              <a:rPr lang="en-AU" dirty="0">
                <a:latin typeface="+mn-lt"/>
                <a:cs typeface="Arial" pitchFamily="34" charset="0"/>
              </a:rPr>
              <a:t>Customers who bought X also bought Y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AU" sz="2800" dirty="0">
                <a:latin typeface="+mn-lt"/>
                <a:cs typeface="Arial" pitchFamily="34" charset="0"/>
              </a:rPr>
              <a:t>Applications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  <a:defRPr/>
            </a:pPr>
            <a:r>
              <a:rPr lang="en-AU" dirty="0">
                <a:latin typeface="+mn-lt"/>
                <a:cs typeface="Arial" pitchFamily="34" charset="0"/>
              </a:rPr>
              <a:t>Floor/shelf planning, cross-marketing, catalogue design, targeted marketing etc</a:t>
            </a:r>
          </a:p>
          <a:p>
            <a:pPr marL="457200" indent="-457200"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AU" dirty="0">
              <a:cs typeface="Arial" pitchFamily="34" charset="0"/>
            </a:endParaRPr>
          </a:p>
        </p:txBody>
      </p:sp>
      <p:sp>
        <p:nvSpPr>
          <p:cNvPr id="30726" name="Slide Number Placeholder 6">
            <a:extLst>
              <a:ext uri="{FF2B5EF4-FFF2-40B4-BE49-F238E27FC236}">
                <a16:creationId xmlns:a16="http://schemas.microsoft.com/office/drawing/2014/main" id="{36B42E33-1BF3-06FA-CC54-5655A9AA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6B8152-DFF1-2E4C-8A84-836CA817C9E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D84F6E0E-3961-C161-055F-7B029F2EC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381000"/>
            <a:ext cx="7451725" cy="815975"/>
          </a:xfrm>
        </p:spPr>
        <p:txBody>
          <a:bodyPr lIns="0" tIns="0" rIns="0" bIns="0"/>
          <a:lstStyle/>
          <a:p>
            <a:pPr algn="l"/>
            <a:r>
              <a:rPr lang="en-US" altLang="en-US" sz="36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Used in many recommender systems</a:t>
            </a:r>
          </a:p>
        </p:txBody>
      </p:sp>
      <p:pic>
        <p:nvPicPr>
          <p:cNvPr id="32770" name="Picture 7" descr="JCU_Logo_RGB.jpg">
            <a:extLst>
              <a:ext uri="{FF2B5EF4-FFF2-40B4-BE49-F238E27FC236}">
                <a16:creationId xmlns:a16="http://schemas.microsoft.com/office/drawing/2014/main" id="{267EA7A9-0039-74CE-1800-E9660E607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Line 9">
            <a:extLst>
              <a:ext uri="{FF2B5EF4-FFF2-40B4-BE49-F238E27FC236}">
                <a16:creationId xmlns:a16="http://schemas.microsoft.com/office/drawing/2014/main" id="{6D10F251-A96C-4D17-18F6-07BBAB6CF7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2" name="Line 10">
            <a:extLst>
              <a:ext uri="{FF2B5EF4-FFF2-40B4-BE49-F238E27FC236}">
                <a16:creationId xmlns:a16="http://schemas.microsoft.com/office/drawing/2014/main" id="{F84E0919-45B1-AFA5-9582-58AF9E252E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3" name="Slide Number Placeholder 6">
            <a:extLst>
              <a:ext uri="{FF2B5EF4-FFF2-40B4-BE49-F238E27FC236}">
                <a16:creationId xmlns:a16="http://schemas.microsoft.com/office/drawing/2014/main" id="{CD13B3EE-8D46-9806-D23A-7F76F3197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EC29D6-DB34-D243-ADFA-C4AEA6CAF8D0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2774" name="Picture 5">
            <a:extLst>
              <a:ext uri="{FF2B5EF4-FFF2-40B4-BE49-F238E27FC236}">
                <a16:creationId xmlns:a16="http://schemas.microsoft.com/office/drawing/2014/main" id="{B43314FC-B578-225C-2ED0-732FF448F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13" y="1219200"/>
            <a:ext cx="6596062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5" name="Rectangle 5">
            <a:extLst>
              <a:ext uri="{FF2B5EF4-FFF2-40B4-BE49-F238E27FC236}">
                <a16:creationId xmlns:a16="http://schemas.microsoft.com/office/drawing/2014/main" id="{395DECCC-C0CF-9E67-502E-AB35AF9E1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00600"/>
            <a:ext cx="8077200" cy="1600200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58CED038-1173-0645-E80A-4E9E98298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Transaction Database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34818" name="Picture 7" descr="JCU_Logo_RGB.jpg">
            <a:extLst>
              <a:ext uri="{FF2B5EF4-FFF2-40B4-BE49-F238E27FC236}">
                <a16:creationId xmlns:a16="http://schemas.microsoft.com/office/drawing/2014/main" id="{F29084B0-82E1-C439-7B2A-7C6E265B4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Line 9">
            <a:extLst>
              <a:ext uri="{FF2B5EF4-FFF2-40B4-BE49-F238E27FC236}">
                <a16:creationId xmlns:a16="http://schemas.microsoft.com/office/drawing/2014/main" id="{4CCA71CA-4687-55C8-CF52-49DA69E6F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0" name="Line 10">
            <a:extLst>
              <a:ext uri="{FF2B5EF4-FFF2-40B4-BE49-F238E27FC236}">
                <a16:creationId xmlns:a16="http://schemas.microsoft.com/office/drawing/2014/main" id="{9A6C3102-09CE-FED5-C49A-FA0523E6C2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Slide Number Placeholder 6">
            <a:extLst>
              <a:ext uri="{FF2B5EF4-FFF2-40B4-BE49-F238E27FC236}">
                <a16:creationId xmlns:a16="http://schemas.microsoft.com/office/drawing/2014/main" id="{A38B365F-2634-C589-A63E-C368C712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33E4B5-6A57-4843-838E-CB9383D160D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2CF9789-32B8-E62D-C446-F874F6DCDA8C}"/>
              </a:ext>
            </a:extLst>
          </p:cNvPr>
          <p:cNvGraphicFramePr>
            <a:graphicFrameLocks noGrp="1"/>
          </p:cNvGraphicFramePr>
          <p:nvPr/>
        </p:nvGraphicFramePr>
        <p:xfrm>
          <a:off x="3124200" y="1535113"/>
          <a:ext cx="3165475" cy="2667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TID</a:t>
                      </a:r>
                      <a:endParaRPr lang="en-US" b="1" baseline="0" dirty="0"/>
                    </a:p>
                    <a:p>
                      <a:pPr algn="ctr"/>
                      <a:r>
                        <a:rPr lang="en-US" b="1" baseline="0" dirty="0"/>
                        <a:t>(Transaction ID)</a:t>
                      </a:r>
                      <a:endParaRPr lang="en-AU" b="1" dirty="0"/>
                    </a:p>
                  </a:txBody>
                  <a:tcPr marL="91461" marR="91461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Items</a:t>
                      </a:r>
                      <a:endParaRPr lang="en-AU" b="1" dirty="0"/>
                    </a:p>
                  </a:txBody>
                  <a:tcPr marL="91461" marR="91461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lang="en-AU" dirty="0"/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Apple, Coke, DVD</a:t>
                      </a:r>
                      <a:endParaRPr lang="en-AU" dirty="0"/>
                    </a:p>
                  </a:txBody>
                  <a:tcPr marL="91461" marR="9146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  <a:endParaRPr lang="en-AU" dirty="0"/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Bread, Coke, Egg</a:t>
                      </a:r>
                      <a:endParaRPr lang="en-AU" dirty="0"/>
                    </a:p>
                  </a:txBody>
                  <a:tcPr marL="91461" marR="9146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  <a:endParaRPr lang="en-AU" dirty="0"/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Apple, Bread, Coke, Egg</a:t>
                      </a:r>
                      <a:endParaRPr lang="en-AU" dirty="0"/>
                    </a:p>
                  </a:txBody>
                  <a:tcPr marL="91461" marR="9146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  <a:endParaRPr lang="en-AU" dirty="0"/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Bread, Egg</a:t>
                      </a:r>
                      <a:endParaRPr lang="en-AU" dirty="0"/>
                    </a:p>
                  </a:txBody>
                  <a:tcPr marL="91461" marR="9146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4BDDD40-D589-3B18-C769-041C4A20F4C3}"/>
              </a:ext>
            </a:extLst>
          </p:cNvPr>
          <p:cNvGraphicFramePr>
            <a:graphicFrameLocks noGrp="1"/>
          </p:cNvGraphicFramePr>
          <p:nvPr/>
        </p:nvGraphicFramePr>
        <p:xfrm>
          <a:off x="3124200" y="4502150"/>
          <a:ext cx="4791078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98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TID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Apple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Bread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Coke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DVD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EGG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lang="en-AU" dirty="0"/>
                    </a:p>
                  </a:txBody>
                  <a:tcPr marL="91452" marR="914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  <a:endParaRPr lang="en-AU" dirty="0"/>
                    </a:p>
                  </a:txBody>
                  <a:tcPr marL="91452" marR="914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  <a:endParaRPr lang="en-AU" dirty="0"/>
                    </a:p>
                  </a:txBody>
                  <a:tcPr marL="91452" marR="914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  <a:endParaRPr lang="en-AU" dirty="0"/>
                    </a:p>
                  </a:txBody>
                  <a:tcPr marL="91452" marR="914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50486E9-2148-BD58-C28B-2BE98A419869}"/>
              </a:ext>
            </a:extLst>
          </p:cNvPr>
          <p:cNvGraphicFramePr>
            <a:graphicFrameLocks noGrp="1"/>
          </p:cNvGraphicFramePr>
          <p:nvPr/>
        </p:nvGraphicFramePr>
        <p:xfrm>
          <a:off x="962025" y="1535113"/>
          <a:ext cx="1597026" cy="482123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98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6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TID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Item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</a:t>
                      </a:r>
                      <a:endParaRPr lang="en-AU" sz="1800" dirty="0"/>
                    </a:p>
                  </a:txBody>
                  <a:tcPr marL="91452" marR="91452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Apple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100</a:t>
                      </a:r>
                      <a:endParaRPr lang="en-AU" sz="1800" dirty="0"/>
                    </a:p>
                  </a:txBody>
                  <a:tcPr marL="91452" marR="91452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Coke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</a:t>
                      </a:r>
                      <a:endParaRPr lang="en-AU" sz="1800" dirty="0"/>
                    </a:p>
                  </a:txBody>
                  <a:tcPr marL="91452" marR="91452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DVD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200</a:t>
                      </a:r>
                      <a:endParaRPr lang="en-AU" sz="1800" dirty="0"/>
                    </a:p>
                  </a:txBody>
                  <a:tcPr marL="91452" marR="91452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Bread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200</a:t>
                      </a:r>
                      <a:endParaRPr lang="en-AU" sz="1800" dirty="0"/>
                    </a:p>
                  </a:txBody>
                  <a:tcPr marL="91452" marR="91452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Coke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200</a:t>
                      </a:r>
                      <a:endParaRPr lang="en-AU" sz="1800" dirty="0"/>
                    </a:p>
                  </a:txBody>
                  <a:tcPr marL="91452" marR="91452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Egg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300</a:t>
                      </a:r>
                      <a:endParaRPr lang="en-AU" sz="1800" dirty="0"/>
                    </a:p>
                  </a:txBody>
                  <a:tcPr marL="91452" marR="91452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Apple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300</a:t>
                      </a:r>
                      <a:endParaRPr lang="en-AU" sz="1800" dirty="0"/>
                    </a:p>
                  </a:txBody>
                  <a:tcPr marL="91452" marR="91452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Bread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300</a:t>
                      </a:r>
                      <a:endParaRPr lang="en-AU" sz="1800" dirty="0"/>
                    </a:p>
                  </a:txBody>
                  <a:tcPr marL="91452" marR="91452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Coke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300</a:t>
                      </a:r>
                      <a:endParaRPr lang="en-AU" sz="1800" dirty="0"/>
                    </a:p>
                  </a:txBody>
                  <a:tcPr marL="91452" marR="91452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Egg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400</a:t>
                      </a:r>
                      <a:endParaRPr lang="en-AU" sz="1800" dirty="0"/>
                    </a:p>
                  </a:txBody>
                  <a:tcPr marL="91452" marR="91452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Bread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6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400</a:t>
                      </a:r>
                      <a:endParaRPr lang="en-AU" sz="1800" dirty="0"/>
                    </a:p>
                  </a:txBody>
                  <a:tcPr marL="91452" marR="91452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Egg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97C08821-41C6-95CF-5B7B-6E9F89431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Transaction Database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36866" name="Picture 7" descr="JCU_Logo_RGB.jpg">
            <a:extLst>
              <a:ext uri="{FF2B5EF4-FFF2-40B4-BE49-F238E27FC236}">
                <a16:creationId xmlns:a16="http://schemas.microsoft.com/office/drawing/2014/main" id="{4BE378A4-B5CD-0480-6194-5F69B8EB2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Line 9">
            <a:extLst>
              <a:ext uri="{FF2B5EF4-FFF2-40B4-BE49-F238E27FC236}">
                <a16:creationId xmlns:a16="http://schemas.microsoft.com/office/drawing/2014/main" id="{B9B3AD28-1491-4271-CEC1-BD5DD81CF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8" name="Line 10">
            <a:extLst>
              <a:ext uri="{FF2B5EF4-FFF2-40B4-BE49-F238E27FC236}">
                <a16:creationId xmlns:a16="http://schemas.microsoft.com/office/drawing/2014/main" id="{52B93A19-022B-8443-D768-9F6B7E525D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9" name="Slide Number Placeholder 6">
            <a:extLst>
              <a:ext uri="{FF2B5EF4-FFF2-40B4-BE49-F238E27FC236}">
                <a16:creationId xmlns:a16="http://schemas.microsoft.com/office/drawing/2014/main" id="{C8C9B024-D2A5-D8C8-3B08-99C3A039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3689F4-2D3A-9A48-93C0-66E408D59F9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0D8BAA8-8384-2E0A-1C33-D80C71375DF2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4232275"/>
          <a:ext cx="8124823" cy="212407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09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29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1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42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28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027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TID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Income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&lt;50000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Income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&gt;50000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Brisbane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Married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&lt;40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&gt;40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Own House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</a:t>
                      </a:r>
                      <a:endParaRPr lang="en-AU" sz="1800" dirty="0"/>
                    </a:p>
                  </a:txBody>
                  <a:tcPr marL="91447" marR="91447" marT="45734" marB="457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001</a:t>
                      </a:r>
                      <a:endParaRPr lang="en-AU" sz="1800" dirty="0"/>
                    </a:p>
                  </a:txBody>
                  <a:tcPr marL="91447" marR="91447" marT="45734" marB="457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002</a:t>
                      </a:r>
                      <a:endParaRPr lang="en-AU" sz="1800" dirty="0"/>
                    </a:p>
                  </a:txBody>
                  <a:tcPr marL="91447" marR="91447" marT="45734" marB="457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…</a:t>
                      </a:r>
                      <a:endParaRPr lang="en-AU" sz="1800" dirty="0"/>
                    </a:p>
                  </a:txBody>
                  <a:tcPr marL="91447" marR="91447" marT="45734" marB="457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734" marB="45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AEE6595-6BF8-B428-E398-9E3C37C70ED2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517650"/>
          <a:ext cx="6122988" cy="210343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20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0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04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1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Income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Married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Own House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1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</a:t>
                      </a:r>
                      <a:endParaRPr lang="en-AU" sz="1800" dirty="0"/>
                    </a:p>
                  </a:txBody>
                  <a:tcPr marL="91434" marR="91434" marT="45727" marB="457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20500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Cairns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1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001</a:t>
                      </a:r>
                      <a:endParaRPr lang="en-AU" sz="1800" dirty="0"/>
                    </a:p>
                  </a:txBody>
                  <a:tcPr marL="91434" marR="91434" marT="45727" marB="457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100000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Brisbane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1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002</a:t>
                      </a:r>
                      <a:endParaRPr lang="en-AU" sz="1800" dirty="0"/>
                    </a:p>
                  </a:txBody>
                  <a:tcPr marL="91434" marR="91434" marT="45727" marB="457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54490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Cairns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1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…</a:t>
                      </a:r>
                      <a:endParaRPr lang="en-AU" sz="1800" dirty="0"/>
                    </a:p>
                  </a:txBody>
                  <a:tcPr marL="91434" marR="91434" marT="45727" marB="457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A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727" marB="457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Bent Arrow 13">
            <a:extLst>
              <a:ext uri="{FF2B5EF4-FFF2-40B4-BE49-F238E27FC236}">
                <a16:creationId xmlns:a16="http://schemas.microsoft.com/office/drawing/2014/main" id="{A9823C2E-4FE5-D710-87D8-1EC3985B2796}"/>
              </a:ext>
            </a:extLst>
          </p:cNvPr>
          <p:cNvSpPr>
            <a:spLocks/>
          </p:cNvSpPr>
          <p:nvPr/>
        </p:nvSpPr>
        <p:spPr bwMode="auto">
          <a:xfrm rot="5400000">
            <a:off x="6852444" y="3221831"/>
            <a:ext cx="839788" cy="796925"/>
          </a:xfrm>
          <a:custGeom>
            <a:avLst/>
            <a:gdLst>
              <a:gd name="T0" fmla="*/ 640557 w 839788"/>
              <a:gd name="T1" fmla="*/ 0 h 796925"/>
              <a:gd name="T2" fmla="*/ 640557 w 839788"/>
              <a:gd name="T3" fmla="*/ 398463 h 796925"/>
              <a:gd name="T4" fmla="*/ 99616 w 839788"/>
              <a:gd name="T5" fmla="*/ 796925 h 796925"/>
              <a:gd name="T6" fmla="*/ 839788 w 839788"/>
              <a:gd name="T7" fmla="*/ 199231 h 796925"/>
              <a:gd name="T8" fmla="*/ 17694720 60000 65536"/>
              <a:gd name="T9" fmla="*/ 5898240 60000 65536"/>
              <a:gd name="T10" fmla="*/ 589824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39788" h="796925">
                <a:moveTo>
                  <a:pt x="0" y="796925"/>
                </a:moveTo>
                <a:lnTo>
                  <a:pt x="0" y="448270"/>
                </a:lnTo>
                <a:lnTo>
                  <a:pt x="-1" y="448269"/>
                </a:lnTo>
                <a:cubicBezTo>
                  <a:pt x="0" y="255713"/>
                  <a:pt x="156098" y="99615"/>
                  <a:pt x="348655" y="99615"/>
                </a:cubicBezTo>
                <a:cubicBezTo>
                  <a:pt x="348655" y="99614"/>
                  <a:pt x="348655" y="99615"/>
                  <a:pt x="348655" y="99615"/>
                </a:cubicBezTo>
                <a:lnTo>
                  <a:pt x="640557" y="99616"/>
                </a:lnTo>
                <a:lnTo>
                  <a:pt x="640557" y="0"/>
                </a:lnTo>
                <a:lnTo>
                  <a:pt x="839788" y="199231"/>
                </a:lnTo>
                <a:lnTo>
                  <a:pt x="640557" y="398463"/>
                </a:lnTo>
                <a:lnTo>
                  <a:pt x="640557" y="298847"/>
                </a:lnTo>
                <a:lnTo>
                  <a:pt x="348655" y="298847"/>
                </a:lnTo>
                <a:lnTo>
                  <a:pt x="348655" y="298846"/>
                </a:lnTo>
                <a:cubicBezTo>
                  <a:pt x="266130" y="298846"/>
                  <a:pt x="199231" y="365745"/>
                  <a:pt x="199231" y="448269"/>
                </a:cubicBezTo>
                <a:lnTo>
                  <a:pt x="199231" y="796925"/>
                </a:lnTo>
                <a:lnTo>
                  <a:pt x="0" y="796925"/>
                </a:lnTo>
                <a:close/>
              </a:path>
            </a:pathLst>
          </a:cu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 cap="flat" cmpd="sng">
            <a:solidFill>
              <a:srgbClr val="4A7EBB"/>
            </a:solidFill>
            <a:prstDash val="solid"/>
            <a:round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1939E741-3AB4-AF79-B7C8-B2D295BA1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7131050" cy="815975"/>
          </a:xfrm>
        </p:spPr>
        <p:txBody>
          <a:bodyPr lIns="0" tIns="0" rIns="0" bIns="0"/>
          <a:lstStyle/>
          <a:p>
            <a:pPr algn="l"/>
            <a:r>
              <a:rPr lang="en-AU" altLang="en-US" sz="42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Itemsets and Association Rules</a:t>
            </a:r>
            <a:endParaRPr lang="en-US" altLang="en-US" sz="42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38914" name="Picture 7" descr="JCU_Logo_RGB.jpg">
            <a:extLst>
              <a:ext uri="{FF2B5EF4-FFF2-40B4-BE49-F238E27FC236}">
                <a16:creationId xmlns:a16="http://schemas.microsoft.com/office/drawing/2014/main" id="{12FC0F1D-50AC-7DAE-7DEC-B3FEC0E2C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Line 9">
            <a:extLst>
              <a:ext uri="{FF2B5EF4-FFF2-40B4-BE49-F238E27FC236}">
                <a16:creationId xmlns:a16="http://schemas.microsoft.com/office/drawing/2014/main" id="{9544CF9A-CD38-005C-3404-92BB5EE79B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6" name="Line 10">
            <a:extLst>
              <a:ext uri="{FF2B5EF4-FFF2-40B4-BE49-F238E27FC236}">
                <a16:creationId xmlns:a16="http://schemas.microsoft.com/office/drawing/2014/main" id="{EC1BEAEE-0816-DA52-1C66-99D8B63725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7" name="Slide Number Placeholder 6">
            <a:extLst>
              <a:ext uri="{FF2B5EF4-FFF2-40B4-BE49-F238E27FC236}">
                <a16:creationId xmlns:a16="http://schemas.microsoft.com/office/drawing/2014/main" id="{D3FCC314-2876-9423-448A-E61D551B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81F56F-0BB7-D44D-A67E-F024D12236D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FFBB5E9C-F4AA-FD69-3F30-45AC8E81B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92275"/>
            <a:ext cx="8305800" cy="417037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342000" indent="-36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altLang="ko-KR" sz="2000" dirty="0">
                <a:latin typeface="+mn-lt"/>
                <a:ea typeface="굴림" pitchFamily="34" charset="-127"/>
              </a:rPr>
              <a:t>An </a:t>
            </a:r>
            <a:r>
              <a:rPr lang="en-US" altLang="ko-KR" sz="2000" i="1" dirty="0" err="1">
                <a:latin typeface="+mn-lt"/>
                <a:ea typeface="굴림" pitchFamily="34" charset="-127"/>
              </a:rPr>
              <a:t>itemset</a:t>
            </a:r>
            <a:r>
              <a:rPr lang="en-US" altLang="ko-KR" sz="2000" dirty="0">
                <a:latin typeface="+mn-lt"/>
                <a:ea typeface="굴림" pitchFamily="34" charset="-127"/>
              </a:rPr>
              <a:t> is a set of items</a:t>
            </a:r>
          </a:p>
          <a:p>
            <a:pPr marL="1084950" lvl="1" indent="-360000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ko-KR" sz="2000" dirty="0">
                <a:latin typeface="+mn-lt"/>
                <a:ea typeface="굴림" pitchFamily="34" charset="-127"/>
              </a:rPr>
              <a:t>- E.g., {Apple, Coke, Bread} is an </a:t>
            </a:r>
            <a:r>
              <a:rPr lang="en-US" altLang="ko-KR" sz="2000" dirty="0" err="1">
                <a:latin typeface="+mn-lt"/>
                <a:ea typeface="굴림" pitchFamily="34" charset="-127"/>
              </a:rPr>
              <a:t>itemset</a:t>
            </a:r>
            <a:endParaRPr lang="en-US" altLang="ko-KR" sz="2000" dirty="0">
              <a:latin typeface="+mn-lt"/>
              <a:ea typeface="굴림" pitchFamily="34" charset="-127"/>
            </a:endParaRPr>
          </a:p>
          <a:p>
            <a:pPr marL="342000" indent="-36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altLang="ko-KR" sz="2000" dirty="0">
                <a:latin typeface="+mn-lt"/>
                <a:ea typeface="굴림" pitchFamily="34" charset="-127"/>
              </a:rPr>
              <a:t>A </a:t>
            </a:r>
            <a:r>
              <a:rPr lang="en-US" altLang="ko-KR" sz="2000" i="1" dirty="0">
                <a:latin typeface="+mn-lt"/>
                <a:ea typeface="굴림" pitchFamily="34" charset="-127"/>
              </a:rPr>
              <a:t>k-</a:t>
            </a:r>
            <a:r>
              <a:rPr lang="en-US" altLang="ko-KR" sz="2000" i="1" dirty="0" err="1">
                <a:latin typeface="+mn-lt"/>
                <a:ea typeface="굴림" pitchFamily="34" charset="-127"/>
              </a:rPr>
              <a:t>itemset</a:t>
            </a:r>
            <a:r>
              <a:rPr lang="en-US" altLang="ko-KR" sz="2000" dirty="0">
                <a:latin typeface="+mn-lt"/>
                <a:ea typeface="굴림" pitchFamily="34" charset="-127"/>
              </a:rPr>
              <a:t> is an </a:t>
            </a:r>
            <a:r>
              <a:rPr lang="en-US" altLang="ko-KR" sz="2000" dirty="0" err="1">
                <a:latin typeface="+mn-lt"/>
                <a:ea typeface="굴림" pitchFamily="34" charset="-127"/>
              </a:rPr>
              <a:t>itemset</a:t>
            </a:r>
            <a:r>
              <a:rPr lang="en-US" altLang="ko-KR" sz="2000" dirty="0">
                <a:latin typeface="+mn-lt"/>
                <a:ea typeface="굴림" pitchFamily="34" charset="-127"/>
              </a:rPr>
              <a:t> with k items.</a:t>
            </a:r>
          </a:p>
          <a:p>
            <a:pPr marL="342000" indent="-36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altLang="ko-KR" sz="2000" dirty="0">
                <a:latin typeface="+mn-lt"/>
                <a:ea typeface="굴림" pitchFamily="34" charset="-127"/>
              </a:rPr>
              <a:t>Given a dataset D, an </a:t>
            </a:r>
            <a:r>
              <a:rPr lang="en-US" altLang="ko-KR" sz="2000" dirty="0" err="1">
                <a:latin typeface="+mn-lt"/>
                <a:ea typeface="굴림" pitchFamily="34" charset="-127"/>
              </a:rPr>
              <a:t>itemset</a:t>
            </a:r>
            <a:r>
              <a:rPr lang="en-US" altLang="ko-KR" sz="2000" dirty="0">
                <a:latin typeface="+mn-lt"/>
                <a:ea typeface="굴림" pitchFamily="34" charset="-127"/>
              </a:rPr>
              <a:t> X has a (frequency) </a:t>
            </a:r>
            <a:r>
              <a:rPr lang="en-US" altLang="ko-KR" sz="2000" i="1" dirty="0">
                <a:latin typeface="+mn-lt"/>
                <a:ea typeface="굴림" pitchFamily="34" charset="-127"/>
              </a:rPr>
              <a:t>count</a:t>
            </a:r>
            <a:r>
              <a:rPr lang="en-US" altLang="ko-KR" sz="2000" dirty="0">
                <a:latin typeface="+mn-lt"/>
                <a:ea typeface="굴림" pitchFamily="34" charset="-127"/>
              </a:rPr>
              <a:t> in D</a:t>
            </a:r>
          </a:p>
          <a:p>
            <a:pPr marL="342000" indent="-36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altLang="ko-KR" sz="2000" dirty="0">
                <a:latin typeface="+mn-lt"/>
              </a:rPr>
              <a:t>An </a:t>
            </a:r>
            <a:r>
              <a:rPr lang="en-US" altLang="ko-KR" sz="2000" i="1" dirty="0">
                <a:solidFill>
                  <a:srgbClr val="C00000"/>
                </a:solidFill>
                <a:latin typeface="+mn-lt"/>
              </a:rPr>
              <a:t>association rule </a:t>
            </a:r>
            <a:r>
              <a:rPr lang="en-US" altLang="ko-KR" sz="2000" dirty="0">
                <a:latin typeface="+mn-lt"/>
              </a:rPr>
              <a:t>is about relationships between two disjoint </a:t>
            </a:r>
            <a:r>
              <a:rPr lang="en-US" altLang="ko-KR" sz="2000" dirty="0" err="1">
                <a:latin typeface="+mn-lt"/>
              </a:rPr>
              <a:t>itemsets</a:t>
            </a:r>
            <a:r>
              <a:rPr lang="en-US" altLang="ko-KR" sz="2000" dirty="0">
                <a:latin typeface="+mn-lt"/>
              </a:rPr>
              <a:t> </a:t>
            </a:r>
            <a:r>
              <a:rPr lang="en-US" altLang="ko-KR" sz="2000" i="1" dirty="0">
                <a:latin typeface="+mn-lt"/>
              </a:rPr>
              <a:t>X </a:t>
            </a:r>
            <a:r>
              <a:rPr lang="en-US" altLang="ko-KR" sz="2000" dirty="0">
                <a:latin typeface="+mn-lt"/>
              </a:rPr>
              <a:t>and </a:t>
            </a:r>
            <a:r>
              <a:rPr lang="en-US" altLang="ko-KR" sz="2000" i="1" dirty="0">
                <a:latin typeface="+mn-lt"/>
              </a:rPr>
              <a:t>Y</a:t>
            </a:r>
            <a:r>
              <a:rPr lang="en-US" altLang="ko-KR" sz="2000" dirty="0">
                <a:latin typeface="+mn-lt"/>
                <a:ea typeface="굴림" pitchFamily="34" charset="-127"/>
              </a:rPr>
              <a:t>.</a:t>
            </a:r>
          </a:p>
          <a:p>
            <a:pPr marL="1084950" lvl="1" indent="-360000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i="1" dirty="0"/>
              <a:t>      X </a:t>
            </a:r>
            <a:r>
              <a:rPr lang="en-US" sz="2000" i="1" dirty="0">
                <a:sym typeface="Symbol" pitchFamily="18" charset="2"/>
              </a:rPr>
              <a:t> Y   </a:t>
            </a:r>
            <a:r>
              <a:rPr lang="en-US" sz="1800" dirty="0">
                <a:latin typeface="+mn-lt"/>
                <a:sym typeface="Symbol" pitchFamily="18" charset="2"/>
              </a:rPr>
              <a:t>(no overlap between X and Y)</a:t>
            </a:r>
            <a:endParaRPr lang="en-US" sz="2000" dirty="0">
              <a:latin typeface="+mn-lt"/>
              <a:sym typeface="Symbol" pitchFamily="18" charset="2"/>
            </a:endParaRPr>
          </a:p>
          <a:p>
            <a:pPr marL="1084950" lvl="1" indent="-360000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ko-KR" sz="2000" i="1" dirty="0">
                <a:latin typeface="+mn-lt"/>
              </a:rPr>
              <a:t>X</a:t>
            </a:r>
            <a:r>
              <a:rPr lang="en-US" altLang="ko-KR" sz="2000" dirty="0">
                <a:latin typeface="+mn-lt"/>
              </a:rPr>
              <a:t>  is the </a:t>
            </a:r>
            <a:r>
              <a:rPr lang="en-US" altLang="ko-KR" sz="2000" dirty="0">
                <a:solidFill>
                  <a:srgbClr val="000099"/>
                </a:solidFill>
                <a:latin typeface="+mn-lt"/>
              </a:rPr>
              <a:t>antecedent</a:t>
            </a:r>
            <a:r>
              <a:rPr lang="en-US" altLang="ko-KR" sz="2000" dirty="0">
                <a:latin typeface="+mn-lt"/>
              </a:rPr>
              <a:t>, </a:t>
            </a:r>
            <a:r>
              <a:rPr lang="en-US" altLang="ko-KR" sz="2000" dirty="0">
                <a:latin typeface="+mn-lt"/>
                <a:ea typeface="굴림" pitchFamily="34" charset="-127"/>
              </a:rPr>
              <a:t>the initial assumption.</a:t>
            </a:r>
            <a:endParaRPr lang="en-US" altLang="ko-KR" sz="2000" dirty="0">
              <a:latin typeface="+mn-lt"/>
            </a:endParaRPr>
          </a:p>
          <a:p>
            <a:pPr marL="1084950" lvl="1" indent="-360000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ko-KR" sz="2000" i="1" dirty="0">
                <a:latin typeface="+mn-lt"/>
              </a:rPr>
              <a:t>Y </a:t>
            </a:r>
            <a:r>
              <a:rPr lang="en-US" altLang="ko-KR" sz="2000" dirty="0">
                <a:latin typeface="+mn-lt"/>
              </a:rPr>
              <a:t> is the </a:t>
            </a:r>
            <a:r>
              <a:rPr lang="en-US" altLang="ko-KR" sz="2000" dirty="0">
                <a:solidFill>
                  <a:srgbClr val="000099"/>
                </a:solidFill>
                <a:latin typeface="+mn-lt"/>
              </a:rPr>
              <a:t>consequent</a:t>
            </a:r>
            <a:r>
              <a:rPr lang="en-US" altLang="ko-KR" sz="2000" dirty="0">
                <a:latin typeface="+mn-lt"/>
                <a:ea typeface="굴림" pitchFamily="34" charset="-127"/>
              </a:rPr>
              <a:t>, something else that may happen too.</a:t>
            </a:r>
          </a:p>
          <a:p>
            <a:pPr marL="1084950" lvl="1" indent="-360000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ko-KR" sz="2000" dirty="0">
                <a:latin typeface="+mn-lt"/>
                <a:ea typeface="굴림" pitchFamily="34" charset="-127"/>
              </a:rPr>
              <a:t>{Apple}</a:t>
            </a:r>
            <a:r>
              <a:rPr lang="en-US" altLang="ko-KR" sz="2000" dirty="0">
                <a:latin typeface="+mn-lt"/>
                <a:ea typeface="굴림" pitchFamily="34" charset="-127"/>
                <a:sym typeface="Wingdings" pitchFamily="2" charset="2"/>
              </a:rPr>
              <a:t>{Coke, Bread} is an association rule</a:t>
            </a:r>
            <a:endParaRPr lang="en-US" altLang="ko-KR" sz="2000" dirty="0">
              <a:latin typeface="+mn-lt"/>
              <a:ea typeface="굴림" pitchFamily="34" charset="-127"/>
            </a:endParaRPr>
          </a:p>
          <a:p>
            <a:pPr marL="342000" indent="-36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altLang="ko-KR" sz="2000" dirty="0">
                <a:latin typeface="+mn-lt"/>
                <a:ea typeface="굴림" pitchFamily="34" charset="-127"/>
              </a:rPr>
              <a:t>It presents the pattern when </a:t>
            </a:r>
            <a:r>
              <a:rPr lang="en-US" altLang="ko-KR" sz="2000" i="1" dirty="0">
                <a:latin typeface="+mn-lt"/>
                <a:ea typeface="굴림" pitchFamily="34" charset="-127"/>
              </a:rPr>
              <a:t>X</a:t>
            </a:r>
            <a:r>
              <a:rPr lang="en-US" altLang="ko-KR" sz="2000" dirty="0">
                <a:latin typeface="+mn-lt"/>
                <a:ea typeface="굴림" pitchFamily="34" charset="-127"/>
              </a:rPr>
              <a:t> occurs, </a:t>
            </a:r>
            <a:r>
              <a:rPr lang="en-US" altLang="ko-KR" sz="2000" i="1" dirty="0">
                <a:latin typeface="+mn-lt"/>
                <a:ea typeface="굴림" pitchFamily="34" charset="-127"/>
              </a:rPr>
              <a:t>Y</a:t>
            </a:r>
            <a:r>
              <a:rPr lang="en-US" altLang="ko-KR" sz="2000" dirty="0">
                <a:latin typeface="+mn-lt"/>
                <a:ea typeface="굴림" pitchFamily="34" charset="-127"/>
              </a:rPr>
              <a:t> also occurs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69D5F312-056E-C0D7-04EB-EF3CC5D98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7131050" cy="815975"/>
          </a:xfrm>
        </p:spPr>
        <p:txBody>
          <a:bodyPr lIns="0" tIns="0" rIns="0" bIns="0"/>
          <a:lstStyle/>
          <a:p>
            <a:pPr algn="l"/>
            <a:r>
              <a:rPr lang="en-AU" altLang="en-US" sz="42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Use of Association Rules</a:t>
            </a:r>
            <a:endParaRPr lang="en-US" altLang="en-US" sz="42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40962" name="Picture 7" descr="JCU_Logo_RGB.jpg">
            <a:extLst>
              <a:ext uri="{FF2B5EF4-FFF2-40B4-BE49-F238E27FC236}">
                <a16:creationId xmlns:a16="http://schemas.microsoft.com/office/drawing/2014/main" id="{BE76A377-8152-C385-4EF9-1DF2BD1B1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Line 9">
            <a:extLst>
              <a:ext uri="{FF2B5EF4-FFF2-40B4-BE49-F238E27FC236}">
                <a16:creationId xmlns:a16="http://schemas.microsoft.com/office/drawing/2014/main" id="{A34C01F7-2C33-A5D0-CC06-1CE433EA19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" name="Line 10">
            <a:extLst>
              <a:ext uri="{FF2B5EF4-FFF2-40B4-BE49-F238E27FC236}">
                <a16:creationId xmlns:a16="http://schemas.microsoft.com/office/drawing/2014/main" id="{4596FA3E-E894-CF4A-A1F0-55A290A6FA4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5" name="Slide Number Placeholder 6">
            <a:extLst>
              <a:ext uri="{FF2B5EF4-FFF2-40B4-BE49-F238E27FC236}">
                <a16:creationId xmlns:a16="http://schemas.microsoft.com/office/drawing/2014/main" id="{A4A112F1-0841-7CD0-31AB-AF4D8327F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8AA0DB-CDD8-C341-BFDB-4D70ABD85C52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4CCC1D0E-ECF7-F44F-6831-05CE55388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17650"/>
            <a:ext cx="8458200" cy="50546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342000" indent="-36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altLang="ko-KR" sz="2400" dirty="0">
                <a:latin typeface="+mn-lt"/>
                <a:ea typeface="굴림" pitchFamily="34" charset="-127"/>
              </a:rPr>
              <a:t>Association rules do not represent any sort of </a:t>
            </a:r>
            <a:r>
              <a:rPr lang="en-US" altLang="ko-KR" sz="2400" dirty="0">
                <a:solidFill>
                  <a:srgbClr val="FF0000"/>
                </a:solidFill>
                <a:latin typeface="+mn-lt"/>
                <a:ea typeface="굴림" pitchFamily="34" charset="-127"/>
              </a:rPr>
              <a:t>causality</a:t>
            </a:r>
            <a:r>
              <a:rPr lang="en-US" altLang="ko-KR" sz="2400" dirty="0">
                <a:latin typeface="+mn-lt"/>
                <a:ea typeface="굴림" pitchFamily="34" charset="-127"/>
              </a:rPr>
              <a:t> or </a:t>
            </a:r>
            <a:r>
              <a:rPr lang="en-US" altLang="ko-KR" sz="2400" dirty="0">
                <a:solidFill>
                  <a:srgbClr val="FF0000"/>
                </a:solidFill>
                <a:latin typeface="+mn-lt"/>
                <a:ea typeface="굴림" pitchFamily="34" charset="-127"/>
              </a:rPr>
              <a:t>correlation</a:t>
            </a:r>
            <a:r>
              <a:rPr lang="en-US" altLang="ko-KR" sz="2400" dirty="0">
                <a:latin typeface="+mn-lt"/>
                <a:ea typeface="굴림" pitchFamily="34" charset="-127"/>
              </a:rPr>
              <a:t> between the two </a:t>
            </a:r>
            <a:r>
              <a:rPr lang="en-US" altLang="ko-KR" sz="2400" dirty="0" err="1">
                <a:latin typeface="+mn-lt"/>
                <a:ea typeface="굴림" pitchFamily="34" charset="-127"/>
              </a:rPr>
              <a:t>itemsets</a:t>
            </a:r>
            <a:r>
              <a:rPr lang="en-US" altLang="ko-KR" sz="2400" dirty="0">
                <a:latin typeface="+mn-lt"/>
                <a:ea typeface="굴림" pitchFamily="34" charset="-127"/>
              </a:rPr>
              <a:t>.</a:t>
            </a:r>
          </a:p>
          <a:p>
            <a:pPr lvl="1" eaLnBrk="1" hangingPunct="1">
              <a:buFontTx/>
              <a:buChar char="-"/>
              <a:defRPr/>
            </a:pPr>
            <a:r>
              <a:rPr lang="en-US" sz="2400" i="1" dirty="0">
                <a:latin typeface="+mn-lt"/>
              </a:rPr>
              <a:t>X </a:t>
            </a:r>
            <a:r>
              <a:rPr lang="en-US" sz="2400" i="1" dirty="0">
                <a:latin typeface="+mn-lt"/>
                <a:sym typeface="Symbol" pitchFamily="18" charset="2"/>
              </a:rPr>
              <a:t> Y</a:t>
            </a:r>
            <a:r>
              <a:rPr lang="en-US" sz="2400" dirty="0">
                <a:latin typeface="+mn-lt"/>
                <a:sym typeface="Symbol" pitchFamily="18" charset="2"/>
              </a:rPr>
              <a:t> does not mean </a:t>
            </a:r>
            <a:r>
              <a:rPr lang="en-US" sz="2400" i="1" dirty="0">
                <a:latin typeface="+mn-lt"/>
                <a:sym typeface="Symbol" pitchFamily="18" charset="2"/>
              </a:rPr>
              <a:t>X</a:t>
            </a:r>
            <a:r>
              <a:rPr lang="en-US" sz="2400" dirty="0">
                <a:latin typeface="+mn-lt"/>
                <a:sym typeface="Symbol" pitchFamily="18" charset="2"/>
              </a:rPr>
              <a:t> causes </a:t>
            </a:r>
            <a:r>
              <a:rPr lang="en-US" sz="2400" i="1" dirty="0">
                <a:latin typeface="+mn-lt"/>
                <a:sym typeface="Symbol" pitchFamily="18" charset="2"/>
              </a:rPr>
              <a:t>Y</a:t>
            </a:r>
            <a:r>
              <a:rPr lang="en-US" sz="2400" dirty="0">
                <a:latin typeface="+mn-lt"/>
                <a:sym typeface="Symbol" pitchFamily="18" charset="2"/>
              </a:rPr>
              <a:t>, so no</a:t>
            </a:r>
            <a:r>
              <a:rPr lang="en-US" sz="2400" i="1" dirty="0">
                <a:latin typeface="+mn-lt"/>
                <a:sym typeface="Symbol" pitchFamily="18" charset="2"/>
              </a:rPr>
              <a:t> </a:t>
            </a:r>
            <a:r>
              <a:rPr lang="en-US" sz="2400" dirty="0">
                <a:latin typeface="+mn-lt"/>
                <a:sym typeface="Symbol" pitchFamily="18" charset="2"/>
              </a:rPr>
              <a:t>Causality</a:t>
            </a:r>
          </a:p>
          <a:p>
            <a:pPr lvl="1" eaLnBrk="1" hangingPunct="1">
              <a:buFontTx/>
              <a:buChar char="-"/>
              <a:defRPr/>
            </a:pPr>
            <a:r>
              <a:rPr lang="en-US" sz="2400" i="1" dirty="0">
                <a:latin typeface="+mn-lt"/>
              </a:rPr>
              <a:t>X </a:t>
            </a:r>
            <a:r>
              <a:rPr lang="en-US" sz="2400" i="1" dirty="0">
                <a:latin typeface="+mn-lt"/>
                <a:sym typeface="Symbol" pitchFamily="18" charset="2"/>
              </a:rPr>
              <a:t> Y</a:t>
            </a:r>
            <a:r>
              <a:rPr lang="en-US" sz="2400" dirty="0">
                <a:latin typeface="+mn-lt"/>
                <a:sym typeface="Symbol" pitchFamily="18" charset="2"/>
              </a:rPr>
              <a:t>  can be different from </a:t>
            </a:r>
            <a:r>
              <a:rPr lang="en-US" sz="2400" i="1" dirty="0">
                <a:latin typeface="+mn-lt"/>
              </a:rPr>
              <a:t>Y </a:t>
            </a:r>
            <a:r>
              <a:rPr lang="en-US" sz="2400" i="1" dirty="0">
                <a:latin typeface="+mn-lt"/>
                <a:sym typeface="Symbol" pitchFamily="18" charset="2"/>
              </a:rPr>
              <a:t> X</a:t>
            </a:r>
            <a:r>
              <a:rPr lang="en-US" sz="2400" dirty="0">
                <a:latin typeface="+mn-lt"/>
                <a:sym typeface="Symbol" pitchFamily="18" charset="2"/>
              </a:rPr>
              <a:t>, unlike correlation</a:t>
            </a:r>
          </a:p>
          <a:p>
            <a:pPr marL="1084950" lvl="1" indent="-360000">
              <a:spcBef>
                <a:spcPts val="0"/>
              </a:spcBef>
              <a:spcAft>
                <a:spcPts val="600"/>
              </a:spcAft>
              <a:defRPr/>
            </a:pPr>
            <a:endParaRPr lang="en-US" altLang="ko-KR" sz="1050" dirty="0">
              <a:ea typeface="굴림" pitchFamily="34" charset="-127"/>
            </a:endParaRPr>
          </a:p>
          <a:p>
            <a:pPr marL="342000" indent="-36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altLang="ko-KR" sz="2400" dirty="0">
                <a:latin typeface="+mn-lt"/>
                <a:ea typeface="굴림" pitchFamily="34" charset="-127"/>
              </a:rPr>
              <a:t>Association rule types</a:t>
            </a:r>
          </a:p>
          <a:p>
            <a:pPr marL="1084950" lvl="1" indent="-360000">
              <a:spcBef>
                <a:spcPts val="0"/>
              </a:spcBef>
              <a:spcAft>
                <a:spcPts val="600"/>
              </a:spcAft>
              <a:buFontTx/>
              <a:buChar char="-"/>
              <a:defRPr/>
            </a:pPr>
            <a:r>
              <a:rPr lang="en-US" altLang="ko-KR" sz="2300" dirty="0">
                <a:highlight>
                  <a:srgbClr val="FFFF00"/>
                </a:highlight>
                <a:latin typeface="+mn-lt"/>
                <a:ea typeface="굴림" pitchFamily="34" charset="-127"/>
              </a:rPr>
              <a:t>Actionable Rules </a:t>
            </a:r>
            <a:r>
              <a:rPr lang="en-US" altLang="ko-KR" sz="2300" dirty="0">
                <a:latin typeface="+mn-lt"/>
                <a:ea typeface="굴림" pitchFamily="34" charset="-127"/>
              </a:rPr>
              <a:t>– contain high-quality, actionable information</a:t>
            </a:r>
          </a:p>
          <a:p>
            <a:pPr marL="1084950" lvl="1" indent="-360000">
              <a:spcBef>
                <a:spcPts val="0"/>
              </a:spcBef>
              <a:spcAft>
                <a:spcPts val="600"/>
              </a:spcAft>
              <a:buFontTx/>
              <a:buChar char="-"/>
              <a:defRPr/>
            </a:pPr>
            <a:r>
              <a:rPr lang="en-US" altLang="ko-KR" sz="2300" dirty="0">
                <a:highlight>
                  <a:srgbClr val="FFFF00"/>
                </a:highlight>
                <a:latin typeface="+mn-lt"/>
                <a:ea typeface="굴림" pitchFamily="34" charset="-127"/>
              </a:rPr>
              <a:t>Trivial Rules </a:t>
            </a:r>
            <a:r>
              <a:rPr lang="en-US" altLang="ko-KR" sz="2300" dirty="0">
                <a:latin typeface="+mn-lt"/>
                <a:ea typeface="굴림" pitchFamily="34" charset="-127"/>
              </a:rPr>
              <a:t>– information already well known by those familiar with the business</a:t>
            </a:r>
          </a:p>
          <a:p>
            <a:pPr marL="1084950" lvl="1" indent="-360000">
              <a:spcBef>
                <a:spcPts val="0"/>
              </a:spcBef>
              <a:spcAft>
                <a:spcPts val="600"/>
              </a:spcAft>
              <a:buFontTx/>
              <a:buChar char="-"/>
              <a:defRPr/>
            </a:pPr>
            <a:r>
              <a:rPr lang="en-US" altLang="ko-KR" sz="2300" dirty="0">
                <a:highlight>
                  <a:srgbClr val="FFFF00"/>
                </a:highlight>
                <a:latin typeface="+mn-lt"/>
                <a:ea typeface="굴림" pitchFamily="34" charset="-127"/>
              </a:rPr>
              <a:t>Inexplicable Rules </a:t>
            </a:r>
            <a:r>
              <a:rPr lang="en-US" altLang="ko-KR" sz="2300" dirty="0">
                <a:latin typeface="+mn-lt"/>
                <a:ea typeface="굴림" pitchFamily="34" charset="-127"/>
              </a:rPr>
              <a:t>– no explanation and do not suggest action</a:t>
            </a:r>
          </a:p>
          <a:p>
            <a:pPr marL="1084950" lvl="1" indent="-360000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ko-KR" sz="2400" dirty="0">
                <a:latin typeface="+mn-lt"/>
                <a:ea typeface="굴림" pitchFamily="34" charset="-127"/>
              </a:rPr>
              <a:t>(Trivial and Inexplicable Rules occur most often)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674DB835-D954-571D-0BB5-3145F2BA7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7131050" cy="815975"/>
          </a:xfrm>
        </p:spPr>
        <p:txBody>
          <a:bodyPr lIns="0" tIns="0" rIns="0" bIns="0"/>
          <a:lstStyle/>
          <a:p>
            <a:pPr algn="l"/>
            <a:r>
              <a:rPr lang="en-AU" altLang="en-US" sz="40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Measuring the strength of a rule</a:t>
            </a:r>
            <a:endParaRPr lang="en-US" altLang="en-US" sz="40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43010" name="Picture 7" descr="JCU_Logo_RGB.jpg">
            <a:extLst>
              <a:ext uri="{FF2B5EF4-FFF2-40B4-BE49-F238E27FC236}">
                <a16:creationId xmlns:a16="http://schemas.microsoft.com/office/drawing/2014/main" id="{30F35811-2A29-1823-65FE-99980BC08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Line 9">
            <a:extLst>
              <a:ext uri="{FF2B5EF4-FFF2-40B4-BE49-F238E27FC236}">
                <a16:creationId xmlns:a16="http://schemas.microsoft.com/office/drawing/2014/main" id="{0649E0F5-A961-1024-B4BC-3B87B3E72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2" name="Line 10">
            <a:extLst>
              <a:ext uri="{FF2B5EF4-FFF2-40B4-BE49-F238E27FC236}">
                <a16:creationId xmlns:a16="http://schemas.microsoft.com/office/drawing/2014/main" id="{6BE67966-54B8-068F-545C-37816634E9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3" name="Slide Number Placeholder 6">
            <a:extLst>
              <a:ext uri="{FF2B5EF4-FFF2-40B4-BE49-F238E27FC236}">
                <a16:creationId xmlns:a16="http://schemas.microsoft.com/office/drawing/2014/main" id="{EFDF5D3E-C51B-9BC7-16F5-53983E2E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6AC0C8-E004-6A44-8D2B-F11EC33429E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6">
                <a:extLst>
                  <a:ext uri="{FF2B5EF4-FFF2-40B4-BE49-F238E27FC236}">
                    <a16:creationId xmlns:a16="http://schemas.microsoft.com/office/drawing/2014/main" id="{FF550EBF-C8D0-42A7-69D1-278AE8046C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1692275"/>
                <a:ext cx="8229600" cy="52168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457200" indent="-457200">
                  <a:spcBef>
                    <a:spcPts val="0"/>
                  </a:spcBef>
                  <a:spcAft>
                    <a:spcPts val="6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b="1" dirty="0">
                    <a:solidFill>
                      <a:srgbClr val="C00000"/>
                    </a:solidFill>
                    <a:latin typeface="+mn-lt"/>
                    <a:ea typeface="굴림" pitchFamily="34" charset="-127"/>
                  </a:rPr>
                  <a:t>Association Rule Mining (ARM) </a:t>
                </a:r>
                <a:r>
                  <a:rPr lang="en-US" altLang="ko-KR" dirty="0">
                    <a:latin typeface="+mn-lt"/>
                    <a:ea typeface="굴림" pitchFamily="34" charset="-127"/>
                  </a:rPr>
                  <a:t>is finding frequent patterns in a data set.</a:t>
                </a:r>
              </a:p>
              <a:p>
                <a:pPr marL="457200" indent="-457200">
                  <a:spcBef>
                    <a:spcPts val="0"/>
                  </a:spcBef>
                  <a:spcAft>
                    <a:spcPts val="6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dirty="0">
                    <a:latin typeface="+mn-lt"/>
                    <a:ea typeface="굴림" pitchFamily="34" charset="-127"/>
                  </a:rPr>
                  <a:t>A </a:t>
                </a:r>
                <a:r>
                  <a:rPr lang="en-US" altLang="ko-KR" dirty="0">
                    <a:solidFill>
                      <a:srgbClr val="C00000"/>
                    </a:solidFill>
                    <a:latin typeface="+mn-lt"/>
                    <a:ea typeface="굴림" pitchFamily="34" charset="-127"/>
                  </a:rPr>
                  <a:t>frequent pattern </a:t>
                </a:r>
                <a:r>
                  <a:rPr lang="en-US" altLang="ko-KR" dirty="0">
                    <a:latin typeface="+mn-lt"/>
                    <a:ea typeface="굴림" pitchFamily="34" charset="-127"/>
                  </a:rPr>
                  <a:t>(a pattern that occurs frequently in a data set):  An intrinsic and important property of a data set.  </a:t>
                </a:r>
              </a:p>
              <a:p>
                <a:pPr marL="457200" indent="-457200">
                  <a:spcBef>
                    <a:spcPts val="0"/>
                  </a:spcBef>
                  <a:spcAft>
                    <a:spcPts val="6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dirty="0">
                    <a:latin typeface="+mn-lt"/>
                    <a:ea typeface="굴림" pitchFamily="34" charset="-127"/>
                  </a:rPr>
                  <a:t>Frequent pattern mining can be a foundation for many other essential data mining tasks</a:t>
                </a:r>
              </a:p>
              <a:p>
                <a:pPr marL="457200" indent="-457200">
                  <a:spcBef>
                    <a:spcPts val="0"/>
                  </a:spcBef>
                  <a:spcAft>
                    <a:spcPts val="600"/>
                  </a:spcAft>
                  <a:defRPr/>
                </a:pPr>
                <a:endParaRPr lang="en-US" altLang="ko-KR" sz="1200" dirty="0">
                  <a:latin typeface="+mn-lt"/>
                  <a:ea typeface="굴림" pitchFamily="34" charset="-127"/>
                </a:endParaRPr>
              </a:p>
              <a:p>
                <a:pPr marL="457200" indent="-457200">
                  <a:spcBef>
                    <a:spcPts val="0"/>
                  </a:spcBef>
                  <a:spcAft>
                    <a:spcPts val="6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dirty="0">
                    <a:latin typeface="+mn-lt"/>
                    <a:ea typeface="굴림" pitchFamily="34" charset="-127"/>
                  </a:rPr>
                  <a:t>Frequency measuring criteria  - </a:t>
                </a:r>
                <a:r>
                  <a:rPr lang="en-US" altLang="ko-KR" b="1" dirty="0">
                    <a:latin typeface="+mn-lt"/>
                    <a:ea typeface="굴림" pitchFamily="34" charset="-127"/>
                  </a:rPr>
                  <a:t>Support</a:t>
                </a:r>
                <a:r>
                  <a:rPr lang="en-US" altLang="ko-KR" dirty="0">
                    <a:latin typeface="+mn-lt"/>
                    <a:ea typeface="굴림" pitchFamily="34" charset="-127"/>
                  </a:rPr>
                  <a:t> and </a:t>
                </a:r>
                <a:r>
                  <a:rPr lang="en-US" altLang="ko-KR" b="1" dirty="0">
                    <a:latin typeface="+mn-lt"/>
                    <a:ea typeface="굴림" pitchFamily="34" charset="-127"/>
                  </a:rPr>
                  <a:t>Confidence</a:t>
                </a:r>
              </a:p>
              <a:p>
                <a:pPr marL="457200" indent="-457200">
                  <a:spcBef>
                    <a:spcPts val="0"/>
                  </a:spcBef>
                  <a:spcAft>
                    <a:spcPts val="6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dirty="0">
                    <a:latin typeface="+mn-lt"/>
                    <a:ea typeface="굴림" pitchFamily="34" charset="-127"/>
                  </a:rPr>
                  <a:t>Find all the rules X-&gt;Y with minimum support and confidence</a:t>
                </a:r>
              </a:p>
              <a:p>
                <a:pPr marL="914400" lvl="1" indent="-457200" eaLnBrk="1" hangingPunct="1">
                  <a:buFont typeface="Arial" pitchFamily="34" charset="0"/>
                  <a:buChar char="•"/>
                  <a:defRPr/>
                </a:pPr>
                <a:r>
                  <a:rPr lang="en-US" dirty="0">
                    <a:solidFill>
                      <a:schemeClr val="hlink"/>
                    </a:solidFill>
                    <a:latin typeface="+mn-lt"/>
                    <a:sym typeface="Symbol" pitchFamily="18" charset="2"/>
                  </a:rPr>
                  <a:t>support</a:t>
                </a:r>
                <a:r>
                  <a:rPr lang="en-US" dirty="0">
                    <a:latin typeface="+mn-lt"/>
                    <a:sym typeface="Symbol" pitchFamily="18" charset="2"/>
                  </a:rPr>
                  <a:t>, </a:t>
                </a:r>
                <a:r>
                  <a:rPr lang="en-US" i="1" dirty="0">
                    <a:latin typeface="+mn-lt"/>
                    <a:sym typeface="Symbol" pitchFamily="18" charset="2"/>
                  </a:rPr>
                  <a:t>s</a:t>
                </a:r>
                <a:r>
                  <a:rPr lang="en-US" dirty="0">
                    <a:latin typeface="+mn-lt"/>
                    <a:sym typeface="Symbol" pitchFamily="18" charset="2"/>
                  </a:rPr>
                  <a:t>, </a:t>
                </a:r>
                <a:r>
                  <a:rPr lang="en-US" dirty="0">
                    <a:solidFill>
                      <a:schemeClr val="tx2"/>
                    </a:solidFill>
                    <a:latin typeface="+mn-lt"/>
                    <a:sym typeface="Symbol" pitchFamily="18" charset="2"/>
                  </a:rPr>
                  <a:t>probability</a:t>
                </a:r>
                <a:r>
                  <a:rPr lang="en-US" dirty="0">
                    <a:latin typeface="+mn-lt"/>
                    <a:sym typeface="Symbol" pitchFamily="18" charset="2"/>
                  </a:rPr>
                  <a:t> that a transaction contains X and Y</a:t>
                </a:r>
              </a:p>
              <a:p>
                <a:pPr marL="914400" lvl="1" indent="-457200" eaLnBrk="1" hangingPunct="1">
                  <a:buFont typeface="Arial" pitchFamily="34" charset="0"/>
                  <a:buChar char="•"/>
                  <a:defRPr/>
                </a:pPr>
                <a:r>
                  <a:rPr lang="en-US" dirty="0">
                    <a:solidFill>
                      <a:schemeClr val="hlink"/>
                    </a:solidFill>
                    <a:latin typeface="+mn-lt"/>
                    <a:sym typeface="Symbol" pitchFamily="18" charset="2"/>
                  </a:rPr>
                  <a:t>confidence</a:t>
                </a:r>
                <a:r>
                  <a:rPr lang="en-US" dirty="0">
                    <a:latin typeface="+mn-lt"/>
                    <a:sym typeface="Symbol" pitchFamily="18" charset="2"/>
                  </a:rPr>
                  <a:t>, </a:t>
                </a:r>
                <a:r>
                  <a:rPr lang="en-US" i="1" dirty="0">
                    <a:latin typeface="+mn-lt"/>
                    <a:sym typeface="Symbol" pitchFamily="18" charset="2"/>
                  </a:rPr>
                  <a:t>c,</a:t>
                </a:r>
                <a:r>
                  <a:rPr lang="en-US" dirty="0">
                    <a:latin typeface="+mn-lt"/>
                    <a:sym typeface="Symbol" pitchFamily="18" charset="2"/>
                  </a:rPr>
                  <a:t> </a:t>
                </a:r>
                <a:r>
                  <a:rPr lang="en-US" dirty="0">
                    <a:solidFill>
                      <a:schemeClr val="tx2"/>
                    </a:solidFill>
                    <a:latin typeface="+mn-lt"/>
                    <a:sym typeface="Symbol" pitchFamily="18" charset="2"/>
                  </a:rPr>
                  <a:t>conditional probability</a:t>
                </a:r>
                <a:r>
                  <a:rPr lang="en-US" dirty="0">
                    <a:latin typeface="+mn-lt"/>
                    <a:sym typeface="Symbol" pitchFamily="18" charset="2"/>
                  </a:rPr>
                  <a:t> that a transaction having X also contains </a:t>
                </a:r>
                <a:r>
                  <a:rPr lang="en-US" i="1" dirty="0">
                    <a:latin typeface="+mn-lt"/>
                    <a:sym typeface="Symbol" pitchFamily="18" charset="2"/>
                  </a:rPr>
                  <a:t>Y: </a:t>
                </a:r>
                <a:r>
                  <a:rPr lang="en-US" dirty="0">
                    <a:latin typeface="+mn-lt"/>
                    <a:sym typeface="Symbol" pitchFamily="18" charset="2"/>
                  </a:rPr>
                  <a:t>P(</a:t>
                </a:r>
                <a:r>
                  <a:rPr lang="en-US" i="1" dirty="0">
                    <a:latin typeface="+mn-lt"/>
                    <a:sym typeface="Symbol" pitchFamily="18" charset="2"/>
                  </a:rPr>
                  <a:t>Y</a:t>
                </a:r>
                <a:r>
                  <a:rPr lang="en-US" dirty="0">
                    <a:latin typeface="+mn-lt"/>
                    <a:sym typeface="Symbol" pitchFamily="18" charset="2"/>
                  </a:rPr>
                  <a:t> | </a:t>
                </a:r>
                <a:r>
                  <a:rPr lang="en-US" i="1" dirty="0">
                    <a:latin typeface="+mn-lt"/>
                    <a:sym typeface="Symbol" pitchFamily="18" charset="2"/>
                  </a:rPr>
                  <a:t>X</a:t>
                </a:r>
                <a:r>
                  <a:rPr lang="en-US" dirty="0">
                    <a:latin typeface="+mn-lt"/>
                    <a:sym typeface="Symbol" pitchFamily="18" charset="2"/>
                  </a:rPr>
                  <a:t>) =</a:t>
                </a:r>
                <a:r>
                  <a:rPr lang="en-US" i="1" dirty="0">
                    <a:latin typeface="+mn-lt"/>
                    <a:sym typeface="Symbol" pitchFamily="18" charset="2"/>
                  </a:rPr>
                  <a:t> </a:t>
                </a:r>
                <a:r>
                  <a:rPr lang="en-US" dirty="0">
                    <a:latin typeface="+mn-lt"/>
                    <a:sym typeface="Symbol" pitchFamily="18" charset="2"/>
                  </a:rPr>
                  <a:t>P(</a:t>
                </a:r>
                <a:r>
                  <a:rPr lang="en-US" i="1" dirty="0">
                    <a:latin typeface="+mn-lt"/>
                    <a:sym typeface="Symbol" pitchFamily="18" charset="2"/>
                  </a:rPr>
                  <a:t>X</a:t>
                </a:r>
                <a:r>
                  <a:rPr lang="en-US" dirty="0">
                    <a:latin typeface="+mn-lt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∩</m:t>
                    </m:r>
                  </m:oMath>
                </a14:m>
                <a:r>
                  <a:rPr lang="en-US" dirty="0">
                    <a:latin typeface="+mn-lt"/>
                    <a:sym typeface="Symbol" pitchFamily="18" charset="2"/>
                  </a:rPr>
                  <a:t> </a:t>
                </a:r>
                <a:r>
                  <a:rPr lang="en-US" i="1" dirty="0">
                    <a:latin typeface="+mn-lt"/>
                    <a:sym typeface="Symbol" pitchFamily="18" charset="2"/>
                  </a:rPr>
                  <a:t>Y</a:t>
                </a:r>
                <a:r>
                  <a:rPr lang="en-US" dirty="0">
                    <a:latin typeface="+mn-lt"/>
                    <a:sym typeface="Symbol" pitchFamily="18" charset="2"/>
                  </a:rPr>
                  <a:t>)/P(</a:t>
                </a:r>
                <a:r>
                  <a:rPr lang="en-US" i="1" dirty="0">
                    <a:latin typeface="+mn-lt"/>
                    <a:sym typeface="Symbol" pitchFamily="18" charset="2"/>
                  </a:rPr>
                  <a:t>X</a:t>
                </a:r>
                <a:r>
                  <a:rPr lang="en-US" dirty="0">
                    <a:latin typeface="+mn-lt"/>
                    <a:sym typeface="Symbol" pitchFamily="18" charset="2"/>
                  </a:rPr>
                  <a:t>)</a:t>
                </a:r>
                <a:endParaRPr lang="en-US" i="1" dirty="0">
                  <a:latin typeface="+mn-lt"/>
                  <a:sym typeface="Symbol" pitchFamily="18" charset="2"/>
                </a:endParaRPr>
              </a:p>
              <a:p>
                <a:pPr>
                  <a:spcBef>
                    <a:spcPts val="0"/>
                  </a:spcBef>
                  <a:defRPr/>
                </a:pPr>
                <a:endParaRPr lang="en-US" altLang="ko-KR" sz="2700" dirty="0">
                  <a:solidFill>
                    <a:srgbClr val="000099"/>
                  </a:solidFill>
                </a:endParaRPr>
              </a:p>
            </p:txBody>
          </p:sp>
        </mc:Choice>
        <mc:Fallback xmlns="">
          <p:sp>
            <p:nvSpPr>
              <p:cNvPr id="10" name="Text Box 6">
                <a:extLst>
                  <a:ext uri="{FF2B5EF4-FFF2-40B4-BE49-F238E27FC236}">
                    <a16:creationId xmlns:a16="http://schemas.microsoft.com/office/drawing/2014/main" id="{FF550EBF-C8D0-42A7-69D1-278AE8046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692275"/>
                <a:ext cx="8229600" cy="5216813"/>
              </a:xfrm>
              <a:prstGeom prst="rect">
                <a:avLst/>
              </a:prstGeom>
              <a:blipFill>
                <a:blip r:embed="rId4"/>
                <a:stretch>
                  <a:fillRect l="-1080" t="-973" r="-13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3E1EA-1DFB-0B4C-84E2-DEB44F7E9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FDDD8DF9-DDBC-BD41-03D3-5D525CB93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091363" cy="815975"/>
          </a:xfrm>
        </p:spPr>
        <p:txBody>
          <a:bodyPr lIns="0" tIns="0" rIns="0" bIns="0"/>
          <a:lstStyle/>
          <a:p>
            <a:pPr algn="l"/>
            <a:r>
              <a:rPr lang="en-AU" altLang="en-US" sz="40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Support and Confidence</a:t>
            </a:r>
            <a:endParaRPr lang="en-US" altLang="en-US" sz="40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45058" name="Picture 7" descr="JCU_Logo_RGB.jpg">
            <a:extLst>
              <a:ext uri="{FF2B5EF4-FFF2-40B4-BE49-F238E27FC236}">
                <a16:creationId xmlns:a16="http://schemas.microsoft.com/office/drawing/2014/main" id="{ED800601-196C-6F96-AAB1-88EB8C7FB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Line 9">
            <a:extLst>
              <a:ext uri="{FF2B5EF4-FFF2-40B4-BE49-F238E27FC236}">
                <a16:creationId xmlns:a16="http://schemas.microsoft.com/office/drawing/2014/main" id="{7CC1F6D9-5CB8-07D1-7547-A50C2B8604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0" name="Line 10">
            <a:extLst>
              <a:ext uri="{FF2B5EF4-FFF2-40B4-BE49-F238E27FC236}">
                <a16:creationId xmlns:a16="http://schemas.microsoft.com/office/drawing/2014/main" id="{19113793-8DBB-FB80-D135-3EF11775C4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1" name="Slide Number Placeholder 126">
            <a:extLst>
              <a:ext uri="{FF2B5EF4-FFF2-40B4-BE49-F238E27FC236}">
                <a16:creationId xmlns:a16="http://schemas.microsoft.com/office/drawing/2014/main" id="{37ABAD0E-7A9F-867B-90CB-7BCD31FFF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9BBF6F-31DF-2F45-89A2-3233838332A7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29" name="Text Box 5">
            <a:extLst>
              <a:ext uri="{FF2B5EF4-FFF2-40B4-BE49-F238E27FC236}">
                <a16:creationId xmlns:a16="http://schemas.microsoft.com/office/drawing/2014/main" id="{3C582FF4-57AF-B8E9-DDE5-7ADA1FF7E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4086225"/>
            <a:ext cx="860425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altLang="ko-KR" dirty="0">
                <a:latin typeface="+mn-lt"/>
              </a:rPr>
              <a:t>  Association between Banana and Chicken ?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altLang="ko-KR" dirty="0">
                <a:latin typeface="+mn-lt"/>
              </a:rPr>
              <a:t>  Association Rule: banana </a:t>
            </a:r>
            <a:r>
              <a:rPr lang="en-US" altLang="ko-KR" dirty="0">
                <a:latin typeface="+mn-lt"/>
                <a:sym typeface="Wingdings" pitchFamily="2" charset="2"/>
              </a:rPr>
              <a:t> chicken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ko-KR" dirty="0">
                <a:latin typeface="+mn-lt"/>
                <a:sym typeface="Wingdings" pitchFamily="2" charset="2"/>
              </a:rPr>
              <a:t> - Support</a:t>
            </a:r>
            <a:r>
              <a:rPr lang="en-US" altLang="ko-KR" dirty="0">
                <a:latin typeface="+mn-lt"/>
              </a:rPr>
              <a:t> =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ko-KR" dirty="0">
                <a:latin typeface="+mn-lt"/>
              </a:rPr>
              <a:t> - Confidence = </a:t>
            </a:r>
          </a:p>
        </p:txBody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9A6510D5-8AD2-1D31-07B6-D88B33A42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13" y="2782888"/>
            <a:ext cx="6400800" cy="304800"/>
          </a:xfrm>
          <a:prstGeom prst="rect">
            <a:avLst/>
          </a:prstGeom>
          <a:solidFill>
            <a:srgbClr val="99CCFF">
              <a:alpha val="50195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400">
              <a:latin typeface="Arial" panose="020B0604020202020204" pitchFamily="34" charset="0"/>
            </a:endParaRPr>
          </a:p>
        </p:txBody>
      </p:sp>
      <p:grpSp>
        <p:nvGrpSpPr>
          <p:cNvPr id="45064" name="Group 8">
            <a:extLst>
              <a:ext uri="{FF2B5EF4-FFF2-40B4-BE49-F238E27FC236}">
                <a16:creationId xmlns:a16="http://schemas.microsoft.com/office/drawing/2014/main" id="{A834B1F9-4542-149F-DC5C-962DB6A447F7}"/>
              </a:ext>
            </a:extLst>
          </p:cNvPr>
          <p:cNvGrpSpPr>
            <a:grpSpLocks/>
          </p:cNvGrpSpPr>
          <p:nvPr/>
        </p:nvGrpSpPr>
        <p:grpSpPr bwMode="auto">
          <a:xfrm>
            <a:off x="798513" y="1868488"/>
            <a:ext cx="6400800" cy="1828800"/>
            <a:chOff x="864" y="1104"/>
            <a:chExt cx="4032" cy="1152"/>
          </a:xfrm>
        </p:grpSpPr>
        <p:sp>
          <p:nvSpPr>
            <p:cNvPr id="45173" name="Rectangle 9">
              <a:extLst>
                <a:ext uri="{FF2B5EF4-FFF2-40B4-BE49-F238E27FC236}">
                  <a16:creationId xmlns:a16="http://schemas.microsoft.com/office/drawing/2014/main" id="{9349C3CA-5E15-2051-2EE8-4DC517493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104"/>
              <a:ext cx="4032" cy="384"/>
            </a:xfrm>
            <a:prstGeom prst="rect">
              <a:avLst/>
            </a:prstGeom>
            <a:solidFill>
              <a:srgbClr val="FFCC00">
                <a:alpha val="50195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5174" name="Rectangle 10">
              <a:extLst>
                <a:ext uri="{FF2B5EF4-FFF2-40B4-BE49-F238E27FC236}">
                  <a16:creationId xmlns:a16="http://schemas.microsoft.com/office/drawing/2014/main" id="{6F128C95-C0A8-192E-1C28-81A9F15CE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064"/>
              <a:ext cx="4032" cy="192"/>
            </a:xfrm>
            <a:prstGeom prst="rect">
              <a:avLst/>
            </a:prstGeom>
            <a:solidFill>
              <a:srgbClr val="FFCC00">
                <a:alpha val="50195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5175" name="Rectangle 11">
              <a:extLst>
                <a:ext uri="{FF2B5EF4-FFF2-40B4-BE49-F238E27FC236}">
                  <a16:creationId xmlns:a16="http://schemas.microsoft.com/office/drawing/2014/main" id="{A69D8555-EAFD-FFF3-2993-851687003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680"/>
              <a:ext cx="4032" cy="192"/>
            </a:xfrm>
            <a:prstGeom prst="rect">
              <a:avLst/>
            </a:prstGeom>
            <a:solidFill>
              <a:srgbClr val="FFCC00">
                <a:alpha val="50195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45065" name="Group 13">
            <a:extLst>
              <a:ext uri="{FF2B5EF4-FFF2-40B4-BE49-F238E27FC236}">
                <a16:creationId xmlns:a16="http://schemas.microsoft.com/office/drawing/2014/main" id="{621B4080-78DD-683C-AC81-DAB8931CC1C1}"/>
              </a:ext>
            </a:extLst>
          </p:cNvPr>
          <p:cNvGrpSpPr>
            <a:grpSpLocks/>
          </p:cNvGrpSpPr>
          <p:nvPr/>
        </p:nvGrpSpPr>
        <p:grpSpPr bwMode="auto">
          <a:xfrm>
            <a:off x="798513" y="1563688"/>
            <a:ext cx="6400800" cy="2133600"/>
            <a:chOff x="-3" y="-3"/>
            <a:chExt cx="3886" cy="2694"/>
          </a:xfrm>
        </p:grpSpPr>
        <p:grpSp>
          <p:nvGrpSpPr>
            <p:cNvPr id="45066" name="Group 14">
              <a:extLst>
                <a:ext uri="{FF2B5EF4-FFF2-40B4-BE49-F238E27FC236}">
                  <a16:creationId xmlns:a16="http://schemas.microsoft.com/office/drawing/2014/main" id="{ADE0C206-884A-9BF3-12FE-F5E6E97A48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880" cy="2688"/>
              <a:chOff x="0" y="0"/>
              <a:chExt cx="3880" cy="2688"/>
            </a:xfrm>
          </p:grpSpPr>
          <p:grpSp>
            <p:nvGrpSpPr>
              <p:cNvPr id="45068" name="Group 15">
                <a:extLst>
                  <a:ext uri="{FF2B5EF4-FFF2-40B4-BE49-F238E27FC236}">
                    <a16:creationId xmlns:a16="http://schemas.microsoft.com/office/drawing/2014/main" id="{8C1FBF92-34E5-6898-E342-64433A7487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76" cy="384"/>
                <a:chOff x="0" y="0"/>
                <a:chExt cx="776" cy="384"/>
              </a:xfrm>
            </p:grpSpPr>
            <p:sp>
              <p:nvSpPr>
                <p:cNvPr id="45171" name="Rectangle 16">
                  <a:extLst>
                    <a:ext uri="{FF2B5EF4-FFF2-40B4-BE49-F238E27FC236}">
                      <a16:creationId xmlns:a16="http://schemas.microsoft.com/office/drawing/2014/main" id="{A7C90B24-1D0F-F614-0E7A-9DA9E06768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</a:rPr>
                    <a:t>Person</a:t>
                  </a:r>
                </a:p>
              </p:txBody>
            </p:sp>
            <p:sp>
              <p:nvSpPr>
                <p:cNvPr id="45172" name="Rectangle 17">
                  <a:extLst>
                    <a:ext uri="{FF2B5EF4-FFF2-40B4-BE49-F238E27FC236}">
                      <a16:creationId xmlns:a16="http://schemas.microsoft.com/office/drawing/2014/main" id="{B16E4D83-F40D-6C64-3E5A-6DDF3C0DD2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69" name="Group 18">
                <a:extLst>
                  <a:ext uri="{FF2B5EF4-FFF2-40B4-BE49-F238E27FC236}">
                    <a16:creationId xmlns:a16="http://schemas.microsoft.com/office/drawing/2014/main" id="{6440ADFB-67AA-45E3-FCEE-EB50F44D44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0"/>
                <a:ext cx="776" cy="384"/>
                <a:chOff x="776" y="0"/>
                <a:chExt cx="776" cy="384"/>
              </a:xfrm>
            </p:grpSpPr>
            <p:sp>
              <p:nvSpPr>
                <p:cNvPr id="45169" name="Rectangle 19">
                  <a:extLst>
                    <a:ext uri="{FF2B5EF4-FFF2-40B4-BE49-F238E27FC236}">
                      <a16:creationId xmlns:a16="http://schemas.microsoft.com/office/drawing/2014/main" id="{DAB577C5-B19C-97E0-F048-AA7DBD9221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banana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70" name="Rectangle 20">
                  <a:extLst>
                    <a:ext uri="{FF2B5EF4-FFF2-40B4-BE49-F238E27FC236}">
                      <a16:creationId xmlns:a16="http://schemas.microsoft.com/office/drawing/2014/main" id="{997F0407-5CFD-5493-2ED2-0558C17276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0" name="Group 21">
                <a:extLst>
                  <a:ext uri="{FF2B5EF4-FFF2-40B4-BE49-F238E27FC236}">
                    <a16:creationId xmlns:a16="http://schemas.microsoft.com/office/drawing/2014/main" id="{3C57B5F0-B37D-62A3-7F63-3B2D2E46E1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0"/>
                <a:ext cx="776" cy="384"/>
                <a:chOff x="1552" y="0"/>
                <a:chExt cx="776" cy="384"/>
              </a:xfrm>
            </p:grpSpPr>
            <p:sp>
              <p:nvSpPr>
                <p:cNvPr id="45167" name="Rectangle 22">
                  <a:extLst>
                    <a:ext uri="{FF2B5EF4-FFF2-40B4-BE49-F238E27FC236}">
                      <a16:creationId xmlns:a16="http://schemas.microsoft.com/office/drawing/2014/main" id="{2FE71D7F-443E-F5C4-2471-33C0AFF531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coffee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68" name="Rectangle 23">
                  <a:extLst>
                    <a:ext uri="{FF2B5EF4-FFF2-40B4-BE49-F238E27FC236}">
                      <a16:creationId xmlns:a16="http://schemas.microsoft.com/office/drawing/2014/main" id="{FF5DDA7F-D1B8-98A6-11C4-C44CC043A0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1" name="Group 24">
                <a:extLst>
                  <a:ext uri="{FF2B5EF4-FFF2-40B4-BE49-F238E27FC236}">
                    <a16:creationId xmlns:a16="http://schemas.microsoft.com/office/drawing/2014/main" id="{AAD5762B-D181-A66D-A7D6-6386DE39E8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0"/>
                <a:ext cx="776" cy="384"/>
                <a:chOff x="2328" y="0"/>
                <a:chExt cx="776" cy="384"/>
              </a:xfrm>
            </p:grpSpPr>
            <p:sp>
              <p:nvSpPr>
                <p:cNvPr id="45165" name="Rectangle 25">
                  <a:extLst>
                    <a:ext uri="{FF2B5EF4-FFF2-40B4-BE49-F238E27FC236}">
                      <a16:creationId xmlns:a16="http://schemas.microsoft.com/office/drawing/2014/main" id="{105C1638-E3B1-A297-F3E2-A2D58E1EE7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milk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66" name="Rectangle 26">
                  <a:extLst>
                    <a:ext uri="{FF2B5EF4-FFF2-40B4-BE49-F238E27FC236}">
                      <a16:creationId xmlns:a16="http://schemas.microsoft.com/office/drawing/2014/main" id="{C3B0A0FE-B0CA-A001-39A5-930AE50A5A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2" name="Group 27">
                <a:extLst>
                  <a:ext uri="{FF2B5EF4-FFF2-40B4-BE49-F238E27FC236}">
                    <a16:creationId xmlns:a16="http://schemas.microsoft.com/office/drawing/2014/main" id="{5CEA774C-81F8-A4DA-0165-03944AB0D9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0"/>
                <a:ext cx="776" cy="384"/>
                <a:chOff x="3104" y="0"/>
                <a:chExt cx="776" cy="384"/>
              </a:xfrm>
            </p:grpSpPr>
            <p:sp>
              <p:nvSpPr>
                <p:cNvPr id="45163" name="Rectangle 28">
                  <a:extLst>
                    <a:ext uri="{FF2B5EF4-FFF2-40B4-BE49-F238E27FC236}">
                      <a16:creationId xmlns:a16="http://schemas.microsoft.com/office/drawing/2014/main" id="{162AEB7F-48D0-9925-4CF4-6D90DE0CF7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chicken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64" name="Rectangle 29">
                  <a:extLst>
                    <a:ext uri="{FF2B5EF4-FFF2-40B4-BE49-F238E27FC236}">
                      <a16:creationId xmlns:a16="http://schemas.microsoft.com/office/drawing/2014/main" id="{3E61C30A-F11E-65D5-AC0F-A0F6A7EB94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3" name="Group 30">
                <a:extLst>
                  <a:ext uri="{FF2B5EF4-FFF2-40B4-BE49-F238E27FC236}">
                    <a16:creationId xmlns:a16="http://schemas.microsoft.com/office/drawing/2014/main" id="{33BCC22A-20A3-39B3-5708-A0E859DDCB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84"/>
                <a:ext cx="776" cy="384"/>
                <a:chOff x="0" y="384"/>
                <a:chExt cx="776" cy="384"/>
              </a:xfrm>
            </p:grpSpPr>
            <p:sp>
              <p:nvSpPr>
                <p:cNvPr id="45161" name="Rectangle 31">
                  <a:extLst>
                    <a:ext uri="{FF2B5EF4-FFF2-40B4-BE49-F238E27FC236}">
                      <a16:creationId xmlns:a16="http://schemas.microsoft.com/office/drawing/2014/main" id="{0DD491C1-51E2-DDC6-C5B8-E73ADC10FF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a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62" name="Rectangle 32">
                  <a:extLst>
                    <a:ext uri="{FF2B5EF4-FFF2-40B4-BE49-F238E27FC236}">
                      <a16:creationId xmlns:a16="http://schemas.microsoft.com/office/drawing/2014/main" id="{8ED18509-3B73-32FF-8E0F-651B78C9C0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4" name="Group 33">
                <a:extLst>
                  <a:ext uri="{FF2B5EF4-FFF2-40B4-BE49-F238E27FC236}">
                    <a16:creationId xmlns:a16="http://schemas.microsoft.com/office/drawing/2014/main" id="{BD2C579C-2AA8-903A-7FB8-DBE9F7A3DF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384"/>
                <a:ext cx="776" cy="384"/>
                <a:chOff x="776" y="384"/>
                <a:chExt cx="776" cy="384"/>
              </a:xfrm>
            </p:grpSpPr>
            <p:sp>
              <p:nvSpPr>
                <p:cNvPr id="45159" name="Rectangle 34">
                  <a:extLst>
                    <a:ext uri="{FF2B5EF4-FFF2-40B4-BE49-F238E27FC236}">
                      <a16:creationId xmlns:a16="http://schemas.microsoft.com/office/drawing/2014/main" id="{E7CB6C6E-3218-3465-1D69-CF70196864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60" name="Rectangle 35">
                  <a:extLst>
                    <a:ext uri="{FF2B5EF4-FFF2-40B4-BE49-F238E27FC236}">
                      <a16:creationId xmlns:a16="http://schemas.microsoft.com/office/drawing/2014/main" id="{D28ACDDD-F91D-AFCA-117E-5ED01E554F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5" name="Group 36">
                <a:extLst>
                  <a:ext uri="{FF2B5EF4-FFF2-40B4-BE49-F238E27FC236}">
                    <a16:creationId xmlns:a16="http://schemas.microsoft.com/office/drawing/2014/main" id="{C267519B-2149-5545-A75C-726223B281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384"/>
                <a:ext cx="776" cy="384"/>
                <a:chOff x="1552" y="384"/>
                <a:chExt cx="776" cy="384"/>
              </a:xfrm>
            </p:grpSpPr>
            <p:sp>
              <p:nvSpPr>
                <p:cNvPr id="45157" name="Rectangle 37">
                  <a:extLst>
                    <a:ext uri="{FF2B5EF4-FFF2-40B4-BE49-F238E27FC236}">
                      <a16:creationId xmlns:a16="http://schemas.microsoft.com/office/drawing/2014/main" id="{EC73BBCE-1647-E97F-0625-CC00F8C376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58" name="Rectangle 38">
                  <a:extLst>
                    <a:ext uri="{FF2B5EF4-FFF2-40B4-BE49-F238E27FC236}">
                      <a16:creationId xmlns:a16="http://schemas.microsoft.com/office/drawing/2014/main" id="{9E990076-501C-24CC-FE6F-944E3BFA35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6" name="Group 39">
                <a:extLst>
                  <a:ext uri="{FF2B5EF4-FFF2-40B4-BE49-F238E27FC236}">
                    <a16:creationId xmlns:a16="http://schemas.microsoft.com/office/drawing/2014/main" id="{EE0CDBC0-AC43-43ED-0B8D-DB19732857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384"/>
                <a:ext cx="776" cy="384"/>
                <a:chOff x="2328" y="384"/>
                <a:chExt cx="776" cy="384"/>
              </a:xfrm>
            </p:grpSpPr>
            <p:sp>
              <p:nvSpPr>
                <p:cNvPr id="45155" name="Rectangle 40">
                  <a:extLst>
                    <a:ext uri="{FF2B5EF4-FFF2-40B4-BE49-F238E27FC236}">
                      <a16:creationId xmlns:a16="http://schemas.microsoft.com/office/drawing/2014/main" id="{052151EC-94BD-A945-0FD6-81574DF9B3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56" name="Rectangle 41">
                  <a:extLst>
                    <a:ext uri="{FF2B5EF4-FFF2-40B4-BE49-F238E27FC236}">
                      <a16:creationId xmlns:a16="http://schemas.microsoft.com/office/drawing/2014/main" id="{16D77F73-6ADD-57A8-6503-F619C3522D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7" name="Group 42">
                <a:extLst>
                  <a:ext uri="{FF2B5EF4-FFF2-40B4-BE49-F238E27FC236}">
                    <a16:creationId xmlns:a16="http://schemas.microsoft.com/office/drawing/2014/main" id="{CD1D7FE4-2E82-3875-CABD-E9716CA33D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384"/>
                <a:ext cx="776" cy="384"/>
                <a:chOff x="3104" y="384"/>
                <a:chExt cx="776" cy="384"/>
              </a:xfrm>
            </p:grpSpPr>
            <p:sp>
              <p:nvSpPr>
                <p:cNvPr id="45153" name="Rectangle 43">
                  <a:extLst>
                    <a:ext uri="{FF2B5EF4-FFF2-40B4-BE49-F238E27FC236}">
                      <a16:creationId xmlns:a16="http://schemas.microsoft.com/office/drawing/2014/main" id="{E55F9C80-F4D7-E733-0B4E-93BBAF3980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54" name="Rectangle 44">
                  <a:extLst>
                    <a:ext uri="{FF2B5EF4-FFF2-40B4-BE49-F238E27FC236}">
                      <a16:creationId xmlns:a16="http://schemas.microsoft.com/office/drawing/2014/main" id="{19237B43-0B38-6E0B-936D-EF7E10F940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8" name="Group 45">
                <a:extLst>
                  <a:ext uri="{FF2B5EF4-FFF2-40B4-BE49-F238E27FC236}">
                    <a16:creationId xmlns:a16="http://schemas.microsoft.com/office/drawing/2014/main" id="{C87DE77A-3257-EBB8-CF85-EE5E3BB1F6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68"/>
                <a:ext cx="776" cy="384"/>
                <a:chOff x="0" y="768"/>
                <a:chExt cx="776" cy="384"/>
              </a:xfrm>
            </p:grpSpPr>
            <p:sp>
              <p:nvSpPr>
                <p:cNvPr id="45151" name="Rectangle 46">
                  <a:extLst>
                    <a:ext uri="{FF2B5EF4-FFF2-40B4-BE49-F238E27FC236}">
                      <a16:creationId xmlns:a16="http://schemas.microsoft.com/office/drawing/2014/main" id="{C22F97FD-5071-6646-09E5-99F7E6A338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b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52" name="Rectangle 47">
                  <a:extLst>
                    <a:ext uri="{FF2B5EF4-FFF2-40B4-BE49-F238E27FC236}">
                      <a16:creationId xmlns:a16="http://schemas.microsoft.com/office/drawing/2014/main" id="{43AC3110-580A-2166-58C4-AAB74B326D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9" name="Group 48">
                <a:extLst>
                  <a:ext uri="{FF2B5EF4-FFF2-40B4-BE49-F238E27FC236}">
                    <a16:creationId xmlns:a16="http://schemas.microsoft.com/office/drawing/2014/main" id="{48341F10-4594-A769-FC60-47A1036309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768"/>
                <a:ext cx="776" cy="384"/>
                <a:chOff x="776" y="768"/>
                <a:chExt cx="776" cy="384"/>
              </a:xfrm>
            </p:grpSpPr>
            <p:sp>
              <p:nvSpPr>
                <p:cNvPr id="45149" name="Rectangle 49">
                  <a:extLst>
                    <a:ext uri="{FF2B5EF4-FFF2-40B4-BE49-F238E27FC236}">
                      <a16:creationId xmlns:a16="http://schemas.microsoft.com/office/drawing/2014/main" id="{7A2D3C2D-D324-0293-2DC5-9359C0A630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50" name="Rectangle 50">
                  <a:extLst>
                    <a:ext uri="{FF2B5EF4-FFF2-40B4-BE49-F238E27FC236}">
                      <a16:creationId xmlns:a16="http://schemas.microsoft.com/office/drawing/2014/main" id="{2B310CC4-FB47-3B54-BDA0-72EAC3CB70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0" name="Group 51">
                <a:extLst>
                  <a:ext uri="{FF2B5EF4-FFF2-40B4-BE49-F238E27FC236}">
                    <a16:creationId xmlns:a16="http://schemas.microsoft.com/office/drawing/2014/main" id="{DB0A0D23-8698-F905-07E2-8CC224080C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768"/>
                <a:ext cx="776" cy="384"/>
                <a:chOff x="1552" y="768"/>
                <a:chExt cx="776" cy="384"/>
              </a:xfrm>
            </p:grpSpPr>
            <p:sp>
              <p:nvSpPr>
                <p:cNvPr id="45147" name="Rectangle 52">
                  <a:extLst>
                    <a:ext uri="{FF2B5EF4-FFF2-40B4-BE49-F238E27FC236}">
                      <a16:creationId xmlns:a16="http://schemas.microsoft.com/office/drawing/2014/main" id="{2558241A-3C50-5A48-D3CF-45D7F8FDB7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48" name="Rectangle 53">
                  <a:extLst>
                    <a:ext uri="{FF2B5EF4-FFF2-40B4-BE49-F238E27FC236}">
                      <a16:creationId xmlns:a16="http://schemas.microsoft.com/office/drawing/2014/main" id="{A93D9A13-AE07-E92F-8558-ED9E50A5DF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1" name="Group 54">
                <a:extLst>
                  <a:ext uri="{FF2B5EF4-FFF2-40B4-BE49-F238E27FC236}">
                    <a16:creationId xmlns:a16="http://schemas.microsoft.com/office/drawing/2014/main" id="{31CDDEA9-D874-0C10-EAC1-96F2549670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768"/>
                <a:ext cx="776" cy="384"/>
                <a:chOff x="2328" y="768"/>
                <a:chExt cx="776" cy="384"/>
              </a:xfrm>
            </p:grpSpPr>
            <p:sp>
              <p:nvSpPr>
                <p:cNvPr id="45145" name="Rectangle 55">
                  <a:extLst>
                    <a:ext uri="{FF2B5EF4-FFF2-40B4-BE49-F238E27FC236}">
                      <a16:creationId xmlns:a16="http://schemas.microsoft.com/office/drawing/2014/main" id="{DD626101-8E65-A73D-594B-40C6847458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46" name="Rectangle 56">
                  <a:extLst>
                    <a:ext uri="{FF2B5EF4-FFF2-40B4-BE49-F238E27FC236}">
                      <a16:creationId xmlns:a16="http://schemas.microsoft.com/office/drawing/2014/main" id="{5C7964BE-F749-FE5E-5344-ED80DDF3A5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2" name="Group 57">
                <a:extLst>
                  <a:ext uri="{FF2B5EF4-FFF2-40B4-BE49-F238E27FC236}">
                    <a16:creationId xmlns:a16="http://schemas.microsoft.com/office/drawing/2014/main" id="{15E52527-AFC2-CF85-5C61-8E837C09DD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768"/>
                <a:ext cx="776" cy="384"/>
                <a:chOff x="3104" y="768"/>
                <a:chExt cx="776" cy="384"/>
              </a:xfrm>
            </p:grpSpPr>
            <p:sp>
              <p:nvSpPr>
                <p:cNvPr id="45143" name="Rectangle 58">
                  <a:extLst>
                    <a:ext uri="{FF2B5EF4-FFF2-40B4-BE49-F238E27FC236}">
                      <a16:creationId xmlns:a16="http://schemas.microsoft.com/office/drawing/2014/main" id="{611A68E7-C8D3-C486-5939-F4D28FF773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44" name="Rectangle 59">
                  <a:extLst>
                    <a:ext uri="{FF2B5EF4-FFF2-40B4-BE49-F238E27FC236}">
                      <a16:creationId xmlns:a16="http://schemas.microsoft.com/office/drawing/2014/main" id="{C2FBDB88-C255-F6F7-E64E-2BFDFD6067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3" name="Group 60">
                <a:extLst>
                  <a:ext uri="{FF2B5EF4-FFF2-40B4-BE49-F238E27FC236}">
                    <a16:creationId xmlns:a16="http://schemas.microsoft.com/office/drawing/2014/main" id="{37105B9F-9BFE-EB27-AC7A-1999929A83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52"/>
                <a:ext cx="776" cy="384"/>
                <a:chOff x="0" y="1152"/>
                <a:chExt cx="776" cy="384"/>
              </a:xfrm>
            </p:grpSpPr>
            <p:sp>
              <p:nvSpPr>
                <p:cNvPr id="45141" name="Rectangle 61">
                  <a:extLst>
                    <a:ext uri="{FF2B5EF4-FFF2-40B4-BE49-F238E27FC236}">
                      <a16:creationId xmlns:a16="http://schemas.microsoft.com/office/drawing/2014/main" id="{DEF12D34-9A42-71F5-EDDD-4C192165B6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c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42" name="Rectangle 62">
                  <a:extLst>
                    <a:ext uri="{FF2B5EF4-FFF2-40B4-BE49-F238E27FC236}">
                      <a16:creationId xmlns:a16="http://schemas.microsoft.com/office/drawing/2014/main" id="{547CB238-20C1-FE33-D932-14EA024A1E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4" name="Group 63">
                <a:extLst>
                  <a:ext uri="{FF2B5EF4-FFF2-40B4-BE49-F238E27FC236}">
                    <a16:creationId xmlns:a16="http://schemas.microsoft.com/office/drawing/2014/main" id="{06FE64F1-2D05-1178-7498-696A1242F6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1152"/>
                <a:ext cx="776" cy="384"/>
                <a:chOff x="776" y="1152"/>
                <a:chExt cx="776" cy="384"/>
              </a:xfrm>
            </p:grpSpPr>
            <p:sp>
              <p:nvSpPr>
                <p:cNvPr id="45139" name="Rectangle 64">
                  <a:extLst>
                    <a:ext uri="{FF2B5EF4-FFF2-40B4-BE49-F238E27FC236}">
                      <a16:creationId xmlns:a16="http://schemas.microsoft.com/office/drawing/2014/main" id="{32046BA6-9F1B-53AA-A578-496FB6DB96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40" name="Rectangle 65">
                  <a:extLst>
                    <a:ext uri="{FF2B5EF4-FFF2-40B4-BE49-F238E27FC236}">
                      <a16:creationId xmlns:a16="http://schemas.microsoft.com/office/drawing/2014/main" id="{95410C8A-858D-F6AB-1C04-F55C01F0A3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5" name="Group 66">
                <a:extLst>
                  <a:ext uri="{FF2B5EF4-FFF2-40B4-BE49-F238E27FC236}">
                    <a16:creationId xmlns:a16="http://schemas.microsoft.com/office/drawing/2014/main" id="{1C7726C5-4982-94A8-8ED7-CC3E4A37D9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1152"/>
                <a:ext cx="776" cy="384"/>
                <a:chOff x="1552" y="1152"/>
                <a:chExt cx="776" cy="384"/>
              </a:xfrm>
            </p:grpSpPr>
            <p:sp>
              <p:nvSpPr>
                <p:cNvPr id="45137" name="Rectangle 67">
                  <a:extLst>
                    <a:ext uri="{FF2B5EF4-FFF2-40B4-BE49-F238E27FC236}">
                      <a16:creationId xmlns:a16="http://schemas.microsoft.com/office/drawing/2014/main" id="{F240EE09-41F7-2CD5-CBA0-9C52C19017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38" name="Rectangle 68">
                  <a:extLst>
                    <a:ext uri="{FF2B5EF4-FFF2-40B4-BE49-F238E27FC236}">
                      <a16:creationId xmlns:a16="http://schemas.microsoft.com/office/drawing/2014/main" id="{9F1627A3-53A0-853F-9179-1D139BD3CF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6" name="Group 69">
                <a:extLst>
                  <a:ext uri="{FF2B5EF4-FFF2-40B4-BE49-F238E27FC236}">
                    <a16:creationId xmlns:a16="http://schemas.microsoft.com/office/drawing/2014/main" id="{101EC0E8-14B9-92BF-3F87-62DA83829B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1152"/>
                <a:ext cx="776" cy="384"/>
                <a:chOff x="2328" y="1152"/>
                <a:chExt cx="776" cy="384"/>
              </a:xfrm>
            </p:grpSpPr>
            <p:sp>
              <p:nvSpPr>
                <p:cNvPr id="45135" name="Rectangle 70">
                  <a:extLst>
                    <a:ext uri="{FF2B5EF4-FFF2-40B4-BE49-F238E27FC236}">
                      <a16:creationId xmlns:a16="http://schemas.microsoft.com/office/drawing/2014/main" id="{A65AE35E-BC6C-1637-E5D6-9375044EE7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36" name="Rectangle 71">
                  <a:extLst>
                    <a:ext uri="{FF2B5EF4-FFF2-40B4-BE49-F238E27FC236}">
                      <a16:creationId xmlns:a16="http://schemas.microsoft.com/office/drawing/2014/main" id="{E8DF0B50-57C5-7BB3-A025-B883BBF1AD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7" name="Group 72">
                <a:extLst>
                  <a:ext uri="{FF2B5EF4-FFF2-40B4-BE49-F238E27FC236}">
                    <a16:creationId xmlns:a16="http://schemas.microsoft.com/office/drawing/2014/main" id="{D2C6AE76-C46B-B3B9-DC8E-A715286723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1152"/>
                <a:ext cx="776" cy="384"/>
                <a:chOff x="3104" y="1152"/>
                <a:chExt cx="776" cy="384"/>
              </a:xfrm>
            </p:grpSpPr>
            <p:sp>
              <p:nvSpPr>
                <p:cNvPr id="45133" name="Rectangle 73">
                  <a:extLst>
                    <a:ext uri="{FF2B5EF4-FFF2-40B4-BE49-F238E27FC236}">
                      <a16:creationId xmlns:a16="http://schemas.microsoft.com/office/drawing/2014/main" id="{94D1EA04-7886-5448-035B-139C31CB63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34" name="Rectangle 74">
                  <a:extLst>
                    <a:ext uri="{FF2B5EF4-FFF2-40B4-BE49-F238E27FC236}">
                      <a16:creationId xmlns:a16="http://schemas.microsoft.com/office/drawing/2014/main" id="{AEB578DA-8C21-D30F-778C-4CDB6DE9EC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8" name="Group 75">
                <a:extLst>
                  <a:ext uri="{FF2B5EF4-FFF2-40B4-BE49-F238E27FC236}">
                    <a16:creationId xmlns:a16="http://schemas.microsoft.com/office/drawing/2014/main" id="{4F0C5183-5965-104D-E62C-434F261E38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536"/>
                <a:ext cx="776" cy="384"/>
                <a:chOff x="0" y="1536"/>
                <a:chExt cx="776" cy="384"/>
              </a:xfrm>
            </p:grpSpPr>
            <p:sp>
              <p:nvSpPr>
                <p:cNvPr id="45131" name="Rectangle 76">
                  <a:extLst>
                    <a:ext uri="{FF2B5EF4-FFF2-40B4-BE49-F238E27FC236}">
                      <a16:creationId xmlns:a16="http://schemas.microsoft.com/office/drawing/2014/main" id="{7F37205E-B2F3-B0BA-243B-E7F40C91CF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d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32" name="Rectangle 77">
                  <a:extLst>
                    <a:ext uri="{FF2B5EF4-FFF2-40B4-BE49-F238E27FC236}">
                      <a16:creationId xmlns:a16="http://schemas.microsoft.com/office/drawing/2014/main" id="{1D314856-B974-D200-287D-3D70969B83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9" name="Group 78">
                <a:extLst>
                  <a:ext uri="{FF2B5EF4-FFF2-40B4-BE49-F238E27FC236}">
                    <a16:creationId xmlns:a16="http://schemas.microsoft.com/office/drawing/2014/main" id="{615F6926-26C1-133B-C687-5E06342BC6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1536"/>
                <a:ext cx="776" cy="384"/>
                <a:chOff x="776" y="1536"/>
                <a:chExt cx="776" cy="384"/>
              </a:xfrm>
            </p:grpSpPr>
            <p:sp>
              <p:nvSpPr>
                <p:cNvPr id="45129" name="Rectangle 79">
                  <a:extLst>
                    <a:ext uri="{FF2B5EF4-FFF2-40B4-BE49-F238E27FC236}">
                      <a16:creationId xmlns:a16="http://schemas.microsoft.com/office/drawing/2014/main" id="{74CC7169-F83C-3C0E-DDA0-455BB1AAC4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30" name="Rectangle 80">
                  <a:extLst>
                    <a:ext uri="{FF2B5EF4-FFF2-40B4-BE49-F238E27FC236}">
                      <a16:creationId xmlns:a16="http://schemas.microsoft.com/office/drawing/2014/main" id="{76DFC5E0-C53E-BF2C-D3F3-4E06630FC6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0" name="Group 81">
                <a:extLst>
                  <a:ext uri="{FF2B5EF4-FFF2-40B4-BE49-F238E27FC236}">
                    <a16:creationId xmlns:a16="http://schemas.microsoft.com/office/drawing/2014/main" id="{D1B159FC-106D-5D31-63FD-9890FD7F0C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1536"/>
                <a:ext cx="776" cy="384"/>
                <a:chOff x="1552" y="1536"/>
                <a:chExt cx="776" cy="384"/>
              </a:xfrm>
            </p:grpSpPr>
            <p:sp>
              <p:nvSpPr>
                <p:cNvPr id="45127" name="Rectangle 82">
                  <a:extLst>
                    <a:ext uri="{FF2B5EF4-FFF2-40B4-BE49-F238E27FC236}">
                      <a16:creationId xmlns:a16="http://schemas.microsoft.com/office/drawing/2014/main" id="{8B9AD9B2-A4D6-14CE-3885-80840D7ACF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28" name="Rectangle 83">
                  <a:extLst>
                    <a:ext uri="{FF2B5EF4-FFF2-40B4-BE49-F238E27FC236}">
                      <a16:creationId xmlns:a16="http://schemas.microsoft.com/office/drawing/2014/main" id="{F4F803BF-E029-0D07-1D41-F6C369DECC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1" name="Group 84">
                <a:extLst>
                  <a:ext uri="{FF2B5EF4-FFF2-40B4-BE49-F238E27FC236}">
                    <a16:creationId xmlns:a16="http://schemas.microsoft.com/office/drawing/2014/main" id="{0852263A-9248-BD0C-F46D-F48AF12172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1536"/>
                <a:ext cx="776" cy="384"/>
                <a:chOff x="2328" y="1536"/>
                <a:chExt cx="776" cy="384"/>
              </a:xfrm>
            </p:grpSpPr>
            <p:sp>
              <p:nvSpPr>
                <p:cNvPr id="45125" name="Rectangle 85">
                  <a:extLst>
                    <a:ext uri="{FF2B5EF4-FFF2-40B4-BE49-F238E27FC236}">
                      <a16:creationId xmlns:a16="http://schemas.microsoft.com/office/drawing/2014/main" id="{2E3F57B6-7B39-FD03-2146-9C5512072B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26" name="Rectangle 86">
                  <a:extLst>
                    <a:ext uri="{FF2B5EF4-FFF2-40B4-BE49-F238E27FC236}">
                      <a16:creationId xmlns:a16="http://schemas.microsoft.com/office/drawing/2014/main" id="{C0503284-CB88-ECDB-DDF5-2CBDC813CD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2" name="Group 87">
                <a:extLst>
                  <a:ext uri="{FF2B5EF4-FFF2-40B4-BE49-F238E27FC236}">
                    <a16:creationId xmlns:a16="http://schemas.microsoft.com/office/drawing/2014/main" id="{ED3EFE04-D8FD-2EE6-680B-BB7E77D7A3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1536"/>
                <a:ext cx="776" cy="384"/>
                <a:chOff x="3104" y="1536"/>
                <a:chExt cx="776" cy="384"/>
              </a:xfrm>
            </p:grpSpPr>
            <p:sp>
              <p:nvSpPr>
                <p:cNvPr id="45123" name="Rectangle 88">
                  <a:extLst>
                    <a:ext uri="{FF2B5EF4-FFF2-40B4-BE49-F238E27FC236}">
                      <a16:creationId xmlns:a16="http://schemas.microsoft.com/office/drawing/2014/main" id="{7DE803A8-8CC6-E67B-1DBF-E289040A36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24" name="Rectangle 89">
                  <a:extLst>
                    <a:ext uri="{FF2B5EF4-FFF2-40B4-BE49-F238E27FC236}">
                      <a16:creationId xmlns:a16="http://schemas.microsoft.com/office/drawing/2014/main" id="{14FECBC0-148F-4340-DF3F-D403E8932A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3" name="Group 90">
                <a:extLst>
                  <a:ext uri="{FF2B5EF4-FFF2-40B4-BE49-F238E27FC236}">
                    <a16:creationId xmlns:a16="http://schemas.microsoft.com/office/drawing/2014/main" id="{6F6B7BFE-529E-B40D-64BE-7D255F014B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0"/>
                <a:ext cx="776" cy="384"/>
                <a:chOff x="0" y="1920"/>
                <a:chExt cx="776" cy="384"/>
              </a:xfrm>
            </p:grpSpPr>
            <p:sp>
              <p:nvSpPr>
                <p:cNvPr id="45121" name="Rectangle 91">
                  <a:extLst>
                    <a:ext uri="{FF2B5EF4-FFF2-40B4-BE49-F238E27FC236}">
                      <a16:creationId xmlns:a16="http://schemas.microsoft.com/office/drawing/2014/main" id="{0F4F0E0B-474A-CFEC-88E9-4DE2955810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e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22" name="Rectangle 92">
                  <a:extLst>
                    <a:ext uri="{FF2B5EF4-FFF2-40B4-BE49-F238E27FC236}">
                      <a16:creationId xmlns:a16="http://schemas.microsoft.com/office/drawing/2014/main" id="{118F3000-59C9-1981-4261-AA5FE00AFD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4" name="Group 93">
                <a:extLst>
                  <a:ext uri="{FF2B5EF4-FFF2-40B4-BE49-F238E27FC236}">
                    <a16:creationId xmlns:a16="http://schemas.microsoft.com/office/drawing/2014/main" id="{945A459C-FDB9-C410-EBD4-56017751D2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1920"/>
                <a:ext cx="776" cy="384"/>
                <a:chOff x="776" y="1920"/>
                <a:chExt cx="776" cy="384"/>
              </a:xfrm>
            </p:grpSpPr>
            <p:sp>
              <p:nvSpPr>
                <p:cNvPr id="45119" name="Rectangle 94">
                  <a:extLst>
                    <a:ext uri="{FF2B5EF4-FFF2-40B4-BE49-F238E27FC236}">
                      <a16:creationId xmlns:a16="http://schemas.microsoft.com/office/drawing/2014/main" id="{0002BC7F-65BE-ABB3-64EC-D01B098812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20" name="Rectangle 95">
                  <a:extLst>
                    <a:ext uri="{FF2B5EF4-FFF2-40B4-BE49-F238E27FC236}">
                      <a16:creationId xmlns:a16="http://schemas.microsoft.com/office/drawing/2014/main" id="{628F1413-A3C1-CD61-485E-88BCDC77A9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5" name="Group 96">
                <a:extLst>
                  <a:ext uri="{FF2B5EF4-FFF2-40B4-BE49-F238E27FC236}">
                    <a16:creationId xmlns:a16="http://schemas.microsoft.com/office/drawing/2014/main" id="{8A19E22C-AF7E-E115-0413-2CF374796D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1920"/>
                <a:ext cx="776" cy="384"/>
                <a:chOff x="1552" y="1920"/>
                <a:chExt cx="776" cy="384"/>
              </a:xfrm>
            </p:grpSpPr>
            <p:sp>
              <p:nvSpPr>
                <p:cNvPr id="45117" name="Rectangle 97">
                  <a:extLst>
                    <a:ext uri="{FF2B5EF4-FFF2-40B4-BE49-F238E27FC236}">
                      <a16:creationId xmlns:a16="http://schemas.microsoft.com/office/drawing/2014/main" id="{86EEBFEB-B6CD-EF8C-19D4-2A3FC3F198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18" name="Rectangle 98">
                  <a:extLst>
                    <a:ext uri="{FF2B5EF4-FFF2-40B4-BE49-F238E27FC236}">
                      <a16:creationId xmlns:a16="http://schemas.microsoft.com/office/drawing/2014/main" id="{56FB31D1-5641-D4A1-6F4F-899567C492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6" name="Group 99">
                <a:extLst>
                  <a:ext uri="{FF2B5EF4-FFF2-40B4-BE49-F238E27FC236}">
                    <a16:creationId xmlns:a16="http://schemas.microsoft.com/office/drawing/2014/main" id="{DA5961C7-D135-7F9F-FDA9-82E6EAA330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1920"/>
                <a:ext cx="776" cy="384"/>
                <a:chOff x="2328" y="1920"/>
                <a:chExt cx="776" cy="384"/>
              </a:xfrm>
            </p:grpSpPr>
            <p:sp>
              <p:nvSpPr>
                <p:cNvPr id="45115" name="Rectangle 100">
                  <a:extLst>
                    <a:ext uri="{FF2B5EF4-FFF2-40B4-BE49-F238E27FC236}">
                      <a16:creationId xmlns:a16="http://schemas.microsoft.com/office/drawing/2014/main" id="{1824D84C-A139-AC70-4FC4-86B8CD4AE4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16" name="Rectangle 101">
                  <a:extLst>
                    <a:ext uri="{FF2B5EF4-FFF2-40B4-BE49-F238E27FC236}">
                      <a16:creationId xmlns:a16="http://schemas.microsoft.com/office/drawing/2014/main" id="{8CC15469-07AD-AB9E-4A9A-503A4ABA91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7" name="Group 102">
                <a:extLst>
                  <a:ext uri="{FF2B5EF4-FFF2-40B4-BE49-F238E27FC236}">
                    <a16:creationId xmlns:a16="http://schemas.microsoft.com/office/drawing/2014/main" id="{88522A49-C903-73A7-9C8B-F4E3788B57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1920"/>
                <a:ext cx="776" cy="384"/>
                <a:chOff x="3104" y="1920"/>
                <a:chExt cx="776" cy="384"/>
              </a:xfrm>
            </p:grpSpPr>
            <p:sp>
              <p:nvSpPr>
                <p:cNvPr id="45113" name="Rectangle 103">
                  <a:extLst>
                    <a:ext uri="{FF2B5EF4-FFF2-40B4-BE49-F238E27FC236}">
                      <a16:creationId xmlns:a16="http://schemas.microsoft.com/office/drawing/2014/main" id="{88333615-423E-8A45-65DE-E730B72A78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14" name="Rectangle 104">
                  <a:extLst>
                    <a:ext uri="{FF2B5EF4-FFF2-40B4-BE49-F238E27FC236}">
                      <a16:creationId xmlns:a16="http://schemas.microsoft.com/office/drawing/2014/main" id="{C03C5F73-273B-8442-8E2A-03D55972FD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8" name="Group 105">
                <a:extLst>
                  <a:ext uri="{FF2B5EF4-FFF2-40B4-BE49-F238E27FC236}">
                    <a16:creationId xmlns:a16="http://schemas.microsoft.com/office/drawing/2014/main" id="{8A4CC043-69F4-5288-B974-7DBA11D086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304"/>
                <a:ext cx="776" cy="384"/>
                <a:chOff x="0" y="2304"/>
                <a:chExt cx="776" cy="384"/>
              </a:xfrm>
            </p:grpSpPr>
            <p:sp>
              <p:nvSpPr>
                <p:cNvPr id="45111" name="Rectangle 106">
                  <a:extLst>
                    <a:ext uri="{FF2B5EF4-FFF2-40B4-BE49-F238E27FC236}">
                      <a16:creationId xmlns:a16="http://schemas.microsoft.com/office/drawing/2014/main" id="{D5AD965A-0C9B-A89D-38C6-DEC4552FB6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f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12" name="Rectangle 107">
                  <a:extLst>
                    <a:ext uri="{FF2B5EF4-FFF2-40B4-BE49-F238E27FC236}">
                      <a16:creationId xmlns:a16="http://schemas.microsoft.com/office/drawing/2014/main" id="{15BFD8F8-ECB3-9B84-DAE1-71D0888131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9" name="Group 108">
                <a:extLst>
                  <a:ext uri="{FF2B5EF4-FFF2-40B4-BE49-F238E27FC236}">
                    <a16:creationId xmlns:a16="http://schemas.microsoft.com/office/drawing/2014/main" id="{F23F565E-6DC7-B3F7-F3C0-C5A337CD69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2304"/>
                <a:ext cx="776" cy="384"/>
                <a:chOff x="776" y="2304"/>
                <a:chExt cx="776" cy="384"/>
              </a:xfrm>
            </p:grpSpPr>
            <p:sp>
              <p:nvSpPr>
                <p:cNvPr id="45109" name="Rectangle 109">
                  <a:extLst>
                    <a:ext uri="{FF2B5EF4-FFF2-40B4-BE49-F238E27FC236}">
                      <a16:creationId xmlns:a16="http://schemas.microsoft.com/office/drawing/2014/main" id="{D5F10F61-17E4-CF13-C078-A2DC166056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10" name="Rectangle 110">
                  <a:extLst>
                    <a:ext uri="{FF2B5EF4-FFF2-40B4-BE49-F238E27FC236}">
                      <a16:creationId xmlns:a16="http://schemas.microsoft.com/office/drawing/2014/main" id="{E70AE297-6462-3A16-5FE5-B86B6A0E46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100" name="Group 111">
                <a:extLst>
                  <a:ext uri="{FF2B5EF4-FFF2-40B4-BE49-F238E27FC236}">
                    <a16:creationId xmlns:a16="http://schemas.microsoft.com/office/drawing/2014/main" id="{7B8C6804-624D-08FC-2B2D-2CA9D3215F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2304"/>
                <a:ext cx="776" cy="384"/>
                <a:chOff x="1552" y="2304"/>
                <a:chExt cx="776" cy="384"/>
              </a:xfrm>
            </p:grpSpPr>
            <p:sp>
              <p:nvSpPr>
                <p:cNvPr id="45107" name="Rectangle 112">
                  <a:extLst>
                    <a:ext uri="{FF2B5EF4-FFF2-40B4-BE49-F238E27FC236}">
                      <a16:creationId xmlns:a16="http://schemas.microsoft.com/office/drawing/2014/main" id="{C345A891-9AA3-0E13-01B6-E3BC7F8BD2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08" name="Rectangle 113">
                  <a:extLst>
                    <a:ext uri="{FF2B5EF4-FFF2-40B4-BE49-F238E27FC236}">
                      <a16:creationId xmlns:a16="http://schemas.microsoft.com/office/drawing/2014/main" id="{68A8CC49-EA44-C00B-DEC0-C005428019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101" name="Group 114">
                <a:extLst>
                  <a:ext uri="{FF2B5EF4-FFF2-40B4-BE49-F238E27FC236}">
                    <a16:creationId xmlns:a16="http://schemas.microsoft.com/office/drawing/2014/main" id="{A8A2FA93-5656-8989-0232-FE6065FF11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2304"/>
                <a:ext cx="776" cy="384"/>
                <a:chOff x="2328" y="2304"/>
                <a:chExt cx="776" cy="384"/>
              </a:xfrm>
            </p:grpSpPr>
            <p:sp>
              <p:nvSpPr>
                <p:cNvPr id="45105" name="Rectangle 115">
                  <a:extLst>
                    <a:ext uri="{FF2B5EF4-FFF2-40B4-BE49-F238E27FC236}">
                      <a16:creationId xmlns:a16="http://schemas.microsoft.com/office/drawing/2014/main" id="{0AA098FC-C4AB-877C-B228-6685EE2091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06" name="Rectangle 116">
                  <a:extLst>
                    <a:ext uri="{FF2B5EF4-FFF2-40B4-BE49-F238E27FC236}">
                      <a16:creationId xmlns:a16="http://schemas.microsoft.com/office/drawing/2014/main" id="{11F00650-80AB-20DC-4109-D55169B445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102" name="Group 117">
                <a:extLst>
                  <a:ext uri="{FF2B5EF4-FFF2-40B4-BE49-F238E27FC236}">
                    <a16:creationId xmlns:a16="http://schemas.microsoft.com/office/drawing/2014/main" id="{349BF78B-1FBF-7CAD-E0D2-3F3DFFBD3F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2304"/>
                <a:ext cx="776" cy="384"/>
                <a:chOff x="3104" y="2304"/>
                <a:chExt cx="776" cy="384"/>
              </a:xfrm>
            </p:grpSpPr>
            <p:sp>
              <p:nvSpPr>
                <p:cNvPr id="45103" name="Rectangle 118">
                  <a:extLst>
                    <a:ext uri="{FF2B5EF4-FFF2-40B4-BE49-F238E27FC236}">
                      <a16:creationId xmlns:a16="http://schemas.microsoft.com/office/drawing/2014/main" id="{5D0CDD0D-3374-101C-4014-2E9CE950D1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04" name="Rectangle 119">
                  <a:extLst>
                    <a:ext uri="{FF2B5EF4-FFF2-40B4-BE49-F238E27FC236}">
                      <a16:creationId xmlns:a16="http://schemas.microsoft.com/office/drawing/2014/main" id="{B5EDBC35-C502-90C0-18B6-BA625F385D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5067" name="Rectangle 120">
              <a:extLst>
                <a:ext uri="{FF2B5EF4-FFF2-40B4-BE49-F238E27FC236}">
                  <a16:creationId xmlns:a16="http://schemas.microsoft.com/office/drawing/2014/main" id="{40554BA0-9D56-0BAF-EBC3-533D2963C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3886" cy="2694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240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873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E2FD6EDE-F2C8-19AB-5EC1-D913D85BF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091363" cy="815975"/>
          </a:xfrm>
        </p:spPr>
        <p:txBody>
          <a:bodyPr lIns="0" tIns="0" rIns="0" bIns="0"/>
          <a:lstStyle/>
          <a:p>
            <a:pPr algn="l"/>
            <a:r>
              <a:rPr lang="en-AU" altLang="en-US" sz="40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Support and Confidence</a:t>
            </a:r>
            <a:endParaRPr lang="en-US" altLang="en-US" sz="40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45058" name="Picture 7" descr="JCU_Logo_RGB.jpg">
            <a:extLst>
              <a:ext uri="{FF2B5EF4-FFF2-40B4-BE49-F238E27FC236}">
                <a16:creationId xmlns:a16="http://schemas.microsoft.com/office/drawing/2014/main" id="{83DA4C13-522A-18CB-102D-3CE6C6EFF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Line 9">
            <a:extLst>
              <a:ext uri="{FF2B5EF4-FFF2-40B4-BE49-F238E27FC236}">
                <a16:creationId xmlns:a16="http://schemas.microsoft.com/office/drawing/2014/main" id="{4BB41246-27F3-1AA0-1DA7-6B1507B2D3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0" name="Line 10">
            <a:extLst>
              <a:ext uri="{FF2B5EF4-FFF2-40B4-BE49-F238E27FC236}">
                <a16:creationId xmlns:a16="http://schemas.microsoft.com/office/drawing/2014/main" id="{E5D9EAE3-0CB8-C39B-716C-C8DB379119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1" name="Slide Number Placeholder 126">
            <a:extLst>
              <a:ext uri="{FF2B5EF4-FFF2-40B4-BE49-F238E27FC236}">
                <a16:creationId xmlns:a16="http://schemas.microsoft.com/office/drawing/2014/main" id="{154A46EA-1656-EA5A-89D1-26CFE92DC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9BBF6F-31DF-2F45-89A2-3233838332A7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29" name="Text Box 5">
            <a:extLst>
              <a:ext uri="{FF2B5EF4-FFF2-40B4-BE49-F238E27FC236}">
                <a16:creationId xmlns:a16="http://schemas.microsoft.com/office/drawing/2014/main" id="{A2CB3223-F098-D9B3-90E7-EA33B06FB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4086225"/>
            <a:ext cx="860425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altLang="ko-KR" dirty="0">
                <a:latin typeface="+mn-lt"/>
              </a:rPr>
              <a:t>  Association between Banana and Chicken ?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altLang="ko-KR" dirty="0">
                <a:latin typeface="+mn-lt"/>
              </a:rPr>
              <a:t>  Association Rule: banana </a:t>
            </a:r>
            <a:r>
              <a:rPr lang="en-US" altLang="ko-KR" dirty="0">
                <a:latin typeface="+mn-lt"/>
                <a:sym typeface="Wingdings" pitchFamily="2" charset="2"/>
              </a:rPr>
              <a:t> chicken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ko-KR" dirty="0">
                <a:latin typeface="+mn-lt"/>
                <a:sym typeface="Wingdings" pitchFamily="2" charset="2"/>
              </a:rPr>
              <a:t> - Support</a:t>
            </a:r>
            <a:r>
              <a:rPr lang="en-US" altLang="ko-KR" dirty="0">
                <a:latin typeface="+mn-lt"/>
              </a:rPr>
              <a:t> = 1/6  (Only 1 person got both) 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ko-KR" dirty="0">
                <a:latin typeface="+mn-lt"/>
              </a:rPr>
              <a:t> - Confidence = 25% (Of the 4 banana buyers, 1 also got chicken)</a:t>
            </a:r>
          </a:p>
        </p:txBody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1DAF4596-7C7E-D638-D568-65A378A4A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13" y="2782888"/>
            <a:ext cx="6400800" cy="304800"/>
          </a:xfrm>
          <a:prstGeom prst="rect">
            <a:avLst/>
          </a:prstGeom>
          <a:solidFill>
            <a:srgbClr val="99CCFF">
              <a:alpha val="50195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400">
              <a:latin typeface="Arial" panose="020B0604020202020204" pitchFamily="34" charset="0"/>
            </a:endParaRPr>
          </a:p>
        </p:txBody>
      </p:sp>
      <p:grpSp>
        <p:nvGrpSpPr>
          <p:cNvPr id="45064" name="Group 8">
            <a:extLst>
              <a:ext uri="{FF2B5EF4-FFF2-40B4-BE49-F238E27FC236}">
                <a16:creationId xmlns:a16="http://schemas.microsoft.com/office/drawing/2014/main" id="{5E7F6B84-3CC3-C8EB-9B80-D44ABA81D01B}"/>
              </a:ext>
            </a:extLst>
          </p:cNvPr>
          <p:cNvGrpSpPr>
            <a:grpSpLocks/>
          </p:cNvGrpSpPr>
          <p:nvPr/>
        </p:nvGrpSpPr>
        <p:grpSpPr bwMode="auto">
          <a:xfrm>
            <a:off x="798513" y="1868488"/>
            <a:ext cx="6400800" cy="1828800"/>
            <a:chOff x="864" y="1104"/>
            <a:chExt cx="4032" cy="1152"/>
          </a:xfrm>
        </p:grpSpPr>
        <p:sp>
          <p:nvSpPr>
            <p:cNvPr id="45173" name="Rectangle 9">
              <a:extLst>
                <a:ext uri="{FF2B5EF4-FFF2-40B4-BE49-F238E27FC236}">
                  <a16:creationId xmlns:a16="http://schemas.microsoft.com/office/drawing/2014/main" id="{6B832660-8D09-7C12-C0A9-FF03E62CE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104"/>
              <a:ext cx="4032" cy="384"/>
            </a:xfrm>
            <a:prstGeom prst="rect">
              <a:avLst/>
            </a:prstGeom>
            <a:solidFill>
              <a:srgbClr val="FFCC00">
                <a:alpha val="50195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5174" name="Rectangle 10">
              <a:extLst>
                <a:ext uri="{FF2B5EF4-FFF2-40B4-BE49-F238E27FC236}">
                  <a16:creationId xmlns:a16="http://schemas.microsoft.com/office/drawing/2014/main" id="{5A10B85E-CE81-7DC1-9898-8929E6DAE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064"/>
              <a:ext cx="4032" cy="192"/>
            </a:xfrm>
            <a:prstGeom prst="rect">
              <a:avLst/>
            </a:prstGeom>
            <a:solidFill>
              <a:srgbClr val="FFCC00">
                <a:alpha val="50195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5175" name="Rectangle 11">
              <a:extLst>
                <a:ext uri="{FF2B5EF4-FFF2-40B4-BE49-F238E27FC236}">
                  <a16:creationId xmlns:a16="http://schemas.microsoft.com/office/drawing/2014/main" id="{3A501A17-5A96-03C8-F28F-8C55EFCDD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680"/>
              <a:ext cx="4032" cy="192"/>
            </a:xfrm>
            <a:prstGeom prst="rect">
              <a:avLst/>
            </a:prstGeom>
            <a:solidFill>
              <a:srgbClr val="FFCC00">
                <a:alpha val="50195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45065" name="Group 13">
            <a:extLst>
              <a:ext uri="{FF2B5EF4-FFF2-40B4-BE49-F238E27FC236}">
                <a16:creationId xmlns:a16="http://schemas.microsoft.com/office/drawing/2014/main" id="{63D50FE1-6AE2-EB4B-2ECA-EA76F42C3355}"/>
              </a:ext>
            </a:extLst>
          </p:cNvPr>
          <p:cNvGrpSpPr>
            <a:grpSpLocks/>
          </p:cNvGrpSpPr>
          <p:nvPr/>
        </p:nvGrpSpPr>
        <p:grpSpPr bwMode="auto">
          <a:xfrm>
            <a:off x="798513" y="1563688"/>
            <a:ext cx="6400800" cy="2133600"/>
            <a:chOff x="-3" y="-3"/>
            <a:chExt cx="3886" cy="2694"/>
          </a:xfrm>
        </p:grpSpPr>
        <p:grpSp>
          <p:nvGrpSpPr>
            <p:cNvPr id="45066" name="Group 14">
              <a:extLst>
                <a:ext uri="{FF2B5EF4-FFF2-40B4-BE49-F238E27FC236}">
                  <a16:creationId xmlns:a16="http://schemas.microsoft.com/office/drawing/2014/main" id="{C52057F8-C450-ABC3-816B-268E81DECD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880" cy="2688"/>
              <a:chOff x="0" y="0"/>
              <a:chExt cx="3880" cy="2688"/>
            </a:xfrm>
          </p:grpSpPr>
          <p:grpSp>
            <p:nvGrpSpPr>
              <p:cNvPr id="45068" name="Group 15">
                <a:extLst>
                  <a:ext uri="{FF2B5EF4-FFF2-40B4-BE49-F238E27FC236}">
                    <a16:creationId xmlns:a16="http://schemas.microsoft.com/office/drawing/2014/main" id="{979B6280-D260-2F98-F790-4A03D52BF0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76" cy="384"/>
                <a:chOff x="0" y="0"/>
                <a:chExt cx="776" cy="384"/>
              </a:xfrm>
            </p:grpSpPr>
            <p:sp>
              <p:nvSpPr>
                <p:cNvPr id="45171" name="Rectangle 16">
                  <a:extLst>
                    <a:ext uri="{FF2B5EF4-FFF2-40B4-BE49-F238E27FC236}">
                      <a16:creationId xmlns:a16="http://schemas.microsoft.com/office/drawing/2014/main" id="{E735A87C-4C41-2E45-69BE-E16E471241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</a:rPr>
                    <a:t>Person</a:t>
                  </a:r>
                </a:p>
              </p:txBody>
            </p:sp>
            <p:sp>
              <p:nvSpPr>
                <p:cNvPr id="45172" name="Rectangle 17">
                  <a:extLst>
                    <a:ext uri="{FF2B5EF4-FFF2-40B4-BE49-F238E27FC236}">
                      <a16:creationId xmlns:a16="http://schemas.microsoft.com/office/drawing/2014/main" id="{F69145CC-E490-9784-4A55-AD792D29BC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69" name="Group 18">
                <a:extLst>
                  <a:ext uri="{FF2B5EF4-FFF2-40B4-BE49-F238E27FC236}">
                    <a16:creationId xmlns:a16="http://schemas.microsoft.com/office/drawing/2014/main" id="{CDA6ADA5-9C4E-B045-C28A-89E14A5A3E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0"/>
                <a:ext cx="776" cy="384"/>
                <a:chOff x="776" y="0"/>
                <a:chExt cx="776" cy="384"/>
              </a:xfrm>
            </p:grpSpPr>
            <p:sp>
              <p:nvSpPr>
                <p:cNvPr id="45169" name="Rectangle 19">
                  <a:extLst>
                    <a:ext uri="{FF2B5EF4-FFF2-40B4-BE49-F238E27FC236}">
                      <a16:creationId xmlns:a16="http://schemas.microsoft.com/office/drawing/2014/main" id="{391587B7-3DAE-5587-05C0-3C9D96D713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banana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70" name="Rectangle 20">
                  <a:extLst>
                    <a:ext uri="{FF2B5EF4-FFF2-40B4-BE49-F238E27FC236}">
                      <a16:creationId xmlns:a16="http://schemas.microsoft.com/office/drawing/2014/main" id="{767E38A4-B092-DC9B-2030-FD91F47CD5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0" name="Group 21">
                <a:extLst>
                  <a:ext uri="{FF2B5EF4-FFF2-40B4-BE49-F238E27FC236}">
                    <a16:creationId xmlns:a16="http://schemas.microsoft.com/office/drawing/2014/main" id="{2FFA9F02-1B6D-18C2-E350-3243096EA6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0"/>
                <a:ext cx="776" cy="384"/>
                <a:chOff x="1552" y="0"/>
                <a:chExt cx="776" cy="384"/>
              </a:xfrm>
            </p:grpSpPr>
            <p:sp>
              <p:nvSpPr>
                <p:cNvPr id="45167" name="Rectangle 22">
                  <a:extLst>
                    <a:ext uri="{FF2B5EF4-FFF2-40B4-BE49-F238E27FC236}">
                      <a16:creationId xmlns:a16="http://schemas.microsoft.com/office/drawing/2014/main" id="{2346EDD9-2171-B09A-49F2-574F7B50AA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coffee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68" name="Rectangle 23">
                  <a:extLst>
                    <a:ext uri="{FF2B5EF4-FFF2-40B4-BE49-F238E27FC236}">
                      <a16:creationId xmlns:a16="http://schemas.microsoft.com/office/drawing/2014/main" id="{D731CDE4-421B-A6A1-FBAC-8C2961CFEA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1" name="Group 24">
                <a:extLst>
                  <a:ext uri="{FF2B5EF4-FFF2-40B4-BE49-F238E27FC236}">
                    <a16:creationId xmlns:a16="http://schemas.microsoft.com/office/drawing/2014/main" id="{7A4877F6-D5DA-0688-1BA0-E21DCAA052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0"/>
                <a:ext cx="776" cy="384"/>
                <a:chOff x="2328" y="0"/>
                <a:chExt cx="776" cy="384"/>
              </a:xfrm>
            </p:grpSpPr>
            <p:sp>
              <p:nvSpPr>
                <p:cNvPr id="45165" name="Rectangle 25">
                  <a:extLst>
                    <a:ext uri="{FF2B5EF4-FFF2-40B4-BE49-F238E27FC236}">
                      <a16:creationId xmlns:a16="http://schemas.microsoft.com/office/drawing/2014/main" id="{E25F5AF9-A6D2-9709-57A4-5BC311C8D1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milk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66" name="Rectangle 26">
                  <a:extLst>
                    <a:ext uri="{FF2B5EF4-FFF2-40B4-BE49-F238E27FC236}">
                      <a16:creationId xmlns:a16="http://schemas.microsoft.com/office/drawing/2014/main" id="{8FD81649-F0BD-33EA-0136-84119B9D3E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2" name="Group 27">
                <a:extLst>
                  <a:ext uri="{FF2B5EF4-FFF2-40B4-BE49-F238E27FC236}">
                    <a16:creationId xmlns:a16="http://schemas.microsoft.com/office/drawing/2014/main" id="{AF7C9E99-21F8-7624-B314-3BAD634417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0"/>
                <a:ext cx="776" cy="384"/>
                <a:chOff x="3104" y="0"/>
                <a:chExt cx="776" cy="384"/>
              </a:xfrm>
            </p:grpSpPr>
            <p:sp>
              <p:nvSpPr>
                <p:cNvPr id="45163" name="Rectangle 28">
                  <a:extLst>
                    <a:ext uri="{FF2B5EF4-FFF2-40B4-BE49-F238E27FC236}">
                      <a16:creationId xmlns:a16="http://schemas.microsoft.com/office/drawing/2014/main" id="{EEC32685-60AA-D63A-A0FC-9065F66D0E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chicken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64" name="Rectangle 29">
                  <a:extLst>
                    <a:ext uri="{FF2B5EF4-FFF2-40B4-BE49-F238E27FC236}">
                      <a16:creationId xmlns:a16="http://schemas.microsoft.com/office/drawing/2014/main" id="{96E67EF6-E28F-002A-8D11-D3335587D5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3" name="Group 30">
                <a:extLst>
                  <a:ext uri="{FF2B5EF4-FFF2-40B4-BE49-F238E27FC236}">
                    <a16:creationId xmlns:a16="http://schemas.microsoft.com/office/drawing/2014/main" id="{D3DA7EAA-25CC-DE1B-FD45-4FD5C9B643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84"/>
                <a:ext cx="776" cy="384"/>
                <a:chOff x="0" y="384"/>
                <a:chExt cx="776" cy="384"/>
              </a:xfrm>
            </p:grpSpPr>
            <p:sp>
              <p:nvSpPr>
                <p:cNvPr id="45161" name="Rectangle 31">
                  <a:extLst>
                    <a:ext uri="{FF2B5EF4-FFF2-40B4-BE49-F238E27FC236}">
                      <a16:creationId xmlns:a16="http://schemas.microsoft.com/office/drawing/2014/main" id="{71AAE1A6-E98D-AE04-BFC6-2D68D3971E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a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62" name="Rectangle 32">
                  <a:extLst>
                    <a:ext uri="{FF2B5EF4-FFF2-40B4-BE49-F238E27FC236}">
                      <a16:creationId xmlns:a16="http://schemas.microsoft.com/office/drawing/2014/main" id="{B14F077F-3C4C-5D98-AAB7-43D5131FC0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4" name="Group 33">
                <a:extLst>
                  <a:ext uri="{FF2B5EF4-FFF2-40B4-BE49-F238E27FC236}">
                    <a16:creationId xmlns:a16="http://schemas.microsoft.com/office/drawing/2014/main" id="{92DB1698-C470-7938-17EB-CB00E7E4D5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384"/>
                <a:ext cx="776" cy="384"/>
                <a:chOff x="776" y="384"/>
                <a:chExt cx="776" cy="384"/>
              </a:xfrm>
            </p:grpSpPr>
            <p:sp>
              <p:nvSpPr>
                <p:cNvPr id="45159" name="Rectangle 34">
                  <a:extLst>
                    <a:ext uri="{FF2B5EF4-FFF2-40B4-BE49-F238E27FC236}">
                      <a16:creationId xmlns:a16="http://schemas.microsoft.com/office/drawing/2014/main" id="{185F2CEA-0579-A3ED-3D55-974F13EE4F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60" name="Rectangle 35">
                  <a:extLst>
                    <a:ext uri="{FF2B5EF4-FFF2-40B4-BE49-F238E27FC236}">
                      <a16:creationId xmlns:a16="http://schemas.microsoft.com/office/drawing/2014/main" id="{14949914-D195-0B6D-FA8E-5B04C2C203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5" name="Group 36">
                <a:extLst>
                  <a:ext uri="{FF2B5EF4-FFF2-40B4-BE49-F238E27FC236}">
                    <a16:creationId xmlns:a16="http://schemas.microsoft.com/office/drawing/2014/main" id="{06A74056-34C1-146D-08F2-3CBC30FB09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384"/>
                <a:ext cx="776" cy="384"/>
                <a:chOff x="1552" y="384"/>
                <a:chExt cx="776" cy="384"/>
              </a:xfrm>
            </p:grpSpPr>
            <p:sp>
              <p:nvSpPr>
                <p:cNvPr id="45157" name="Rectangle 37">
                  <a:extLst>
                    <a:ext uri="{FF2B5EF4-FFF2-40B4-BE49-F238E27FC236}">
                      <a16:creationId xmlns:a16="http://schemas.microsoft.com/office/drawing/2014/main" id="{D56CEEA1-F4D2-A796-D269-51D1C98B90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58" name="Rectangle 38">
                  <a:extLst>
                    <a:ext uri="{FF2B5EF4-FFF2-40B4-BE49-F238E27FC236}">
                      <a16:creationId xmlns:a16="http://schemas.microsoft.com/office/drawing/2014/main" id="{AD5927B5-FD97-0598-B907-9892E2C3EA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6" name="Group 39">
                <a:extLst>
                  <a:ext uri="{FF2B5EF4-FFF2-40B4-BE49-F238E27FC236}">
                    <a16:creationId xmlns:a16="http://schemas.microsoft.com/office/drawing/2014/main" id="{525D5CB5-5F26-3CAF-EE57-358127D9A1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384"/>
                <a:ext cx="776" cy="384"/>
                <a:chOff x="2328" y="384"/>
                <a:chExt cx="776" cy="384"/>
              </a:xfrm>
            </p:grpSpPr>
            <p:sp>
              <p:nvSpPr>
                <p:cNvPr id="45155" name="Rectangle 40">
                  <a:extLst>
                    <a:ext uri="{FF2B5EF4-FFF2-40B4-BE49-F238E27FC236}">
                      <a16:creationId xmlns:a16="http://schemas.microsoft.com/office/drawing/2014/main" id="{6ACCCB4A-B8D0-0772-FE48-984E49E374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56" name="Rectangle 41">
                  <a:extLst>
                    <a:ext uri="{FF2B5EF4-FFF2-40B4-BE49-F238E27FC236}">
                      <a16:creationId xmlns:a16="http://schemas.microsoft.com/office/drawing/2014/main" id="{EDF8E972-BB5C-9312-E9BA-177C7EFF4E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7" name="Group 42">
                <a:extLst>
                  <a:ext uri="{FF2B5EF4-FFF2-40B4-BE49-F238E27FC236}">
                    <a16:creationId xmlns:a16="http://schemas.microsoft.com/office/drawing/2014/main" id="{A3C9B39A-5AF1-EA2F-E52C-4AB7BBCE13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384"/>
                <a:ext cx="776" cy="384"/>
                <a:chOff x="3104" y="384"/>
                <a:chExt cx="776" cy="384"/>
              </a:xfrm>
            </p:grpSpPr>
            <p:sp>
              <p:nvSpPr>
                <p:cNvPr id="45153" name="Rectangle 43">
                  <a:extLst>
                    <a:ext uri="{FF2B5EF4-FFF2-40B4-BE49-F238E27FC236}">
                      <a16:creationId xmlns:a16="http://schemas.microsoft.com/office/drawing/2014/main" id="{584FD371-AEE6-8C52-DBF5-6C9FAE2F84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54" name="Rectangle 44">
                  <a:extLst>
                    <a:ext uri="{FF2B5EF4-FFF2-40B4-BE49-F238E27FC236}">
                      <a16:creationId xmlns:a16="http://schemas.microsoft.com/office/drawing/2014/main" id="{6DBC2486-E6A4-7014-CF53-DD8CAD715E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8" name="Group 45">
                <a:extLst>
                  <a:ext uri="{FF2B5EF4-FFF2-40B4-BE49-F238E27FC236}">
                    <a16:creationId xmlns:a16="http://schemas.microsoft.com/office/drawing/2014/main" id="{AD988E4C-FF29-F438-C260-35B5D60012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68"/>
                <a:ext cx="776" cy="384"/>
                <a:chOff x="0" y="768"/>
                <a:chExt cx="776" cy="384"/>
              </a:xfrm>
            </p:grpSpPr>
            <p:sp>
              <p:nvSpPr>
                <p:cNvPr id="45151" name="Rectangle 46">
                  <a:extLst>
                    <a:ext uri="{FF2B5EF4-FFF2-40B4-BE49-F238E27FC236}">
                      <a16:creationId xmlns:a16="http://schemas.microsoft.com/office/drawing/2014/main" id="{A6446EA5-807C-5CC1-5C6C-CCE1BD8D10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b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52" name="Rectangle 47">
                  <a:extLst>
                    <a:ext uri="{FF2B5EF4-FFF2-40B4-BE49-F238E27FC236}">
                      <a16:creationId xmlns:a16="http://schemas.microsoft.com/office/drawing/2014/main" id="{E32465C4-0C27-5670-40B4-5A28975842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79" name="Group 48">
                <a:extLst>
                  <a:ext uri="{FF2B5EF4-FFF2-40B4-BE49-F238E27FC236}">
                    <a16:creationId xmlns:a16="http://schemas.microsoft.com/office/drawing/2014/main" id="{B4A952C1-5491-E6C8-9E82-E3115782A9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768"/>
                <a:ext cx="776" cy="384"/>
                <a:chOff x="776" y="768"/>
                <a:chExt cx="776" cy="384"/>
              </a:xfrm>
            </p:grpSpPr>
            <p:sp>
              <p:nvSpPr>
                <p:cNvPr id="45149" name="Rectangle 49">
                  <a:extLst>
                    <a:ext uri="{FF2B5EF4-FFF2-40B4-BE49-F238E27FC236}">
                      <a16:creationId xmlns:a16="http://schemas.microsoft.com/office/drawing/2014/main" id="{A8D4A16B-FF25-714C-22C1-59D9AACDEF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50" name="Rectangle 50">
                  <a:extLst>
                    <a:ext uri="{FF2B5EF4-FFF2-40B4-BE49-F238E27FC236}">
                      <a16:creationId xmlns:a16="http://schemas.microsoft.com/office/drawing/2014/main" id="{2AAEFC7A-D47D-E59A-5BD7-3281EB8B6F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0" name="Group 51">
                <a:extLst>
                  <a:ext uri="{FF2B5EF4-FFF2-40B4-BE49-F238E27FC236}">
                    <a16:creationId xmlns:a16="http://schemas.microsoft.com/office/drawing/2014/main" id="{7BFC46BB-1F50-B06E-22E9-2CBEE1A8C9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768"/>
                <a:ext cx="776" cy="384"/>
                <a:chOff x="1552" y="768"/>
                <a:chExt cx="776" cy="384"/>
              </a:xfrm>
            </p:grpSpPr>
            <p:sp>
              <p:nvSpPr>
                <p:cNvPr id="45147" name="Rectangle 52">
                  <a:extLst>
                    <a:ext uri="{FF2B5EF4-FFF2-40B4-BE49-F238E27FC236}">
                      <a16:creationId xmlns:a16="http://schemas.microsoft.com/office/drawing/2014/main" id="{101D9565-17D6-8A9F-061E-0A0C2750BA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48" name="Rectangle 53">
                  <a:extLst>
                    <a:ext uri="{FF2B5EF4-FFF2-40B4-BE49-F238E27FC236}">
                      <a16:creationId xmlns:a16="http://schemas.microsoft.com/office/drawing/2014/main" id="{79B3037A-53F2-FC94-4A56-A1C0E30F07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1" name="Group 54">
                <a:extLst>
                  <a:ext uri="{FF2B5EF4-FFF2-40B4-BE49-F238E27FC236}">
                    <a16:creationId xmlns:a16="http://schemas.microsoft.com/office/drawing/2014/main" id="{CD4DC67A-AA66-79A6-5F0D-3B41598B96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768"/>
                <a:ext cx="776" cy="384"/>
                <a:chOff x="2328" y="768"/>
                <a:chExt cx="776" cy="384"/>
              </a:xfrm>
            </p:grpSpPr>
            <p:sp>
              <p:nvSpPr>
                <p:cNvPr id="45145" name="Rectangle 55">
                  <a:extLst>
                    <a:ext uri="{FF2B5EF4-FFF2-40B4-BE49-F238E27FC236}">
                      <a16:creationId xmlns:a16="http://schemas.microsoft.com/office/drawing/2014/main" id="{DFAF3DAE-E4BC-F0E3-EF99-DBB3A6B3B1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46" name="Rectangle 56">
                  <a:extLst>
                    <a:ext uri="{FF2B5EF4-FFF2-40B4-BE49-F238E27FC236}">
                      <a16:creationId xmlns:a16="http://schemas.microsoft.com/office/drawing/2014/main" id="{99F19674-A62F-E02F-5A6D-95858B8529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2" name="Group 57">
                <a:extLst>
                  <a:ext uri="{FF2B5EF4-FFF2-40B4-BE49-F238E27FC236}">
                    <a16:creationId xmlns:a16="http://schemas.microsoft.com/office/drawing/2014/main" id="{C38D9586-2429-897A-F251-E320607367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768"/>
                <a:ext cx="776" cy="384"/>
                <a:chOff x="3104" y="768"/>
                <a:chExt cx="776" cy="384"/>
              </a:xfrm>
            </p:grpSpPr>
            <p:sp>
              <p:nvSpPr>
                <p:cNvPr id="45143" name="Rectangle 58">
                  <a:extLst>
                    <a:ext uri="{FF2B5EF4-FFF2-40B4-BE49-F238E27FC236}">
                      <a16:creationId xmlns:a16="http://schemas.microsoft.com/office/drawing/2014/main" id="{091C8950-FEBC-FA55-84D5-30B5AD3E35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44" name="Rectangle 59">
                  <a:extLst>
                    <a:ext uri="{FF2B5EF4-FFF2-40B4-BE49-F238E27FC236}">
                      <a16:creationId xmlns:a16="http://schemas.microsoft.com/office/drawing/2014/main" id="{34AD14B5-1364-DB8D-0EBA-9A77B7A803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3" name="Group 60">
                <a:extLst>
                  <a:ext uri="{FF2B5EF4-FFF2-40B4-BE49-F238E27FC236}">
                    <a16:creationId xmlns:a16="http://schemas.microsoft.com/office/drawing/2014/main" id="{AA2D77C0-F272-5770-9523-997487FE92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52"/>
                <a:ext cx="776" cy="384"/>
                <a:chOff x="0" y="1152"/>
                <a:chExt cx="776" cy="384"/>
              </a:xfrm>
            </p:grpSpPr>
            <p:sp>
              <p:nvSpPr>
                <p:cNvPr id="45141" name="Rectangle 61">
                  <a:extLst>
                    <a:ext uri="{FF2B5EF4-FFF2-40B4-BE49-F238E27FC236}">
                      <a16:creationId xmlns:a16="http://schemas.microsoft.com/office/drawing/2014/main" id="{ED1BC004-844F-945E-339E-DF5F4CD308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c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42" name="Rectangle 62">
                  <a:extLst>
                    <a:ext uri="{FF2B5EF4-FFF2-40B4-BE49-F238E27FC236}">
                      <a16:creationId xmlns:a16="http://schemas.microsoft.com/office/drawing/2014/main" id="{9CDAC14E-AF38-DCC8-CF7F-CC751D9F7D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4" name="Group 63">
                <a:extLst>
                  <a:ext uri="{FF2B5EF4-FFF2-40B4-BE49-F238E27FC236}">
                    <a16:creationId xmlns:a16="http://schemas.microsoft.com/office/drawing/2014/main" id="{EC028F5D-69F4-F4E1-7DE9-FB676F23CF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1152"/>
                <a:ext cx="776" cy="384"/>
                <a:chOff x="776" y="1152"/>
                <a:chExt cx="776" cy="384"/>
              </a:xfrm>
            </p:grpSpPr>
            <p:sp>
              <p:nvSpPr>
                <p:cNvPr id="45139" name="Rectangle 64">
                  <a:extLst>
                    <a:ext uri="{FF2B5EF4-FFF2-40B4-BE49-F238E27FC236}">
                      <a16:creationId xmlns:a16="http://schemas.microsoft.com/office/drawing/2014/main" id="{E70B6268-CC90-EA43-2CB4-981D2D1F41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40" name="Rectangle 65">
                  <a:extLst>
                    <a:ext uri="{FF2B5EF4-FFF2-40B4-BE49-F238E27FC236}">
                      <a16:creationId xmlns:a16="http://schemas.microsoft.com/office/drawing/2014/main" id="{4C32470E-C640-6E3E-2CE6-B352AADEB5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5" name="Group 66">
                <a:extLst>
                  <a:ext uri="{FF2B5EF4-FFF2-40B4-BE49-F238E27FC236}">
                    <a16:creationId xmlns:a16="http://schemas.microsoft.com/office/drawing/2014/main" id="{DBB892A0-529A-9ADB-A157-32AE096268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1152"/>
                <a:ext cx="776" cy="384"/>
                <a:chOff x="1552" y="1152"/>
                <a:chExt cx="776" cy="384"/>
              </a:xfrm>
            </p:grpSpPr>
            <p:sp>
              <p:nvSpPr>
                <p:cNvPr id="45137" name="Rectangle 67">
                  <a:extLst>
                    <a:ext uri="{FF2B5EF4-FFF2-40B4-BE49-F238E27FC236}">
                      <a16:creationId xmlns:a16="http://schemas.microsoft.com/office/drawing/2014/main" id="{3DA1A579-71E7-03B0-EBD3-CA1FA212F3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38" name="Rectangle 68">
                  <a:extLst>
                    <a:ext uri="{FF2B5EF4-FFF2-40B4-BE49-F238E27FC236}">
                      <a16:creationId xmlns:a16="http://schemas.microsoft.com/office/drawing/2014/main" id="{85915B34-8EE4-5151-3927-2254EDC066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6" name="Group 69">
                <a:extLst>
                  <a:ext uri="{FF2B5EF4-FFF2-40B4-BE49-F238E27FC236}">
                    <a16:creationId xmlns:a16="http://schemas.microsoft.com/office/drawing/2014/main" id="{72C714DC-9FAD-DBC3-AB70-01AC206F69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1152"/>
                <a:ext cx="776" cy="384"/>
                <a:chOff x="2328" y="1152"/>
                <a:chExt cx="776" cy="384"/>
              </a:xfrm>
            </p:grpSpPr>
            <p:sp>
              <p:nvSpPr>
                <p:cNvPr id="45135" name="Rectangle 70">
                  <a:extLst>
                    <a:ext uri="{FF2B5EF4-FFF2-40B4-BE49-F238E27FC236}">
                      <a16:creationId xmlns:a16="http://schemas.microsoft.com/office/drawing/2014/main" id="{F298E293-9CAB-E02E-926D-C8B91E6E50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36" name="Rectangle 71">
                  <a:extLst>
                    <a:ext uri="{FF2B5EF4-FFF2-40B4-BE49-F238E27FC236}">
                      <a16:creationId xmlns:a16="http://schemas.microsoft.com/office/drawing/2014/main" id="{7EBDDBAF-0A06-6DD1-DC4A-4BD442CE98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7" name="Group 72">
                <a:extLst>
                  <a:ext uri="{FF2B5EF4-FFF2-40B4-BE49-F238E27FC236}">
                    <a16:creationId xmlns:a16="http://schemas.microsoft.com/office/drawing/2014/main" id="{8439B307-2E37-0BA8-38D9-DDD743E557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1152"/>
                <a:ext cx="776" cy="384"/>
                <a:chOff x="3104" y="1152"/>
                <a:chExt cx="776" cy="384"/>
              </a:xfrm>
            </p:grpSpPr>
            <p:sp>
              <p:nvSpPr>
                <p:cNvPr id="45133" name="Rectangle 73">
                  <a:extLst>
                    <a:ext uri="{FF2B5EF4-FFF2-40B4-BE49-F238E27FC236}">
                      <a16:creationId xmlns:a16="http://schemas.microsoft.com/office/drawing/2014/main" id="{CA8154DB-C9F8-4DBB-F213-B96E1AB6A6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34" name="Rectangle 74">
                  <a:extLst>
                    <a:ext uri="{FF2B5EF4-FFF2-40B4-BE49-F238E27FC236}">
                      <a16:creationId xmlns:a16="http://schemas.microsoft.com/office/drawing/2014/main" id="{8BE89255-7C61-C380-A790-1FF2E3CBF0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8" name="Group 75">
                <a:extLst>
                  <a:ext uri="{FF2B5EF4-FFF2-40B4-BE49-F238E27FC236}">
                    <a16:creationId xmlns:a16="http://schemas.microsoft.com/office/drawing/2014/main" id="{3DF93F3E-1201-98F7-6EEE-C10A30D17C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536"/>
                <a:ext cx="776" cy="384"/>
                <a:chOff x="0" y="1536"/>
                <a:chExt cx="776" cy="384"/>
              </a:xfrm>
            </p:grpSpPr>
            <p:sp>
              <p:nvSpPr>
                <p:cNvPr id="45131" name="Rectangle 76">
                  <a:extLst>
                    <a:ext uri="{FF2B5EF4-FFF2-40B4-BE49-F238E27FC236}">
                      <a16:creationId xmlns:a16="http://schemas.microsoft.com/office/drawing/2014/main" id="{A152D100-866E-7B44-1655-70B55790E4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d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32" name="Rectangle 77">
                  <a:extLst>
                    <a:ext uri="{FF2B5EF4-FFF2-40B4-BE49-F238E27FC236}">
                      <a16:creationId xmlns:a16="http://schemas.microsoft.com/office/drawing/2014/main" id="{09BB1195-988D-0F9E-DF8C-0D53B6691E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89" name="Group 78">
                <a:extLst>
                  <a:ext uri="{FF2B5EF4-FFF2-40B4-BE49-F238E27FC236}">
                    <a16:creationId xmlns:a16="http://schemas.microsoft.com/office/drawing/2014/main" id="{7EC9ABF0-8548-9994-F1E7-B266CEDC25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1536"/>
                <a:ext cx="776" cy="384"/>
                <a:chOff x="776" y="1536"/>
                <a:chExt cx="776" cy="384"/>
              </a:xfrm>
            </p:grpSpPr>
            <p:sp>
              <p:nvSpPr>
                <p:cNvPr id="45129" name="Rectangle 79">
                  <a:extLst>
                    <a:ext uri="{FF2B5EF4-FFF2-40B4-BE49-F238E27FC236}">
                      <a16:creationId xmlns:a16="http://schemas.microsoft.com/office/drawing/2014/main" id="{BF5AE970-C11D-D206-0388-3E5F4EE894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30" name="Rectangle 80">
                  <a:extLst>
                    <a:ext uri="{FF2B5EF4-FFF2-40B4-BE49-F238E27FC236}">
                      <a16:creationId xmlns:a16="http://schemas.microsoft.com/office/drawing/2014/main" id="{249BD409-C03E-FD78-C82F-0FD3495C42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0" name="Group 81">
                <a:extLst>
                  <a:ext uri="{FF2B5EF4-FFF2-40B4-BE49-F238E27FC236}">
                    <a16:creationId xmlns:a16="http://schemas.microsoft.com/office/drawing/2014/main" id="{B594A44E-E4E5-57AB-88D0-C230180C2B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1536"/>
                <a:ext cx="776" cy="384"/>
                <a:chOff x="1552" y="1536"/>
                <a:chExt cx="776" cy="384"/>
              </a:xfrm>
            </p:grpSpPr>
            <p:sp>
              <p:nvSpPr>
                <p:cNvPr id="45127" name="Rectangle 82">
                  <a:extLst>
                    <a:ext uri="{FF2B5EF4-FFF2-40B4-BE49-F238E27FC236}">
                      <a16:creationId xmlns:a16="http://schemas.microsoft.com/office/drawing/2014/main" id="{306FA2A7-AFCF-EA90-8617-9B9A1C546C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28" name="Rectangle 83">
                  <a:extLst>
                    <a:ext uri="{FF2B5EF4-FFF2-40B4-BE49-F238E27FC236}">
                      <a16:creationId xmlns:a16="http://schemas.microsoft.com/office/drawing/2014/main" id="{A86F3A4E-4656-F3B8-5B71-99977F6C64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1" name="Group 84">
                <a:extLst>
                  <a:ext uri="{FF2B5EF4-FFF2-40B4-BE49-F238E27FC236}">
                    <a16:creationId xmlns:a16="http://schemas.microsoft.com/office/drawing/2014/main" id="{BB4461FF-213B-C846-2D6B-11A993CBB2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1536"/>
                <a:ext cx="776" cy="384"/>
                <a:chOff x="2328" y="1536"/>
                <a:chExt cx="776" cy="384"/>
              </a:xfrm>
            </p:grpSpPr>
            <p:sp>
              <p:nvSpPr>
                <p:cNvPr id="45125" name="Rectangle 85">
                  <a:extLst>
                    <a:ext uri="{FF2B5EF4-FFF2-40B4-BE49-F238E27FC236}">
                      <a16:creationId xmlns:a16="http://schemas.microsoft.com/office/drawing/2014/main" id="{7C401CD4-3AF0-5D6F-C714-60D5BC5BB6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26" name="Rectangle 86">
                  <a:extLst>
                    <a:ext uri="{FF2B5EF4-FFF2-40B4-BE49-F238E27FC236}">
                      <a16:creationId xmlns:a16="http://schemas.microsoft.com/office/drawing/2014/main" id="{2F50AD84-B54D-0642-C12C-5F2173A0BB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2" name="Group 87">
                <a:extLst>
                  <a:ext uri="{FF2B5EF4-FFF2-40B4-BE49-F238E27FC236}">
                    <a16:creationId xmlns:a16="http://schemas.microsoft.com/office/drawing/2014/main" id="{BEE11406-6ACB-C29B-F7CA-F4163F07E1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1536"/>
                <a:ext cx="776" cy="384"/>
                <a:chOff x="3104" y="1536"/>
                <a:chExt cx="776" cy="384"/>
              </a:xfrm>
            </p:grpSpPr>
            <p:sp>
              <p:nvSpPr>
                <p:cNvPr id="45123" name="Rectangle 88">
                  <a:extLst>
                    <a:ext uri="{FF2B5EF4-FFF2-40B4-BE49-F238E27FC236}">
                      <a16:creationId xmlns:a16="http://schemas.microsoft.com/office/drawing/2014/main" id="{5A83D832-D3BB-F443-8800-168C61BE01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24" name="Rectangle 89">
                  <a:extLst>
                    <a:ext uri="{FF2B5EF4-FFF2-40B4-BE49-F238E27FC236}">
                      <a16:creationId xmlns:a16="http://schemas.microsoft.com/office/drawing/2014/main" id="{B82559CA-8183-F7B2-53EA-580B32D1AE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3" name="Group 90">
                <a:extLst>
                  <a:ext uri="{FF2B5EF4-FFF2-40B4-BE49-F238E27FC236}">
                    <a16:creationId xmlns:a16="http://schemas.microsoft.com/office/drawing/2014/main" id="{500EDBFA-02E0-F5A1-5CED-D5C9511BE4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0"/>
                <a:ext cx="776" cy="384"/>
                <a:chOff x="0" y="1920"/>
                <a:chExt cx="776" cy="384"/>
              </a:xfrm>
            </p:grpSpPr>
            <p:sp>
              <p:nvSpPr>
                <p:cNvPr id="45121" name="Rectangle 91">
                  <a:extLst>
                    <a:ext uri="{FF2B5EF4-FFF2-40B4-BE49-F238E27FC236}">
                      <a16:creationId xmlns:a16="http://schemas.microsoft.com/office/drawing/2014/main" id="{6B5C1E0A-4753-F6DC-9CC5-008F2C237E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e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22" name="Rectangle 92">
                  <a:extLst>
                    <a:ext uri="{FF2B5EF4-FFF2-40B4-BE49-F238E27FC236}">
                      <a16:creationId xmlns:a16="http://schemas.microsoft.com/office/drawing/2014/main" id="{B569E497-93E1-09A7-0978-A76B838104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4" name="Group 93">
                <a:extLst>
                  <a:ext uri="{FF2B5EF4-FFF2-40B4-BE49-F238E27FC236}">
                    <a16:creationId xmlns:a16="http://schemas.microsoft.com/office/drawing/2014/main" id="{04C1C8E2-753F-C13E-1C83-07B912FBFE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1920"/>
                <a:ext cx="776" cy="384"/>
                <a:chOff x="776" y="1920"/>
                <a:chExt cx="776" cy="384"/>
              </a:xfrm>
            </p:grpSpPr>
            <p:sp>
              <p:nvSpPr>
                <p:cNvPr id="45119" name="Rectangle 94">
                  <a:extLst>
                    <a:ext uri="{FF2B5EF4-FFF2-40B4-BE49-F238E27FC236}">
                      <a16:creationId xmlns:a16="http://schemas.microsoft.com/office/drawing/2014/main" id="{E6D9F49B-B4EF-F0C0-46F2-1A0402E5FA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20" name="Rectangle 95">
                  <a:extLst>
                    <a:ext uri="{FF2B5EF4-FFF2-40B4-BE49-F238E27FC236}">
                      <a16:creationId xmlns:a16="http://schemas.microsoft.com/office/drawing/2014/main" id="{227B6439-EF20-39F0-9645-28F5197ED2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5" name="Group 96">
                <a:extLst>
                  <a:ext uri="{FF2B5EF4-FFF2-40B4-BE49-F238E27FC236}">
                    <a16:creationId xmlns:a16="http://schemas.microsoft.com/office/drawing/2014/main" id="{01A06AF2-2F87-8197-BE04-198FFB6435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1920"/>
                <a:ext cx="776" cy="384"/>
                <a:chOff x="1552" y="1920"/>
                <a:chExt cx="776" cy="384"/>
              </a:xfrm>
            </p:grpSpPr>
            <p:sp>
              <p:nvSpPr>
                <p:cNvPr id="45117" name="Rectangle 97">
                  <a:extLst>
                    <a:ext uri="{FF2B5EF4-FFF2-40B4-BE49-F238E27FC236}">
                      <a16:creationId xmlns:a16="http://schemas.microsoft.com/office/drawing/2014/main" id="{E1B80B13-A63A-E57C-3795-EA35438B23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18" name="Rectangle 98">
                  <a:extLst>
                    <a:ext uri="{FF2B5EF4-FFF2-40B4-BE49-F238E27FC236}">
                      <a16:creationId xmlns:a16="http://schemas.microsoft.com/office/drawing/2014/main" id="{7E92496C-3E27-0322-FC4F-2F731742F5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6" name="Group 99">
                <a:extLst>
                  <a:ext uri="{FF2B5EF4-FFF2-40B4-BE49-F238E27FC236}">
                    <a16:creationId xmlns:a16="http://schemas.microsoft.com/office/drawing/2014/main" id="{8BE55E0D-9302-8DCB-6186-220CEC0EC2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1920"/>
                <a:ext cx="776" cy="384"/>
                <a:chOff x="2328" y="1920"/>
                <a:chExt cx="776" cy="384"/>
              </a:xfrm>
            </p:grpSpPr>
            <p:sp>
              <p:nvSpPr>
                <p:cNvPr id="45115" name="Rectangle 100">
                  <a:extLst>
                    <a:ext uri="{FF2B5EF4-FFF2-40B4-BE49-F238E27FC236}">
                      <a16:creationId xmlns:a16="http://schemas.microsoft.com/office/drawing/2014/main" id="{6FD4F55C-DB1D-79A8-20A6-1FFC3A6E25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16" name="Rectangle 101">
                  <a:extLst>
                    <a:ext uri="{FF2B5EF4-FFF2-40B4-BE49-F238E27FC236}">
                      <a16:creationId xmlns:a16="http://schemas.microsoft.com/office/drawing/2014/main" id="{862C2B0D-B51D-095B-F65C-3604F61FC9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7" name="Group 102">
                <a:extLst>
                  <a:ext uri="{FF2B5EF4-FFF2-40B4-BE49-F238E27FC236}">
                    <a16:creationId xmlns:a16="http://schemas.microsoft.com/office/drawing/2014/main" id="{0E819BC0-6113-9A45-5CA6-6A7C8D1272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1920"/>
                <a:ext cx="776" cy="384"/>
                <a:chOff x="3104" y="1920"/>
                <a:chExt cx="776" cy="384"/>
              </a:xfrm>
            </p:grpSpPr>
            <p:sp>
              <p:nvSpPr>
                <p:cNvPr id="45113" name="Rectangle 103">
                  <a:extLst>
                    <a:ext uri="{FF2B5EF4-FFF2-40B4-BE49-F238E27FC236}">
                      <a16:creationId xmlns:a16="http://schemas.microsoft.com/office/drawing/2014/main" id="{F47FC373-738C-D74C-A0C0-5C86F9B835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14" name="Rectangle 104">
                  <a:extLst>
                    <a:ext uri="{FF2B5EF4-FFF2-40B4-BE49-F238E27FC236}">
                      <a16:creationId xmlns:a16="http://schemas.microsoft.com/office/drawing/2014/main" id="{F858F548-9045-D0B8-EB06-6DE482C9B7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8" name="Group 105">
                <a:extLst>
                  <a:ext uri="{FF2B5EF4-FFF2-40B4-BE49-F238E27FC236}">
                    <a16:creationId xmlns:a16="http://schemas.microsoft.com/office/drawing/2014/main" id="{558520CE-C4A3-E1A0-871D-F329624A10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304"/>
                <a:ext cx="776" cy="384"/>
                <a:chOff x="0" y="2304"/>
                <a:chExt cx="776" cy="384"/>
              </a:xfrm>
            </p:grpSpPr>
            <p:sp>
              <p:nvSpPr>
                <p:cNvPr id="45111" name="Rectangle 106">
                  <a:extLst>
                    <a:ext uri="{FF2B5EF4-FFF2-40B4-BE49-F238E27FC236}">
                      <a16:creationId xmlns:a16="http://schemas.microsoft.com/office/drawing/2014/main" id="{BCAAB804-A26F-EDE8-4574-664C989131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f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12" name="Rectangle 107">
                  <a:extLst>
                    <a:ext uri="{FF2B5EF4-FFF2-40B4-BE49-F238E27FC236}">
                      <a16:creationId xmlns:a16="http://schemas.microsoft.com/office/drawing/2014/main" id="{36C6B0FD-E712-32CC-6B51-C41AF4977A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099" name="Group 108">
                <a:extLst>
                  <a:ext uri="{FF2B5EF4-FFF2-40B4-BE49-F238E27FC236}">
                    <a16:creationId xmlns:a16="http://schemas.microsoft.com/office/drawing/2014/main" id="{45C04FE5-A917-675B-6946-A5FF40BD20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2304"/>
                <a:ext cx="776" cy="384"/>
                <a:chOff x="776" y="2304"/>
                <a:chExt cx="776" cy="384"/>
              </a:xfrm>
            </p:grpSpPr>
            <p:sp>
              <p:nvSpPr>
                <p:cNvPr id="45109" name="Rectangle 109">
                  <a:extLst>
                    <a:ext uri="{FF2B5EF4-FFF2-40B4-BE49-F238E27FC236}">
                      <a16:creationId xmlns:a16="http://schemas.microsoft.com/office/drawing/2014/main" id="{682F9CD0-1221-660A-EE5B-DAA47D784A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10" name="Rectangle 110">
                  <a:extLst>
                    <a:ext uri="{FF2B5EF4-FFF2-40B4-BE49-F238E27FC236}">
                      <a16:creationId xmlns:a16="http://schemas.microsoft.com/office/drawing/2014/main" id="{F79478B6-3638-8557-DDDF-8E5BC0A2C4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100" name="Group 111">
                <a:extLst>
                  <a:ext uri="{FF2B5EF4-FFF2-40B4-BE49-F238E27FC236}">
                    <a16:creationId xmlns:a16="http://schemas.microsoft.com/office/drawing/2014/main" id="{895BD963-1865-E4FA-B6FF-FA807F9531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2304"/>
                <a:ext cx="776" cy="384"/>
                <a:chOff x="1552" y="2304"/>
                <a:chExt cx="776" cy="384"/>
              </a:xfrm>
            </p:grpSpPr>
            <p:sp>
              <p:nvSpPr>
                <p:cNvPr id="45107" name="Rectangle 112">
                  <a:extLst>
                    <a:ext uri="{FF2B5EF4-FFF2-40B4-BE49-F238E27FC236}">
                      <a16:creationId xmlns:a16="http://schemas.microsoft.com/office/drawing/2014/main" id="{DF82AE75-D702-28CB-202F-62349AA6E1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08" name="Rectangle 113">
                  <a:extLst>
                    <a:ext uri="{FF2B5EF4-FFF2-40B4-BE49-F238E27FC236}">
                      <a16:creationId xmlns:a16="http://schemas.microsoft.com/office/drawing/2014/main" id="{4A737498-F4CE-DF53-D952-A209FB9759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101" name="Group 114">
                <a:extLst>
                  <a:ext uri="{FF2B5EF4-FFF2-40B4-BE49-F238E27FC236}">
                    <a16:creationId xmlns:a16="http://schemas.microsoft.com/office/drawing/2014/main" id="{E7CC288F-5BC3-BFB8-B8FF-3629E85556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2304"/>
                <a:ext cx="776" cy="384"/>
                <a:chOff x="2328" y="2304"/>
                <a:chExt cx="776" cy="384"/>
              </a:xfrm>
            </p:grpSpPr>
            <p:sp>
              <p:nvSpPr>
                <p:cNvPr id="45105" name="Rectangle 115">
                  <a:extLst>
                    <a:ext uri="{FF2B5EF4-FFF2-40B4-BE49-F238E27FC236}">
                      <a16:creationId xmlns:a16="http://schemas.microsoft.com/office/drawing/2014/main" id="{5246501B-6E53-7746-1054-5FB00D4C76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06" name="Rectangle 116">
                  <a:extLst>
                    <a:ext uri="{FF2B5EF4-FFF2-40B4-BE49-F238E27FC236}">
                      <a16:creationId xmlns:a16="http://schemas.microsoft.com/office/drawing/2014/main" id="{7341D72E-6054-4D9C-FE22-AFF6306908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5102" name="Group 117">
                <a:extLst>
                  <a:ext uri="{FF2B5EF4-FFF2-40B4-BE49-F238E27FC236}">
                    <a16:creationId xmlns:a16="http://schemas.microsoft.com/office/drawing/2014/main" id="{65E278AE-4EAF-32BA-CC0D-35D3AB014E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2304"/>
                <a:ext cx="776" cy="384"/>
                <a:chOff x="3104" y="2304"/>
                <a:chExt cx="776" cy="384"/>
              </a:xfrm>
            </p:grpSpPr>
            <p:sp>
              <p:nvSpPr>
                <p:cNvPr id="45103" name="Rectangle 118">
                  <a:extLst>
                    <a:ext uri="{FF2B5EF4-FFF2-40B4-BE49-F238E27FC236}">
                      <a16:creationId xmlns:a16="http://schemas.microsoft.com/office/drawing/2014/main" id="{1605636B-BA35-EF24-7346-1AE6E75930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5104" name="Rectangle 119">
                  <a:extLst>
                    <a:ext uri="{FF2B5EF4-FFF2-40B4-BE49-F238E27FC236}">
                      <a16:creationId xmlns:a16="http://schemas.microsoft.com/office/drawing/2014/main" id="{9488BC96-070A-743F-0D3A-4EFD07B62A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5067" name="Rectangle 120">
              <a:extLst>
                <a:ext uri="{FF2B5EF4-FFF2-40B4-BE49-F238E27FC236}">
                  <a16:creationId xmlns:a16="http://schemas.microsoft.com/office/drawing/2014/main" id="{26BEE5DF-B8F7-CA19-3BAB-2DCF7BC0A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3886" cy="2694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24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53329674-E208-5B88-57C7-696C6F040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091363" cy="815975"/>
          </a:xfrm>
        </p:spPr>
        <p:txBody>
          <a:bodyPr lIns="0" tIns="0" rIns="0" bIns="0"/>
          <a:lstStyle/>
          <a:p>
            <a:pPr algn="l"/>
            <a:r>
              <a:rPr lang="en-AU" altLang="en-US" sz="40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Support and Confidence</a:t>
            </a:r>
            <a:endParaRPr lang="en-US" altLang="en-US" sz="40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47106" name="Picture 7" descr="JCU_Logo_RGB.jpg">
            <a:extLst>
              <a:ext uri="{FF2B5EF4-FFF2-40B4-BE49-F238E27FC236}">
                <a16:creationId xmlns:a16="http://schemas.microsoft.com/office/drawing/2014/main" id="{F49FC721-8CD4-E1B0-AA1D-85CFAFCCA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Line 9">
            <a:extLst>
              <a:ext uri="{FF2B5EF4-FFF2-40B4-BE49-F238E27FC236}">
                <a16:creationId xmlns:a16="http://schemas.microsoft.com/office/drawing/2014/main" id="{7CEB1AB5-D495-CA14-BB2E-ACAA4F24C1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8" name="Line 10">
            <a:extLst>
              <a:ext uri="{FF2B5EF4-FFF2-40B4-BE49-F238E27FC236}">
                <a16:creationId xmlns:a16="http://schemas.microsoft.com/office/drawing/2014/main" id="{A8925A57-20F1-D5E0-160B-E414784DFA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9" name="Slide Number Placeholder 126">
            <a:extLst>
              <a:ext uri="{FF2B5EF4-FFF2-40B4-BE49-F238E27FC236}">
                <a16:creationId xmlns:a16="http://schemas.microsoft.com/office/drawing/2014/main" id="{39F44807-7CD3-3A3A-8170-6DFAA94BA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ED26A3-A292-064E-B9D9-85EFA64F787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29" name="Text Box 5">
            <a:extLst>
              <a:ext uri="{FF2B5EF4-FFF2-40B4-BE49-F238E27FC236}">
                <a16:creationId xmlns:a16="http://schemas.microsoft.com/office/drawing/2014/main" id="{44002CA9-149A-47E1-DF55-9E7BB7C17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4086225"/>
            <a:ext cx="860425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altLang="ko-KR" dirty="0">
                <a:latin typeface="+mn-lt"/>
              </a:rPr>
              <a:t>  Association between Coffee and Milk ?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altLang="ko-KR" dirty="0">
                <a:latin typeface="+mn-lt"/>
              </a:rPr>
              <a:t>  Association Rule: Coffee </a:t>
            </a:r>
            <a:r>
              <a:rPr lang="en-US" altLang="ko-KR" dirty="0">
                <a:latin typeface="+mn-lt"/>
                <a:sym typeface="Wingdings" pitchFamily="2" charset="2"/>
              </a:rPr>
              <a:t> Milk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ko-KR" dirty="0">
                <a:latin typeface="+mn-lt"/>
                <a:sym typeface="Wingdings" pitchFamily="2" charset="2"/>
              </a:rPr>
              <a:t> - Support</a:t>
            </a:r>
            <a:r>
              <a:rPr lang="en-US" altLang="ko-KR" dirty="0">
                <a:latin typeface="+mn-lt"/>
              </a:rPr>
              <a:t> = 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ko-KR" dirty="0">
                <a:latin typeface="+mn-lt"/>
              </a:rPr>
              <a:t> - Confidence = </a:t>
            </a:r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ACE5F584-E59A-A689-1B9B-956C9711A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667000"/>
            <a:ext cx="6400800" cy="914400"/>
          </a:xfrm>
          <a:prstGeom prst="rect">
            <a:avLst/>
          </a:prstGeom>
          <a:solidFill>
            <a:srgbClr val="99CCFF">
              <a:alpha val="50195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400">
              <a:latin typeface="Arial" panose="020B0604020202020204" pitchFamily="34" charset="0"/>
            </a:endParaRPr>
          </a:p>
        </p:txBody>
      </p:sp>
      <p:sp>
        <p:nvSpPr>
          <p:cNvPr id="47112" name="Rectangle 12">
            <a:extLst>
              <a:ext uri="{FF2B5EF4-FFF2-40B4-BE49-F238E27FC236}">
                <a16:creationId xmlns:a16="http://schemas.microsoft.com/office/drawing/2014/main" id="{1C4E576A-B42D-055A-2352-42C5C3996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667000"/>
            <a:ext cx="6400800" cy="914400"/>
          </a:xfrm>
          <a:prstGeom prst="rect">
            <a:avLst/>
          </a:prstGeom>
          <a:solidFill>
            <a:srgbClr val="92D050">
              <a:alpha val="50195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400">
              <a:latin typeface="Arial" panose="020B0604020202020204" pitchFamily="34" charset="0"/>
            </a:endParaRPr>
          </a:p>
        </p:txBody>
      </p:sp>
      <p:grpSp>
        <p:nvGrpSpPr>
          <p:cNvPr id="47113" name="Group 13">
            <a:extLst>
              <a:ext uri="{FF2B5EF4-FFF2-40B4-BE49-F238E27FC236}">
                <a16:creationId xmlns:a16="http://schemas.microsoft.com/office/drawing/2014/main" id="{6DDD4786-6668-FFB2-FEC9-F42307F18179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1447800"/>
            <a:ext cx="6400800" cy="2133600"/>
            <a:chOff x="-3" y="-3"/>
            <a:chExt cx="3886" cy="2694"/>
          </a:xfrm>
        </p:grpSpPr>
        <p:grpSp>
          <p:nvGrpSpPr>
            <p:cNvPr id="47115" name="Group 14">
              <a:extLst>
                <a:ext uri="{FF2B5EF4-FFF2-40B4-BE49-F238E27FC236}">
                  <a16:creationId xmlns:a16="http://schemas.microsoft.com/office/drawing/2014/main" id="{47A0B8A5-885E-3DD7-6AF1-5AF0C553E6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880" cy="2688"/>
              <a:chOff x="0" y="0"/>
              <a:chExt cx="3880" cy="2688"/>
            </a:xfrm>
          </p:grpSpPr>
          <p:grpSp>
            <p:nvGrpSpPr>
              <p:cNvPr id="47117" name="Group 15">
                <a:extLst>
                  <a:ext uri="{FF2B5EF4-FFF2-40B4-BE49-F238E27FC236}">
                    <a16:creationId xmlns:a16="http://schemas.microsoft.com/office/drawing/2014/main" id="{E1C0F8F9-B37A-5E60-BDB6-77660C8BE9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76" cy="384"/>
                <a:chOff x="0" y="0"/>
                <a:chExt cx="776" cy="384"/>
              </a:xfrm>
            </p:grpSpPr>
            <p:sp>
              <p:nvSpPr>
                <p:cNvPr id="47220" name="Rectangle 16">
                  <a:extLst>
                    <a:ext uri="{FF2B5EF4-FFF2-40B4-BE49-F238E27FC236}">
                      <a16:creationId xmlns:a16="http://schemas.microsoft.com/office/drawing/2014/main" id="{53FD369F-2479-E352-2958-8FBF0E0536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</a:rPr>
                    <a:t>Person</a:t>
                  </a:r>
                </a:p>
              </p:txBody>
            </p:sp>
            <p:sp>
              <p:nvSpPr>
                <p:cNvPr id="47221" name="Rectangle 17">
                  <a:extLst>
                    <a:ext uri="{FF2B5EF4-FFF2-40B4-BE49-F238E27FC236}">
                      <a16:creationId xmlns:a16="http://schemas.microsoft.com/office/drawing/2014/main" id="{90AAA4CD-0E93-ED69-459C-1752065033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18" name="Group 18">
                <a:extLst>
                  <a:ext uri="{FF2B5EF4-FFF2-40B4-BE49-F238E27FC236}">
                    <a16:creationId xmlns:a16="http://schemas.microsoft.com/office/drawing/2014/main" id="{E05F1F2C-0E63-B60B-0A95-56086F0620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0"/>
                <a:ext cx="776" cy="384"/>
                <a:chOff x="776" y="0"/>
                <a:chExt cx="776" cy="384"/>
              </a:xfrm>
            </p:grpSpPr>
            <p:sp>
              <p:nvSpPr>
                <p:cNvPr id="47218" name="Rectangle 19">
                  <a:extLst>
                    <a:ext uri="{FF2B5EF4-FFF2-40B4-BE49-F238E27FC236}">
                      <a16:creationId xmlns:a16="http://schemas.microsoft.com/office/drawing/2014/main" id="{3A7327DC-B365-AE1D-79E3-46DC67DDB2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banana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19" name="Rectangle 20">
                  <a:extLst>
                    <a:ext uri="{FF2B5EF4-FFF2-40B4-BE49-F238E27FC236}">
                      <a16:creationId xmlns:a16="http://schemas.microsoft.com/office/drawing/2014/main" id="{B0C48AB3-7059-2691-5340-8EA46F4EE9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19" name="Group 21">
                <a:extLst>
                  <a:ext uri="{FF2B5EF4-FFF2-40B4-BE49-F238E27FC236}">
                    <a16:creationId xmlns:a16="http://schemas.microsoft.com/office/drawing/2014/main" id="{062F4077-2389-136A-62CC-A4F92B0B8D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0"/>
                <a:ext cx="776" cy="384"/>
                <a:chOff x="1552" y="0"/>
                <a:chExt cx="776" cy="384"/>
              </a:xfrm>
            </p:grpSpPr>
            <p:sp>
              <p:nvSpPr>
                <p:cNvPr id="47216" name="Rectangle 22">
                  <a:extLst>
                    <a:ext uri="{FF2B5EF4-FFF2-40B4-BE49-F238E27FC236}">
                      <a16:creationId xmlns:a16="http://schemas.microsoft.com/office/drawing/2014/main" id="{15FEFB7B-01C5-973A-86D8-150F12BB15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coffee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17" name="Rectangle 23">
                  <a:extLst>
                    <a:ext uri="{FF2B5EF4-FFF2-40B4-BE49-F238E27FC236}">
                      <a16:creationId xmlns:a16="http://schemas.microsoft.com/office/drawing/2014/main" id="{2916AE1C-3476-6E18-60B8-C4E9AE7C01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0" name="Group 24">
                <a:extLst>
                  <a:ext uri="{FF2B5EF4-FFF2-40B4-BE49-F238E27FC236}">
                    <a16:creationId xmlns:a16="http://schemas.microsoft.com/office/drawing/2014/main" id="{E87C6A99-0F1A-AE6E-8B97-B0E0D7741D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0"/>
                <a:ext cx="776" cy="384"/>
                <a:chOff x="2328" y="0"/>
                <a:chExt cx="776" cy="384"/>
              </a:xfrm>
            </p:grpSpPr>
            <p:sp>
              <p:nvSpPr>
                <p:cNvPr id="47214" name="Rectangle 25">
                  <a:extLst>
                    <a:ext uri="{FF2B5EF4-FFF2-40B4-BE49-F238E27FC236}">
                      <a16:creationId xmlns:a16="http://schemas.microsoft.com/office/drawing/2014/main" id="{77C80A48-1015-1ACF-813F-23A0D767A8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milk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15" name="Rectangle 26">
                  <a:extLst>
                    <a:ext uri="{FF2B5EF4-FFF2-40B4-BE49-F238E27FC236}">
                      <a16:creationId xmlns:a16="http://schemas.microsoft.com/office/drawing/2014/main" id="{AA11DF47-F7DF-6903-CFF3-217418B8FB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1" name="Group 27">
                <a:extLst>
                  <a:ext uri="{FF2B5EF4-FFF2-40B4-BE49-F238E27FC236}">
                    <a16:creationId xmlns:a16="http://schemas.microsoft.com/office/drawing/2014/main" id="{7D715BF6-3955-0C3E-7E54-6F3626876A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0"/>
                <a:ext cx="776" cy="384"/>
                <a:chOff x="3104" y="0"/>
                <a:chExt cx="776" cy="384"/>
              </a:xfrm>
            </p:grpSpPr>
            <p:sp>
              <p:nvSpPr>
                <p:cNvPr id="47212" name="Rectangle 28">
                  <a:extLst>
                    <a:ext uri="{FF2B5EF4-FFF2-40B4-BE49-F238E27FC236}">
                      <a16:creationId xmlns:a16="http://schemas.microsoft.com/office/drawing/2014/main" id="{E289A2A3-D783-C0F9-138B-D914607141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chicken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13" name="Rectangle 29">
                  <a:extLst>
                    <a:ext uri="{FF2B5EF4-FFF2-40B4-BE49-F238E27FC236}">
                      <a16:creationId xmlns:a16="http://schemas.microsoft.com/office/drawing/2014/main" id="{96082B65-C6DC-9BF2-875E-81E3F5E932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2" name="Group 30">
                <a:extLst>
                  <a:ext uri="{FF2B5EF4-FFF2-40B4-BE49-F238E27FC236}">
                    <a16:creationId xmlns:a16="http://schemas.microsoft.com/office/drawing/2014/main" id="{2CC14385-2C84-32D0-376B-8894604E34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84"/>
                <a:ext cx="776" cy="384"/>
                <a:chOff x="0" y="384"/>
                <a:chExt cx="776" cy="384"/>
              </a:xfrm>
            </p:grpSpPr>
            <p:sp>
              <p:nvSpPr>
                <p:cNvPr id="47210" name="Rectangle 31">
                  <a:extLst>
                    <a:ext uri="{FF2B5EF4-FFF2-40B4-BE49-F238E27FC236}">
                      <a16:creationId xmlns:a16="http://schemas.microsoft.com/office/drawing/2014/main" id="{9ADC8B6D-ED0F-91B9-FE2E-5B2ABFC656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a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11" name="Rectangle 32">
                  <a:extLst>
                    <a:ext uri="{FF2B5EF4-FFF2-40B4-BE49-F238E27FC236}">
                      <a16:creationId xmlns:a16="http://schemas.microsoft.com/office/drawing/2014/main" id="{FDD5D673-7ADF-9851-78C2-1111758345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3" name="Group 33">
                <a:extLst>
                  <a:ext uri="{FF2B5EF4-FFF2-40B4-BE49-F238E27FC236}">
                    <a16:creationId xmlns:a16="http://schemas.microsoft.com/office/drawing/2014/main" id="{363F408E-22F9-E929-159B-052E1A4A88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384"/>
                <a:ext cx="776" cy="384"/>
                <a:chOff x="776" y="384"/>
                <a:chExt cx="776" cy="384"/>
              </a:xfrm>
            </p:grpSpPr>
            <p:sp>
              <p:nvSpPr>
                <p:cNvPr id="47208" name="Rectangle 34">
                  <a:extLst>
                    <a:ext uri="{FF2B5EF4-FFF2-40B4-BE49-F238E27FC236}">
                      <a16:creationId xmlns:a16="http://schemas.microsoft.com/office/drawing/2014/main" id="{1598D61C-C0F6-DD53-23B4-6CAD11078A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09" name="Rectangle 35">
                  <a:extLst>
                    <a:ext uri="{FF2B5EF4-FFF2-40B4-BE49-F238E27FC236}">
                      <a16:creationId xmlns:a16="http://schemas.microsoft.com/office/drawing/2014/main" id="{7C0AAEB2-C700-915E-9306-BB179BBB32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4" name="Group 36">
                <a:extLst>
                  <a:ext uri="{FF2B5EF4-FFF2-40B4-BE49-F238E27FC236}">
                    <a16:creationId xmlns:a16="http://schemas.microsoft.com/office/drawing/2014/main" id="{1618B230-D826-CDA0-8D33-63B2ED3473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384"/>
                <a:ext cx="776" cy="384"/>
                <a:chOff x="1552" y="384"/>
                <a:chExt cx="776" cy="384"/>
              </a:xfrm>
            </p:grpSpPr>
            <p:sp>
              <p:nvSpPr>
                <p:cNvPr id="47206" name="Rectangle 37">
                  <a:extLst>
                    <a:ext uri="{FF2B5EF4-FFF2-40B4-BE49-F238E27FC236}">
                      <a16:creationId xmlns:a16="http://schemas.microsoft.com/office/drawing/2014/main" id="{9D8C3435-5E45-3B66-8A08-CD1DF606DE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07" name="Rectangle 38">
                  <a:extLst>
                    <a:ext uri="{FF2B5EF4-FFF2-40B4-BE49-F238E27FC236}">
                      <a16:creationId xmlns:a16="http://schemas.microsoft.com/office/drawing/2014/main" id="{220D8BD5-C697-121A-E79A-F0714E3EA8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5" name="Group 39">
                <a:extLst>
                  <a:ext uri="{FF2B5EF4-FFF2-40B4-BE49-F238E27FC236}">
                    <a16:creationId xmlns:a16="http://schemas.microsoft.com/office/drawing/2014/main" id="{6278B6FB-F237-9148-F952-B85C51DDD5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384"/>
                <a:ext cx="776" cy="384"/>
                <a:chOff x="2328" y="384"/>
                <a:chExt cx="776" cy="384"/>
              </a:xfrm>
            </p:grpSpPr>
            <p:sp>
              <p:nvSpPr>
                <p:cNvPr id="47204" name="Rectangle 40">
                  <a:extLst>
                    <a:ext uri="{FF2B5EF4-FFF2-40B4-BE49-F238E27FC236}">
                      <a16:creationId xmlns:a16="http://schemas.microsoft.com/office/drawing/2014/main" id="{0C097027-FD83-BC14-EAAA-08294826FB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05" name="Rectangle 41">
                  <a:extLst>
                    <a:ext uri="{FF2B5EF4-FFF2-40B4-BE49-F238E27FC236}">
                      <a16:creationId xmlns:a16="http://schemas.microsoft.com/office/drawing/2014/main" id="{26F3B44B-221A-8671-F74D-49B7540AA3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6" name="Group 42">
                <a:extLst>
                  <a:ext uri="{FF2B5EF4-FFF2-40B4-BE49-F238E27FC236}">
                    <a16:creationId xmlns:a16="http://schemas.microsoft.com/office/drawing/2014/main" id="{B7B56B8F-744E-BF6D-5DAC-DA2FC7DF53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384"/>
                <a:ext cx="776" cy="384"/>
                <a:chOff x="3104" y="384"/>
                <a:chExt cx="776" cy="384"/>
              </a:xfrm>
            </p:grpSpPr>
            <p:sp>
              <p:nvSpPr>
                <p:cNvPr id="47202" name="Rectangle 43">
                  <a:extLst>
                    <a:ext uri="{FF2B5EF4-FFF2-40B4-BE49-F238E27FC236}">
                      <a16:creationId xmlns:a16="http://schemas.microsoft.com/office/drawing/2014/main" id="{6898FCA6-527D-7D19-D115-30BCDCCA56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03" name="Rectangle 44">
                  <a:extLst>
                    <a:ext uri="{FF2B5EF4-FFF2-40B4-BE49-F238E27FC236}">
                      <a16:creationId xmlns:a16="http://schemas.microsoft.com/office/drawing/2014/main" id="{8433A996-73E0-C734-2A22-C7DBAA8B42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7" name="Group 45">
                <a:extLst>
                  <a:ext uri="{FF2B5EF4-FFF2-40B4-BE49-F238E27FC236}">
                    <a16:creationId xmlns:a16="http://schemas.microsoft.com/office/drawing/2014/main" id="{CEA5D18F-B4D4-84DC-D7FD-A5F0726B50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68"/>
                <a:ext cx="776" cy="384"/>
                <a:chOff x="0" y="768"/>
                <a:chExt cx="776" cy="384"/>
              </a:xfrm>
            </p:grpSpPr>
            <p:sp>
              <p:nvSpPr>
                <p:cNvPr id="47200" name="Rectangle 46">
                  <a:extLst>
                    <a:ext uri="{FF2B5EF4-FFF2-40B4-BE49-F238E27FC236}">
                      <a16:creationId xmlns:a16="http://schemas.microsoft.com/office/drawing/2014/main" id="{CD55038E-18F5-27F3-0B8B-BDC4FE9F6C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b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01" name="Rectangle 47">
                  <a:extLst>
                    <a:ext uri="{FF2B5EF4-FFF2-40B4-BE49-F238E27FC236}">
                      <a16:creationId xmlns:a16="http://schemas.microsoft.com/office/drawing/2014/main" id="{2FA57087-B5E5-2701-DC79-B2A283A2DB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8" name="Group 48">
                <a:extLst>
                  <a:ext uri="{FF2B5EF4-FFF2-40B4-BE49-F238E27FC236}">
                    <a16:creationId xmlns:a16="http://schemas.microsoft.com/office/drawing/2014/main" id="{634EC620-370B-7399-AAA8-64503E78EE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768"/>
                <a:ext cx="776" cy="384"/>
                <a:chOff x="776" y="768"/>
                <a:chExt cx="776" cy="384"/>
              </a:xfrm>
            </p:grpSpPr>
            <p:sp>
              <p:nvSpPr>
                <p:cNvPr id="47198" name="Rectangle 49">
                  <a:extLst>
                    <a:ext uri="{FF2B5EF4-FFF2-40B4-BE49-F238E27FC236}">
                      <a16:creationId xmlns:a16="http://schemas.microsoft.com/office/drawing/2014/main" id="{A21FAA06-5540-FE86-4430-10950C1EB0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99" name="Rectangle 50">
                  <a:extLst>
                    <a:ext uri="{FF2B5EF4-FFF2-40B4-BE49-F238E27FC236}">
                      <a16:creationId xmlns:a16="http://schemas.microsoft.com/office/drawing/2014/main" id="{A5F008A2-FBD7-7B18-48F0-C4663FA1CC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9" name="Group 51">
                <a:extLst>
                  <a:ext uri="{FF2B5EF4-FFF2-40B4-BE49-F238E27FC236}">
                    <a16:creationId xmlns:a16="http://schemas.microsoft.com/office/drawing/2014/main" id="{B0601734-A1A1-93C5-6CA5-745550EA77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768"/>
                <a:ext cx="776" cy="384"/>
                <a:chOff x="1552" y="768"/>
                <a:chExt cx="776" cy="384"/>
              </a:xfrm>
            </p:grpSpPr>
            <p:sp>
              <p:nvSpPr>
                <p:cNvPr id="47196" name="Rectangle 52">
                  <a:extLst>
                    <a:ext uri="{FF2B5EF4-FFF2-40B4-BE49-F238E27FC236}">
                      <a16:creationId xmlns:a16="http://schemas.microsoft.com/office/drawing/2014/main" id="{BE93C9A6-F4E5-7826-24DB-5888C60FDC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97" name="Rectangle 53">
                  <a:extLst>
                    <a:ext uri="{FF2B5EF4-FFF2-40B4-BE49-F238E27FC236}">
                      <a16:creationId xmlns:a16="http://schemas.microsoft.com/office/drawing/2014/main" id="{1EB48445-DEC1-C900-A510-C213716F74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0" name="Group 54">
                <a:extLst>
                  <a:ext uri="{FF2B5EF4-FFF2-40B4-BE49-F238E27FC236}">
                    <a16:creationId xmlns:a16="http://schemas.microsoft.com/office/drawing/2014/main" id="{8FFBDD4D-54BE-A3A6-7A55-1934F05F1B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768"/>
                <a:ext cx="776" cy="384"/>
                <a:chOff x="2328" y="768"/>
                <a:chExt cx="776" cy="384"/>
              </a:xfrm>
            </p:grpSpPr>
            <p:sp>
              <p:nvSpPr>
                <p:cNvPr id="47194" name="Rectangle 55">
                  <a:extLst>
                    <a:ext uri="{FF2B5EF4-FFF2-40B4-BE49-F238E27FC236}">
                      <a16:creationId xmlns:a16="http://schemas.microsoft.com/office/drawing/2014/main" id="{CB138352-FB89-D81A-5817-914B6FF2E2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95" name="Rectangle 56">
                  <a:extLst>
                    <a:ext uri="{FF2B5EF4-FFF2-40B4-BE49-F238E27FC236}">
                      <a16:creationId xmlns:a16="http://schemas.microsoft.com/office/drawing/2014/main" id="{FA6E1B93-6D62-E23A-6CE4-EE1472152A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1" name="Group 57">
                <a:extLst>
                  <a:ext uri="{FF2B5EF4-FFF2-40B4-BE49-F238E27FC236}">
                    <a16:creationId xmlns:a16="http://schemas.microsoft.com/office/drawing/2014/main" id="{09C32EC0-3E4C-A821-0E70-CC02DDF411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768"/>
                <a:ext cx="776" cy="384"/>
                <a:chOff x="3104" y="768"/>
                <a:chExt cx="776" cy="384"/>
              </a:xfrm>
            </p:grpSpPr>
            <p:sp>
              <p:nvSpPr>
                <p:cNvPr id="47192" name="Rectangle 58">
                  <a:extLst>
                    <a:ext uri="{FF2B5EF4-FFF2-40B4-BE49-F238E27FC236}">
                      <a16:creationId xmlns:a16="http://schemas.microsoft.com/office/drawing/2014/main" id="{8D746416-4442-4357-9B13-BC6D5ED63E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93" name="Rectangle 59">
                  <a:extLst>
                    <a:ext uri="{FF2B5EF4-FFF2-40B4-BE49-F238E27FC236}">
                      <a16:creationId xmlns:a16="http://schemas.microsoft.com/office/drawing/2014/main" id="{61E826FA-4D24-4975-975A-5A2DCEEF49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2" name="Group 60">
                <a:extLst>
                  <a:ext uri="{FF2B5EF4-FFF2-40B4-BE49-F238E27FC236}">
                    <a16:creationId xmlns:a16="http://schemas.microsoft.com/office/drawing/2014/main" id="{D2BF7AF6-69E7-E226-B8D7-6EFEF7C4E8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52"/>
                <a:ext cx="776" cy="384"/>
                <a:chOff x="0" y="1152"/>
                <a:chExt cx="776" cy="384"/>
              </a:xfrm>
            </p:grpSpPr>
            <p:sp>
              <p:nvSpPr>
                <p:cNvPr id="47190" name="Rectangle 61">
                  <a:extLst>
                    <a:ext uri="{FF2B5EF4-FFF2-40B4-BE49-F238E27FC236}">
                      <a16:creationId xmlns:a16="http://schemas.microsoft.com/office/drawing/2014/main" id="{6364D556-9168-62A0-8299-2A8C5A4009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c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91" name="Rectangle 62">
                  <a:extLst>
                    <a:ext uri="{FF2B5EF4-FFF2-40B4-BE49-F238E27FC236}">
                      <a16:creationId xmlns:a16="http://schemas.microsoft.com/office/drawing/2014/main" id="{E5F28566-50DA-6249-C43B-855686E1FC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3" name="Group 63">
                <a:extLst>
                  <a:ext uri="{FF2B5EF4-FFF2-40B4-BE49-F238E27FC236}">
                    <a16:creationId xmlns:a16="http://schemas.microsoft.com/office/drawing/2014/main" id="{1496AB85-AFAA-34C8-4D41-2392C11167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1152"/>
                <a:ext cx="776" cy="384"/>
                <a:chOff x="776" y="1152"/>
                <a:chExt cx="776" cy="384"/>
              </a:xfrm>
            </p:grpSpPr>
            <p:sp>
              <p:nvSpPr>
                <p:cNvPr id="47188" name="Rectangle 64">
                  <a:extLst>
                    <a:ext uri="{FF2B5EF4-FFF2-40B4-BE49-F238E27FC236}">
                      <a16:creationId xmlns:a16="http://schemas.microsoft.com/office/drawing/2014/main" id="{25E12125-9EDD-AD8A-E7BA-5F1DD65990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89" name="Rectangle 65">
                  <a:extLst>
                    <a:ext uri="{FF2B5EF4-FFF2-40B4-BE49-F238E27FC236}">
                      <a16:creationId xmlns:a16="http://schemas.microsoft.com/office/drawing/2014/main" id="{7A0BE07B-4106-5F16-4E55-934434D1E9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4" name="Group 66">
                <a:extLst>
                  <a:ext uri="{FF2B5EF4-FFF2-40B4-BE49-F238E27FC236}">
                    <a16:creationId xmlns:a16="http://schemas.microsoft.com/office/drawing/2014/main" id="{C801040E-0209-9D44-9857-83C57F26F2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1152"/>
                <a:ext cx="776" cy="384"/>
                <a:chOff x="1552" y="1152"/>
                <a:chExt cx="776" cy="384"/>
              </a:xfrm>
            </p:grpSpPr>
            <p:sp>
              <p:nvSpPr>
                <p:cNvPr id="47186" name="Rectangle 67">
                  <a:extLst>
                    <a:ext uri="{FF2B5EF4-FFF2-40B4-BE49-F238E27FC236}">
                      <a16:creationId xmlns:a16="http://schemas.microsoft.com/office/drawing/2014/main" id="{EB3C9493-675B-2424-B569-8859B25482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87" name="Rectangle 68">
                  <a:extLst>
                    <a:ext uri="{FF2B5EF4-FFF2-40B4-BE49-F238E27FC236}">
                      <a16:creationId xmlns:a16="http://schemas.microsoft.com/office/drawing/2014/main" id="{4CCC458C-B6DF-57C1-6B58-D037656CC6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5" name="Group 69">
                <a:extLst>
                  <a:ext uri="{FF2B5EF4-FFF2-40B4-BE49-F238E27FC236}">
                    <a16:creationId xmlns:a16="http://schemas.microsoft.com/office/drawing/2014/main" id="{2021BC5B-45CB-C63C-5AFF-C4E0D0B19C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1152"/>
                <a:ext cx="776" cy="384"/>
                <a:chOff x="2328" y="1152"/>
                <a:chExt cx="776" cy="384"/>
              </a:xfrm>
            </p:grpSpPr>
            <p:sp>
              <p:nvSpPr>
                <p:cNvPr id="47184" name="Rectangle 70">
                  <a:extLst>
                    <a:ext uri="{FF2B5EF4-FFF2-40B4-BE49-F238E27FC236}">
                      <a16:creationId xmlns:a16="http://schemas.microsoft.com/office/drawing/2014/main" id="{EE9B2A23-718B-BD5E-BCEF-1117611451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85" name="Rectangle 71">
                  <a:extLst>
                    <a:ext uri="{FF2B5EF4-FFF2-40B4-BE49-F238E27FC236}">
                      <a16:creationId xmlns:a16="http://schemas.microsoft.com/office/drawing/2014/main" id="{3D12C06C-1E41-A9CB-03B5-20CCD3E97F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6" name="Group 72">
                <a:extLst>
                  <a:ext uri="{FF2B5EF4-FFF2-40B4-BE49-F238E27FC236}">
                    <a16:creationId xmlns:a16="http://schemas.microsoft.com/office/drawing/2014/main" id="{805C120E-13C4-969B-53C7-2E7A3B9C75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1152"/>
                <a:ext cx="776" cy="384"/>
                <a:chOff x="3104" y="1152"/>
                <a:chExt cx="776" cy="384"/>
              </a:xfrm>
            </p:grpSpPr>
            <p:sp>
              <p:nvSpPr>
                <p:cNvPr id="47182" name="Rectangle 73">
                  <a:extLst>
                    <a:ext uri="{FF2B5EF4-FFF2-40B4-BE49-F238E27FC236}">
                      <a16:creationId xmlns:a16="http://schemas.microsoft.com/office/drawing/2014/main" id="{A95DA233-6BB2-A6E2-7850-A0AE2A3EB0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83" name="Rectangle 74">
                  <a:extLst>
                    <a:ext uri="{FF2B5EF4-FFF2-40B4-BE49-F238E27FC236}">
                      <a16:creationId xmlns:a16="http://schemas.microsoft.com/office/drawing/2014/main" id="{7C15BC93-5313-B19A-F7B3-C4FBE65C2C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7" name="Group 75">
                <a:extLst>
                  <a:ext uri="{FF2B5EF4-FFF2-40B4-BE49-F238E27FC236}">
                    <a16:creationId xmlns:a16="http://schemas.microsoft.com/office/drawing/2014/main" id="{5045E12B-2AEF-D4FA-2D58-1402A25091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536"/>
                <a:ext cx="776" cy="384"/>
                <a:chOff x="0" y="1536"/>
                <a:chExt cx="776" cy="384"/>
              </a:xfrm>
            </p:grpSpPr>
            <p:sp>
              <p:nvSpPr>
                <p:cNvPr id="47180" name="Rectangle 76">
                  <a:extLst>
                    <a:ext uri="{FF2B5EF4-FFF2-40B4-BE49-F238E27FC236}">
                      <a16:creationId xmlns:a16="http://schemas.microsoft.com/office/drawing/2014/main" id="{CE4B994C-1FEE-729D-5015-44139B9D83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d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81" name="Rectangle 77">
                  <a:extLst>
                    <a:ext uri="{FF2B5EF4-FFF2-40B4-BE49-F238E27FC236}">
                      <a16:creationId xmlns:a16="http://schemas.microsoft.com/office/drawing/2014/main" id="{7FF82AF0-A9F4-A325-2EA9-E773F492B8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8" name="Group 78">
                <a:extLst>
                  <a:ext uri="{FF2B5EF4-FFF2-40B4-BE49-F238E27FC236}">
                    <a16:creationId xmlns:a16="http://schemas.microsoft.com/office/drawing/2014/main" id="{89C1FAA3-5927-4E8A-2F8F-DE32A470C8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1536"/>
                <a:ext cx="776" cy="384"/>
                <a:chOff x="776" y="1536"/>
                <a:chExt cx="776" cy="384"/>
              </a:xfrm>
            </p:grpSpPr>
            <p:sp>
              <p:nvSpPr>
                <p:cNvPr id="47178" name="Rectangle 79">
                  <a:extLst>
                    <a:ext uri="{FF2B5EF4-FFF2-40B4-BE49-F238E27FC236}">
                      <a16:creationId xmlns:a16="http://schemas.microsoft.com/office/drawing/2014/main" id="{281B9662-7601-015F-F2D7-7C9E40F756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79" name="Rectangle 80">
                  <a:extLst>
                    <a:ext uri="{FF2B5EF4-FFF2-40B4-BE49-F238E27FC236}">
                      <a16:creationId xmlns:a16="http://schemas.microsoft.com/office/drawing/2014/main" id="{07EFEE5F-AD6D-31C7-C751-E8A9B7281E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9" name="Group 81">
                <a:extLst>
                  <a:ext uri="{FF2B5EF4-FFF2-40B4-BE49-F238E27FC236}">
                    <a16:creationId xmlns:a16="http://schemas.microsoft.com/office/drawing/2014/main" id="{218EEC83-E5CA-E847-0910-166CAB7DF7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1536"/>
                <a:ext cx="776" cy="384"/>
                <a:chOff x="1552" y="1536"/>
                <a:chExt cx="776" cy="384"/>
              </a:xfrm>
            </p:grpSpPr>
            <p:sp>
              <p:nvSpPr>
                <p:cNvPr id="47176" name="Rectangle 82">
                  <a:extLst>
                    <a:ext uri="{FF2B5EF4-FFF2-40B4-BE49-F238E27FC236}">
                      <a16:creationId xmlns:a16="http://schemas.microsoft.com/office/drawing/2014/main" id="{E30A2FC5-91AD-34B4-C30D-61ED406BE7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77" name="Rectangle 83">
                  <a:extLst>
                    <a:ext uri="{FF2B5EF4-FFF2-40B4-BE49-F238E27FC236}">
                      <a16:creationId xmlns:a16="http://schemas.microsoft.com/office/drawing/2014/main" id="{39682091-B51C-BFF4-4F12-1BD116C5A8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0" name="Group 84">
                <a:extLst>
                  <a:ext uri="{FF2B5EF4-FFF2-40B4-BE49-F238E27FC236}">
                    <a16:creationId xmlns:a16="http://schemas.microsoft.com/office/drawing/2014/main" id="{3A0DA266-51C4-9BD0-9BD0-4FAE78DAD9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1536"/>
                <a:ext cx="776" cy="384"/>
                <a:chOff x="2328" y="1536"/>
                <a:chExt cx="776" cy="384"/>
              </a:xfrm>
            </p:grpSpPr>
            <p:sp>
              <p:nvSpPr>
                <p:cNvPr id="47174" name="Rectangle 85">
                  <a:extLst>
                    <a:ext uri="{FF2B5EF4-FFF2-40B4-BE49-F238E27FC236}">
                      <a16:creationId xmlns:a16="http://schemas.microsoft.com/office/drawing/2014/main" id="{E7AC5093-C7FB-2415-9C42-1E43B561D1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75" name="Rectangle 86">
                  <a:extLst>
                    <a:ext uri="{FF2B5EF4-FFF2-40B4-BE49-F238E27FC236}">
                      <a16:creationId xmlns:a16="http://schemas.microsoft.com/office/drawing/2014/main" id="{681153C7-5E40-23CB-A33E-F45E239E78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1" name="Group 87">
                <a:extLst>
                  <a:ext uri="{FF2B5EF4-FFF2-40B4-BE49-F238E27FC236}">
                    <a16:creationId xmlns:a16="http://schemas.microsoft.com/office/drawing/2014/main" id="{6D4DE0C7-96C3-BE89-23F7-64768657D5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1536"/>
                <a:ext cx="776" cy="384"/>
                <a:chOff x="3104" y="1536"/>
                <a:chExt cx="776" cy="384"/>
              </a:xfrm>
            </p:grpSpPr>
            <p:sp>
              <p:nvSpPr>
                <p:cNvPr id="47172" name="Rectangle 88">
                  <a:extLst>
                    <a:ext uri="{FF2B5EF4-FFF2-40B4-BE49-F238E27FC236}">
                      <a16:creationId xmlns:a16="http://schemas.microsoft.com/office/drawing/2014/main" id="{8453044A-63F2-943F-BBB7-92B07D0162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73" name="Rectangle 89">
                  <a:extLst>
                    <a:ext uri="{FF2B5EF4-FFF2-40B4-BE49-F238E27FC236}">
                      <a16:creationId xmlns:a16="http://schemas.microsoft.com/office/drawing/2014/main" id="{40A0D985-244A-B065-467A-F205719A57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2" name="Group 90">
                <a:extLst>
                  <a:ext uri="{FF2B5EF4-FFF2-40B4-BE49-F238E27FC236}">
                    <a16:creationId xmlns:a16="http://schemas.microsoft.com/office/drawing/2014/main" id="{4FF1848F-4BA0-15AF-3939-87E2397350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0"/>
                <a:ext cx="776" cy="384"/>
                <a:chOff x="0" y="1920"/>
                <a:chExt cx="776" cy="384"/>
              </a:xfrm>
            </p:grpSpPr>
            <p:sp>
              <p:nvSpPr>
                <p:cNvPr id="47170" name="Rectangle 91">
                  <a:extLst>
                    <a:ext uri="{FF2B5EF4-FFF2-40B4-BE49-F238E27FC236}">
                      <a16:creationId xmlns:a16="http://schemas.microsoft.com/office/drawing/2014/main" id="{C9535163-1F7F-5A7E-A5D7-679EBE0905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e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71" name="Rectangle 92">
                  <a:extLst>
                    <a:ext uri="{FF2B5EF4-FFF2-40B4-BE49-F238E27FC236}">
                      <a16:creationId xmlns:a16="http://schemas.microsoft.com/office/drawing/2014/main" id="{124BEF83-E825-DA81-C025-D74C7105B8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3" name="Group 93">
                <a:extLst>
                  <a:ext uri="{FF2B5EF4-FFF2-40B4-BE49-F238E27FC236}">
                    <a16:creationId xmlns:a16="http://schemas.microsoft.com/office/drawing/2014/main" id="{9C00BE3D-243F-60C5-9D49-74B14F9CE7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1920"/>
                <a:ext cx="776" cy="384"/>
                <a:chOff x="776" y="1920"/>
                <a:chExt cx="776" cy="384"/>
              </a:xfrm>
            </p:grpSpPr>
            <p:sp>
              <p:nvSpPr>
                <p:cNvPr id="47168" name="Rectangle 94">
                  <a:extLst>
                    <a:ext uri="{FF2B5EF4-FFF2-40B4-BE49-F238E27FC236}">
                      <a16:creationId xmlns:a16="http://schemas.microsoft.com/office/drawing/2014/main" id="{FF81BE82-A6DC-4AC1-E65D-77C29E979B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69" name="Rectangle 95">
                  <a:extLst>
                    <a:ext uri="{FF2B5EF4-FFF2-40B4-BE49-F238E27FC236}">
                      <a16:creationId xmlns:a16="http://schemas.microsoft.com/office/drawing/2014/main" id="{9D0ED051-4ABA-E4EE-0CE4-04C53BC3B5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4" name="Group 96">
                <a:extLst>
                  <a:ext uri="{FF2B5EF4-FFF2-40B4-BE49-F238E27FC236}">
                    <a16:creationId xmlns:a16="http://schemas.microsoft.com/office/drawing/2014/main" id="{747FBC5A-88CF-0EDF-11C8-D24D3AD48C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1920"/>
                <a:ext cx="776" cy="384"/>
                <a:chOff x="1552" y="1920"/>
                <a:chExt cx="776" cy="384"/>
              </a:xfrm>
            </p:grpSpPr>
            <p:sp>
              <p:nvSpPr>
                <p:cNvPr id="47166" name="Rectangle 97">
                  <a:extLst>
                    <a:ext uri="{FF2B5EF4-FFF2-40B4-BE49-F238E27FC236}">
                      <a16:creationId xmlns:a16="http://schemas.microsoft.com/office/drawing/2014/main" id="{9188CFA4-F95A-1989-AAE9-54063D9811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67" name="Rectangle 98">
                  <a:extLst>
                    <a:ext uri="{FF2B5EF4-FFF2-40B4-BE49-F238E27FC236}">
                      <a16:creationId xmlns:a16="http://schemas.microsoft.com/office/drawing/2014/main" id="{DCBEFF0D-DB50-246B-22C4-FE2D474900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5" name="Group 99">
                <a:extLst>
                  <a:ext uri="{FF2B5EF4-FFF2-40B4-BE49-F238E27FC236}">
                    <a16:creationId xmlns:a16="http://schemas.microsoft.com/office/drawing/2014/main" id="{A0842954-EAB0-482D-A7A0-791F427862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1920"/>
                <a:ext cx="776" cy="384"/>
                <a:chOff x="2328" y="1920"/>
                <a:chExt cx="776" cy="384"/>
              </a:xfrm>
            </p:grpSpPr>
            <p:sp>
              <p:nvSpPr>
                <p:cNvPr id="47164" name="Rectangle 100">
                  <a:extLst>
                    <a:ext uri="{FF2B5EF4-FFF2-40B4-BE49-F238E27FC236}">
                      <a16:creationId xmlns:a16="http://schemas.microsoft.com/office/drawing/2014/main" id="{93DE9F5A-3C63-3C7C-2A45-20FA41B729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65" name="Rectangle 101">
                  <a:extLst>
                    <a:ext uri="{FF2B5EF4-FFF2-40B4-BE49-F238E27FC236}">
                      <a16:creationId xmlns:a16="http://schemas.microsoft.com/office/drawing/2014/main" id="{82F676D2-ECD6-CF80-0088-5E89B6AACA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6" name="Group 102">
                <a:extLst>
                  <a:ext uri="{FF2B5EF4-FFF2-40B4-BE49-F238E27FC236}">
                    <a16:creationId xmlns:a16="http://schemas.microsoft.com/office/drawing/2014/main" id="{D326379E-CA62-3A83-620A-56E271101B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1920"/>
                <a:ext cx="776" cy="384"/>
                <a:chOff x="3104" y="1920"/>
                <a:chExt cx="776" cy="384"/>
              </a:xfrm>
            </p:grpSpPr>
            <p:sp>
              <p:nvSpPr>
                <p:cNvPr id="47162" name="Rectangle 103">
                  <a:extLst>
                    <a:ext uri="{FF2B5EF4-FFF2-40B4-BE49-F238E27FC236}">
                      <a16:creationId xmlns:a16="http://schemas.microsoft.com/office/drawing/2014/main" id="{79676CF7-C1F6-1657-E7A3-2275CB4CB9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63" name="Rectangle 104">
                  <a:extLst>
                    <a:ext uri="{FF2B5EF4-FFF2-40B4-BE49-F238E27FC236}">
                      <a16:creationId xmlns:a16="http://schemas.microsoft.com/office/drawing/2014/main" id="{46D5998B-50DD-15DE-D0E2-3DAA50BD65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7" name="Group 105">
                <a:extLst>
                  <a:ext uri="{FF2B5EF4-FFF2-40B4-BE49-F238E27FC236}">
                    <a16:creationId xmlns:a16="http://schemas.microsoft.com/office/drawing/2014/main" id="{7B81E0C9-4870-D2DA-9106-A67B1695B3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304"/>
                <a:ext cx="776" cy="384"/>
                <a:chOff x="0" y="2304"/>
                <a:chExt cx="776" cy="384"/>
              </a:xfrm>
            </p:grpSpPr>
            <p:sp>
              <p:nvSpPr>
                <p:cNvPr id="47160" name="Rectangle 106">
                  <a:extLst>
                    <a:ext uri="{FF2B5EF4-FFF2-40B4-BE49-F238E27FC236}">
                      <a16:creationId xmlns:a16="http://schemas.microsoft.com/office/drawing/2014/main" id="{FF969F47-6289-30E7-CB4A-CFE1D57812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f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61" name="Rectangle 107">
                  <a:extLst>
                    <a:ext uri="{FF2B5EF4-FFF2-40B4-BE49-F238E27FC236}">
                      <a16:creationId xmlns:a16="http://schemas.microsoft.com/office/drawing/2014/main" id="{D7DDDC69-7D98-C77B-1468-B7B716461C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8" name="Group 108">
                <a:extLst>
                  <a:ext uri="{FF2B5EF4-FFF2-40B4-BE49-F238E27FC236}">
                    <a16:creationId xmlns:a16="http://schemas.microsoft.com/office/drawing/2014/main" id="{A7E86B2F-AA34-F80B-00EC-62B4DD19DB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2304"/>
                <a:ext cx="776" cy="384"/>
                <a:chOff x="776" y="2304"/>
                <a:chExt cx="776" cy="384"/>
              </a:xfrm>
            </p:grpSpPr>
            <p:sp>
              <p:nvSpPr>
                <p:cNvPr id="47158" name="Rectangle 109">
                  <a:extLst>
                    <a:ext uri="{FF2B5EF4-FFF2-40B4-BE49-F238E27FC236}">
                      <a16:creationId xmlns:a16="http://schemas.microsoft.com/office/drawing/2014/main" id="{9855D831-0C99-43ED-581F-F1C453534B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59" name="Rectangle 110">
                  <a:extLst>
                    <a:ext uri="{FF2B5EF4-FFF2-40B4-BE49-F238E27FC236}">
                      <a16:creationId xmlns:a16="http://schemas.microsoft.com/office/drawing/2014/main" id="{084A4757-5866-0C61-CD03-97FEC58BDF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9" name="Group 111">
                <a:extLst>
                  <a:ext uri="{FF2B5EF4-FFF2-40B4-BE49-F238E27FC236}">
                    <a16:creationId xmlns:a16="http://schemas.microsoft.com/office/drawing/2014/main" id="{5CCD6308-8F89-40C2-A4AE-D906CF3C32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2304"/>
                <a:ext cx="776" cy="384"/>
                <a:chOff x="1552" y="2304"/>
                <a:chExt cx="776" cy="384"/>
              </a:xfrm>
            </p:grpSpPr>
            <p:sp>
              <p:nvSpPr>
                <p:cNvPr id="47156" name="Rectangle 112">
                  <a:extLst>
                    <a:ext uri="{FF2B5EF4-FFF2-40B4-BE49-F238E27FC236}">
                      <a16:creationId xmlns:a16="http://schemas.microsoft.com/office/drawing/2014/main" id="{39457CFC-39ED-DA36-B2C1-2EF1D00473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57" name="Rectangle 113">
                  <a:extLst>
                    <a:ext uri="{FF2B5EF4-FFF2-40B4-BE49-F238E27FC236}">
                      <a16:creationId xmlns:a16="http://schemas.microsoft.com/office/drawing/2014/main" id="{B6EB8C82-544B-4EC5-B5BD-82DDBCE9A9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50" name="Group 114">
                <a:extLst>
                  <a:ext uri="{FF2B5EF4-FFF2-40B4-BE49-F238E27FC236}">
                    <a16:creationId xmlns:a16="http://schemas.microsoft.com/office/drawing/2014/main" id="{8199F75E-4FE2-D8BC-07D0-20F4537372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2304"/>
                <a:ext cx="776" cy="384"/>
                <a:chOff x="2328" y="2304"/>
                <a:chExt cx="776" cy="384"/>
              </a:xfrm>
            </p:grpSpPr>
            <p:sp>
              <p:nvSpPr>
                <p:cNvPr id="47154" name="Rectangle 115">
                  <a:extLst>
                    <a:ext uri="{FF2B5EF4-FFF2-40B4-BE49-F238E27FC236}">
                      <a16:creationId xmlns:a16="http://schemas.microsoft.com/office/drawing/2014/main" id="{48AECEC8-A699-165B-3CA1-49A987B7E3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55" name="Rectangle 116">
                  <a:extLst>
                    <a:ext uri="{FF2B5EF4-FFF2-40B4-BE49-F238E27FC236}">
                      <a16:creationId xmlns:a16="http://schemas.microsoft.com/office/drawing/2014/main" id="{88991ABF-8E8F-AFE3-9DFC-4C28C9C6EA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51" name="Group 117">
                <a:extLst>
                  <a:ext uri="{FF2B5EF4-FFF2-40B4-BE49-F238E27FC236}">
                    <a16:creationId xmlns:a16="http://schemas.microsoft.com/office/drawing/2014/main" id="{9FC0095E-F3F7-8E7A-6261-08DF9AED5D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2304"/>
                <a:ext cx="776" cy="384"/>
                <a:chOff x="3104" y="2304"/>
                <a:chExt cx="776" cy="384"/>
              </a:xfrm>
            </p:grpSpPr>
            <p:sp>
              <p:nvSpPr>
                <p:cNvPr id="47152" name="Rectangle 118">
                  <a:extLst>
                    <a:ext uri="{FF2B5EF4-FFF2-40B4-BE49-F238E27FC236}">
                      <a16:creationId xmlns:a16="http://schemas.microsoft.com/office/drawing/2014/main" id="{394904B2-B7C2-B9FB-2F73-49E7473AFC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53" name="Rectangle 119">
                  <a:extLst>
                    <a:ext uri="{FF2B5EF4-FFF2-40B4-BE49-F238E27FC236}">
                      <a16:creationId xmlns:a16="http://schemas.microsoft.com/office/drawing/2014/main" id="{0DE787A1-71D9-0BBB-CD0F-52621E31E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7116" name="Rectangle 120">
              <a:extLst>
                <a:ext uri="{FF2B5EF4-FFF2-40B4-BE49-F238E27FC236}">
                  <a16:creationId xmlns:a16="http://schemas.microsoft.com/office/drawing/2014/main" id="{1DFAAFBF-3E46-3AD3-5918-8AE965E61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3886" cy="2694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47114" name="Rectangle 123">
            <a:extLst>
              <a:ext uri="{FF2B5EF4-FFF2-40B4-BE49-F238E27FC236}">
                <a16:creationId xmlns:a16="http://schemas.microsoft.com/office/drawing/2014/main" id="{2F41B0E5-5D11-3AB4-831B-086CA7806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057400"/>
            <a:ext cx="6400800" cy="304800"/>
          </a:xfrm>
          <a:prstGeom prst="rect">
            <a:avLst/>
          </a:prstGeom>
          <a:solidFill>
            <a:srgbClr val="92D050">
              <a:alpha val="50195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E858B-6FD0-9A7A-877F-AE5F8D67D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55037108-59A4-029E-3C9D-CF969DF87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091363" cy="815975"/>
          </a:xfrm>
        </p:spPr>
        <p:txBody>
          <a:bodyPr lIns="0" tIns="0" rIns="0" bIns="0"/>
          <a:lstStyle/>
          <a:p>
            <a:pPr algn="l"/>
            <a:r>
              <a:rPr lang="en-AU" altLang="en-US" sz="40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Support and Confidence</a:t>
            </a:r>
            <a:endParaRPr lang="en-US" altLang="en-US" sz="40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47106" name="Picture 7" descr="JCU_Logo_RGB.jpg">
            <a:extLst>
              <a:ext uri="{FF2B5EF4-FFF2-40B4-BE49-F238E27FC236}">
                <a16:creationId xmlns:a16="http://schemas.microsoft.com/office/drawing/2014/main" id="{63B13703-6852-49FE-705B-A6731010F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Line 9">
            <a:extLst>
              <a:ext uri="{FF2B5EF4-FFF2-40B4-BE49-F238E27FC236}">
                <a16:creationId xmlns:a16="http://schemas.microsoft.com/office/drawing/2014/main" id="{67F5201C-9C87-8ABA-2A3A-3591F31319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8" name="Line 10">
            <a:extLst>
              <a:ext uri="{FF2B5EF4-FFF2-40B4-BE49-F238E27FC236}">
                <a16:creationId xmlns:a16="http://schemas.microsoft.com/office/drawing/2014/main" id="{37BF85C8-9DCC-2D87-22DB-BEF8680A5C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9" name="Slide Number Placeholder 126">
            <a:extLst>
              <a:ext uri="{FF2B5EF4-FFF2-40B4-BE49-F238E27FC236}">
                <a16:creationId xmlns:a16="http://schemas.microsoft.com/office/drawing/2014/main" id="{E40CC22F-E111-D547-C94C-06D0440F9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ED26A3-A292-064E-B9D9-85EFA64F787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29" name="Text Box 5">
            <a:extLst>
              <a:ext uri="{FF2B5EF4-FFF2-40B4-BE49-F238E27FC236}">
                <a16:creationId xmlns:a16="http://schemas.microsoft.com/office/drawing/2014/main" id="{42A52B33-4142-AA1A-3A61-7A7B4343C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4086225"/>
            <a:ext cx="860425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altLang="ko-KR" dirty="0">
                <a:latin typeface="+mn-lt"/>
              </a:rPr>
              <a:t>  Association between Coffee and Milk ?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altLang="ko-KR" dirty="0">
                <a:latin typeface="+mn-lt"/>
              </a:rPr>
              <a:t>  Association Rule: Coffee </a:t>
            </a:r>
            <a:r>
              <a:rPr lang="en-US" altLang="ko-KR" dirty="0">
                <a:latin typeface="+mn-lt"/>
                <a:sym typeface="Wingdings" pitchFamily="2" charset="2"/>
              </a:rPr>
              <a:t> Milk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ko-KR" dirty="0">
                <a:latin typeface="+mn-lt"/>
                <a:sym typeface="Wingdings" pitchFamily="2" charset="2"/>
              </a:rPr>
              <a:t> - Support</a:t>
            </a:r>
            <a:r>
              <a:rPr lang="en-US" altLang="ko-KR" dirty="0">
                <a:latin typeface="+mn-lt"/>
              </a:rPr>
              <a:t> = 50%  (Half of all people got both) 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ko-KR" dirty="0">
                <a:latin typeface="+mn-lt"/>
              </a:rPr>
              <a:t> - Confidence = 75% (Of the 4 coffee buyers, 3 also got milk)</a:t>
            </a:r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B34F6FEE-9EBB-5E16-1E55-FC8BBB87B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667000"/>
            <a:ext cx="6400800" cy="914400"/>
          </a:xfrm>
          <a:prstGeom prst="rect">
            <a:avLst/>
          </a:prstGeom>
          <a:solidFill>
            <a:srgbClr val="99CCFF">
              <a:alpha val="50195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400">
              <a:latin typeface="Arial" panose="020B0604020202020204" pitchFamily="34" charset="0"/>
            </a:endParaRPr>
          </a:p>
        </p:txBody>
      </p:sp>
      <p:sp>
        <p:nvSpPr>
          <p:cNvPr id="47112" name="Rectangle 12">
            <a:extLst>
              <a:ext uri="{FF2B5EF4-FFF2-40B4-BE49-F238E27FC236}">
                <a16:creationId xmlns:a16="http://schemas.microsoft.com/office/drawing/2014/main" id="{0E7B940D-2945-1BEE-0884-E1DB0CD12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667000"/>
            <a:ext cx="6400800" cy="914400"/>
          </a:xfrm>
          <a:prstGeom prst="rect">
            <a:avLst/>
          </a:prstGeom>
          <a:solidFill>
            <a:srgbClr val="92D050">
              <a:alpha val="50195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400">
              <a:latin typeface="Arial" panose="020B0604020202020204" pitchFamily="34" charset="0"/>
            </a:endParaRPr>
          </a:p>
        </p:txBody>
      </p:sp>
      <p:grpSp>
        <p:nvGrpSpPr>
          <p:cNvPr id="47113" name="Group 13">
            <a:extLst>
              <a:ext uri="{FF2B5EF4-FFF2-40B4-BE49-F238E27FC236}">
                <a16:creationId xmlns:a16="http://schemas.microsoft.com/office/drawing/2014/main" id="{1F54A42D-5B79-BC4F-9A33-7BF8461F46B0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1447800"/>
            <a:ext cx="6400800" cy="2133600"/>
            <a:chOff x="-3" y="-3"/>
            <a:chExt cx="3886" cy="2694"/>
          </a:xfrm>
        </p:grpSpPr>
        <p:grpSp>
          <p:nvGrpSpPr>
            <p:cNvPr id="47115" name="Group 14">
              <a:extLst>
                <a:ext uri="{FF2B5EF4-FFF2-40B4-BE49-F238E27FC236}">
                  <a16:creationId xmlns:a16="http://schemas.microsoft.com/office/drawing/2014/main" id="{07415A0B-2003-2090-EC92-061D4D093B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880" cy="2688"/>
              <a:chOff x="0" y="0"/>
              <a:chExt cx="3880" cy="2688"/>
            </a:xfrm>
          </p:grpSpPr>
          <p:grpSp>
            <p:nvGrpSpPr>
              <p:cNvPr id="47117" name="Group 15">
                <a:extLst>
                  <a:ext uri="{FF2B5EF4-FFF2-40B4-BE49-F238E27FC236}">
                    <a16:creationId xmlns:a16="http://schemas.microsoft.com/office/drawing/2014/main" id="{F6D19AD0-3E07-EB3D-CF8E-4E9CF14D7E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76" cy="384"/>
                <a:chOff x="0" y="0"/>
                <a:chExt cx="776" cy="384"/>
              </a:xfrm>
            </p:grpSpPr>
            <p:sp>
              <p:nvSpPr>
                <p:cNvPr id="47220" name="Rectangle 16">
                  <a:extLst>
                    <a:ext uri="{FF2B5EF4-FFF2-40B4-BE49-F238E27FC236}">
                      <a16:creationId xmlns:a16="http://schemas.microsoft.com/office/drawing/2014/main" id="{3BA734BB-0314-0641-E353-41320B1E6A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</a:rPr>
                    <a:t>Person</a:t>
                  </a:r>
                </a:p>
              </p:txBody>
            </p:sp>
            <p:sp>
              <p:nvSpPr>
                <p:cNvPr id="47221" name="Rectangle 17">
                  <a:extLst>
                    <a:ext uri="{FF2B5EF4-FFF2-40B4-BE49-F238E27FC236}">
                      <a16:creationId xmlns:a16="http://schemas.microsoft.com/office/drawing/2014/main" id="{31E58145-EFD3-CCCB-6EA9-DAA270ED23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18" name="Group 18">
                <a:extLst>
                  <a:ext uri="{FF2B5EF4-FFF2-40B4-BE49-F238E27FC236}">
                    <a16:creationId xmlns:a16="http://schemas.microsoft.com/office/drawing/2014/main" id="{28B24D2F-F8BC-FD47-641F-2592E872EC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0"/>
                <a:ext cx="776" cy="384"/>
                <a:chOff x="776" y="0"/>
                <a:chExt cx="776" cy="384"/>
              </a:xfrm>
            </p:grpSpPr>
            <p:sp>
              <p:nvSpPr>
                <p:cNvPr id="47218" name="Rectangle 19">
                  <a:extLst>
                    <a:ext uri="{FF2B5EF4-FFF2-40B4-BE49-F238E27FC236}">
                      <a16:creationId xmlns:a16="http://schemas.microsoft.com/office/drawing/2014/main" id="{512E6E44-BDCC-57F2-AA1B-4842284DFD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banana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19" name="Rectangle 20">
                  <a:extLst>
                    <a:ext uri="{FF2B5EF4-FFF2-40B4-BE49-F238E27FC236}">
                      <a16:creationId xmlns:a16="http://schemas.microsoft.com/office/drawing/2014/main" id="{5319A026-6C64-621B-9114-8E0F94E57F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19" name="Group 21">
                <a:extLst>
                  <a:ext uri="{FF2B5EF4-FFF2-40B4-BE49-F238E27FC236}">
                    <a16:creationId xmlns:a16="http://schemas.microsoft.com/office/drawing/2014/main" id="{13E4C34E-725D-3832-A0EF-FCF4AE7EA7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0"/>
                <a:ext cx="776" cy="384"/>
                <a:chOff x="1552" y="0"/>
                <a:chExt cx="776" cy="384"/>
              </a:xfrm>
            </p:grpSpPr>
            <p:sp>
              <p:nvSpPr>
                <p:cNvPr id="47216" name="Rectangle 22">
                  <a:extLst>
                    <a:ext uri="{FF2B5EF4-FFF2-40B4-BE49-F238E27FC236}">
                      <a16:creationId xmlns:a16="http://schemas.microsoft.com/office/drawing/2014/main" id="{A13CA989-506D-DBF1-E2D0-F135673FA6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coffee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17" name="Rectangle 23">
                  <a:extLst>
                    <a:ext uri="{FF2B5EF4-FFF2-40B4-BE49-F238E27FC236}">
                      <a16:creationId xmlns:a16="http://schemas.microsoft.com/office/drawing/2014/main" id="{55C6CF5E-59C3-68C8-28A4-2743914375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0" name="Group 24">
                <a:extLst>
                  <a:ext uri="{FF2B5EF4-FFF2-40B4-BE49-F238E27FC236}">
                    <a16:creationId xmlns:a16="http://schemas.microsoft.com/office/drawing/2014/main" id="{74BEE077-A7AB-337A-13BA-B1B04716EB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0"/>
                <a:ext cx="776" cy="384"/>
                <a:chOff x="2328" y="0"/>
                <a:chExt cx="776" cy="384"/>
              </a:xfrm>
            </p:grpSpPr>
            <p:sp>
              <p:nvSpPr>
                <p:cNvPr id="47214" name="Rectangle 25">
                  <a:extLst>
                    <a:ext uri="{FF2B5EF4-FFF2-40B4-BE49-F238E27FC236}">
                      <a16:creationId xmlns:a16="http://schemas.microsoft.com/office/drawing/2014/main" id="{3559210E-190E-95BB-9493-1F030F911E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milk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15" name="Rectangle 26">
                  <a:extLst>
                    <a:ext uri="{FF2B5EF4-FFF2-40B4-BE49-F238E27FC236}">
                      <a16:creationId xmlns:a16="http://schemas.microsoft.com/office/drawing/2014/main" id="{484DDC04-2CC5-66AC-9A42-004AE1F32A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1" name="Group 27">
                <a:extLst>
                  <a:ext uri="{FF2B5EF4-FFF2-40B4-BE49-F238E27FC236}">
                    <a16:creationId xmlns:a16="http://schemas.microsoft.com/office/drawing/2014/main" id="{3FE36D3E-435D-C835-B943-209AFE649B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0"/>
                <a:ext cx="776" cy="384"/>
                <a:chOff x="3104" y="0"/>
                <a:chExt cx="776" cy="384"/>
              </a:xfrm>
            </p:grpSpPr>
            <p:sp>
              <p:nvSpPr>
                <p:cNvPr id="47212" name="Rectangle 28">
                  <a:extLst>
                    <a:ext uri="{FF2B5EF4-FFF2-40B4-BE49-F238E27FC236}">
                      <a16:creationId xmlns:a16="http://schemas.microsoft.com/office/drawing/2014/main" id="{BCFECD1E-DAF9-C612-8D7B-A3AB1854A0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chicken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13" name="Rectangle 29">
                  <a:extLst>
                    <a:ext uri="{FF2B5EF4-FFF2-40B4-BE49-F238E27FC236}">
                      <a16:creationId xmlns:a16="http://schemas.microsoft.com/office/drawing/2014/main" id="{349CC33F-EF81-F470-9E6F-62DBA7D0FD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2" name="Group 30">
                <a:extLst>
                  <a:ext uri="{FF2B5EF4-FFF2-40B4-BE49-F238E27FC236}">
                    <a16:creationId xmlns:a16="http://schemas.microsoft.com/office/drawing/2014/main" id="{B0050414-2F79-2519-8A82-0C716E4B9E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84"/>
                <a:ext cx="776" cy="384"/>
                <a:chOff x="0" y="384"/>
                <a:chExt cx="776" cy="384"/>
              </a:xfrm>
            </p:grpSpPr>
            <p:sp>
              <p:nvSpPr>
                <p:cNvPr id="47210" name="Rectangle 31">
                  <a:extLst>
                    <a:ext uri="{FF2B5EF4-FFF2-40B4-BE49-F238E27FC236}">
                      <a16:creationId xmlns:a16="http://schemas.microsoft.com/office/drawing/2014/main" id="{32248C1D-1E1E-FF8E-B321-ABD5834769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a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11" name="Rectangle 32">
                  <a:extLst>
                    <a:ext uri="{FF2B5EF4-FFF2-40B4-BE49-F238E27FC236}">
                      <a16:creationId xmlns:a16="http://schemas.microsoft.com/office/drawing/2014/main" id="{A8D9CF8F-6432-30D0-5209-986CD54274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3" name="Group 33">
                <a:extLst>
                  <a:ext uri="{FF2B5EF4-FFF2-40B4-BE49-F238E27FC236}">
                    <a16:creationId xmlns:a16="http://schemas.microsoft.com/office/drawing/2014/main" id="{D0893DBA-A70F-6B57-D47B-7D3B0DE09F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384"/>
                <a:ext cx="776" cy="384"/>
                <a:chOff x="776" y="384"/>
                <a:chExt cx="776" cy="384"/>
              </a:xfrm>
            </p:grpSpPr>
            <p:sp>
              <p:nvSpPr>
                <p:cNvPr id="47208" name="Rectangle 34">
                  <a:extLst>
                    <a:ext uri="{FF2B5EF4-FFF2-40B4-BE49-F238E27FC236}">
                      <a16:creationId xmlns:a16="http://schemas.microsoft.com/office/drawing/2014/main" id="{DEAF0B93-E8AC-F9DE-3045-77B6F1FEC5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09" name="Rectangle 35">
                  <a:extLst>
                    <a:ext uri="{FF2B5EF4-FFF2-40B4-BE49-F238E27FC236}">
                      <a16:creationId xmlns:a16="http://schemas.microsoft.com/office/drawing/2014/main" id="{F7E73C97-CADF-9658-8EFD-98E4C0F67B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4" name="Group 36">
                <a:extLst>
                  <a:ext uri="{FF2B5EF4-FFF2-40B4-BE49-F238E27FC236}">
                    <a16:creationId xmlns:a16="http://schemas.microsoft.com/office/drawing/2014/main" id="{9F00A3D3-A7D9-63E3-3FF1-68A1AEF2E7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384"/>
                <a:ext cx="776" cy="384"/>
                <a:chOff x="1552" y="384"/>
                <a:chExt cx="776" cy="384"/>
              </a:xfrm>
            </p:grpSpPr>
            <p:sp>
              <p:nvSpPr>
                <p:cNvPr id="47206" name="Rectangle 37">
                  <a:extLst>
                    <a:ext uri="{FF2B5EF4-FFF2-40B4-BE49-F238E27FC236}">
                      <a16:creationId xmlns:a16="http://schemas.microsoft.com/office/drawing/2014/main" id="{764BF940-7956-FBE2-E409-1FDEB053E5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07" name="Rectangle 38">
                  <a:extLst>
                    <a:ext uri="{FF2B5EF4-FFF2-40B4-BE49-F238E27FC236}">
                      <a16:creationId xmlns:a16="http://schemas.microsoft.com/office/drawing/2014/main" id="{5FE0328F-53ED-75B0-E805-E6A71A8A05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5" name="Group 39">
                <a:extLst>
                  <a:ext uri="{FF2B5EF4-FFF2-40B4-BE49-F238E27FC236}">
                    <a16:creationId xmlns:a16="http://schemas.microsoft.com/office/drawing/2014/main" id="{BC7CEE7E-33D6-6C44-89F0-5F1DC5C76B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384"/>
                <a:ext cx="776" cy="384"/>
                <a:chOff x="2328" y="384"/>
                <a:chExt cx="776" cy="384"/>
              </a:xfrm>
            </p:grpSpPr>
            <p:sp>
              <p:nvSpPr>
                <p:cNvPr id="47204" name="Rectangle 40">
                  <a:extLst>
                    <a:ext uri="{FF2B5EF4-FFF2-40B4-BE49-F238E27FC236}">
                      <a16:creationId xmlns:a16="http://schemas.microsoft.com/office/drawing/2014/main" id="{98E341FB-04A4-5734-01D1-29CEAA20EF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05" name="Rectangle 41">
                  <a:extLst>
                    <a:ext uri="{FF2B5EF4-FFF2-40B4-BE49-F238E27FC236}">
                      <a16:creationId xmlns:a16="http://schemas.microsoft.com/office/drawing/2014/main" id="{9442F727-B549-34DA-E141-B784A7E54E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6" name="Group 42">
                <a:extLst>
                  <a:ext uri="{FF2B5EF4-FFF2-40B4-BE49-F238E27FC236}">
                    <a16:creationId xmlns:a16="http://schemas.microsoft.com/office/drawing/2014/main" id="{2C05E2CB-6C13-A95D-6EE5-D9D43BA929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384"/>
                <a:ext cx="776" cy="384"/>
                <a:chOff x="3104" y="384"/>
                <a:chExt cx="776" cy="384"/>
              </a:xfrm>
            </p:grpSpPr>
            <p:sp>
              <p:nvSpPr>
                <p:cNvPr id="47202" name="Rectangle 43">
                  <a:extLst>
                    <a:ext uri="{FF2B5EF4-FFF2-40B4-BE49-F238E27FC236}">
                      <a16:creationId xmlns:a16="http://schemas.microsoft.com/office/drawing/2014/main" id="{9B624F12-BB39-1478-BD0D-20E532EEE3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38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03" name="Rectangle 44">
                  <a:extLst>
                    <a:ext uri="{FF2B5EF4-FFF2-40B4-BE49-F238E27FC236}">
                      <a16:creationId xmlns:a16="http://schemas.microsoft.com/office/drawing/2014/main" id="{86CB8E47-DB5E-3A43-9772-2240CADD9C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38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7" name="Group 45">
                <a:extLst>
                  <a:ext uri="{FF2B5EF4-FFF2-40B4-BE49-F238E27FC236}">
                    <a16:creationId xmlns:a16="http://schemas.microsoft.com/office/drawing/2014/main" id="{6643E537-7073-93D8-5A25-241F1574F4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68"/>
                <a:ext cx="776" cy="384"/>
                <a:chOff x="0" y="768"/>
                <a:chExt cx="776" cy="384"/>
              </a:xfrm>
            </p:grpSpPr>
            <p:sp>
              <p:nvSpPr>
                <p:cNvPr id="47200" name="Rectangle 46">
                  <a:extLst>
                    <a:ext uri="{FF2B5EF4-FFF2-40B4-BE49-F238E27FC236}">
                      <a16:creationId xmlns:a16="http://schemas.microsoft.com/office/drawing/2014/main" id="{37157815-B84D-96B6-8804-010D1A9CA8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b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201" name="Rectangle 47">
                  <a:extLst>
                    <a:ext uri="{FF2B5EF4-FFF2-40B4-BE49-F238E27FC236}">
                      <a16:creationId xmlns:a16="http://schemas.microsoft.com/office/drawing/2014/main" id="{0D26D629-2BB3-85E3-C98B-79E4164187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8" name="Group 48">
                <a:extLst>
                  <a:ext uri="{FF2B5EF4-FFF2-40B4-BE49-F238E27FC236}">
                    <a16:creationId xmlns:a16="http://schemas.microsoft.com/office/drawing/2014/main" id="{F1104D05-D1EE-E3FE-BD82-EF63ADEA7E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768"/>
                <a:ext cx="776" cy="384"/>
                <a:chOff x="776" y="768"/>
                <a:chExt cx="776" cy="384"/>
              </a:xfrm>
            </p:grpSpPr>
            <p:sp>
              <p:nvSpPr>
                <p:cNvPr id="47198" name="Rectangle 49">
                  <a:extLst>
                    <a:ext uri="{FF2B5EF4-FFF2-40B4-BE49-F238E27FC236}">
                      <a16:creationId xmlns:a16="http://schemas.microsoft.com/office/drawing/2014/main" id="{BC7FB375-F1E0-0F7A-5062-80959EF283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99" name="Rectangle 50">
                  <a:extLst>
                    <a:ext uri="{FF2B5EF4-FFF2-40B4-BE49-F238E27FC236}">
                      <a16:creationId xmlns:a16="http://schemas.microsoft.com/office/drawing/2014/main" id="{F507F6B8-CD75-5D16-7197-CEC9B7D59A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29" name="Group 51">
                <a:extLst>
                  <a:ext uri="{FF2B5EF4-FFF2-40B4-BE49-F238E27FC236}">
                    <a16:creationId xmlns:a16="http://schemas.microsoft.com/office/drawing/2014/main" id="{1FF901FF-8B89-73C4-7693-CABEE655E1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768"/>
                <a:ext cx="776" cy="384"/>
                <a:chOff x="1552" y="768"/>
                <a:chExt cx="776" cy="384"/>
              </a:xfrm>
            </p:grpSpPr>
            <p:sp>
              <p:nvSpPr>
                <p:cNvPr id="47196" name="Rectangle 52">
                  <a:extLst>
                    <a:ext uri="{FF2B5EF4-FFF2-40B4-BE49-F238E27FC236}">
                      <a16:creationId xmlns:a16="http://schemas.microsoft.com/office/drawing/2014/main" id="{1EA5370A-2501-A2C6-DFE4-AB0516128D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97" name="Rectangle 53">
                  <a:extLst>
                    <a:ext uri="{FF2B5EF4-FFF2-40B4-BE49-F238E27FC236}">
                      <a16:creationId xmlns:a16="http://schemas.microsoft.com/office/drawing/2014/main" id="{FADC0C4B-E591-AAB6-577D-34A864D154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0" name="Group 54">
                <a:extLst>
                  <a:ext uri="{FF2B5EF4-FFF2-40B4-BE49-F238E27FC236}">
                    <a16:creationId xmlns:a16="http://schemas.microsoft.com/office/drawing/2014/main" id="{05E794C5-9BAA-9AF8-1B18-C81D0C4339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768"/>
                <a:ext cx="776" cy="384"/>
                <a:chOff x="2328" y="768"/>
                <a:chExt cx="776" cy="384"/>
              </a:xfrm>
            </p:grpSpPr>
            <p:sp>
              <p:nvSpPr>
                <p:cNvPr id="47194" name="Rectangle 55">
                  <a:extLst>
                    <a:ext uri="{FF2B5EF4-FFF2-40B4-BE49-F238E27FC236}">
                      <a16:creationId xmlns:a16="http://schemas.microsoft.com/office/drawing/2014/main" id="{94427972-BE17-1A56-6C56-94F3237D0D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95" name="Rectangle 56">
                  <a:extLst>
                    <a:ext uri="{FF2B5EF4-FFF2-40B4-BE49-F238E27FC236}">
                      <a16:creationId xmlns:a16="http://schemas.microsoft.com/office/drawing/2014/main" id="{478EB85A-61E1-A030-CF32-6EFB67AD25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1" name="Group 57">
                <a:extLst>
                  <a:ext uri="{FF2B5EF4-FFF2-40B4-BE49-F238E27FC236}">
                    <a16:creationId xmlns:a16="http://schemas.microsoft.com/office/drawing/2014/main" id="{082EBD80-6179-17A0-833C-8F9408936D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768"/>
                <a:ext cx="776" cy="384"/>
                <a:chOff x="3104" y="768"/>
                <a:chExt cx="776" cy="384"/>
              </a:xfrm>
            </p:grpSpPr>
            <p:sp>
              <p:nvSpPr>
                <p:cNvPr id="47192" name="Rectangle 58">
                  <a:extLst>
                    <a:ext uri="{FF2B5EF4-FFF2-40B4-BE49-F238E27FC236}">
                      <a16:creationId xmlns:a16="http://schemas.microsoft.com/office/drawing/2014/main" id="{B5371A3E-349F-3CA7-1618-A5E0706E70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768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93" name="Rectangle 59">
                  <a:extLst>
                    <a:ext uri="{FF2B5EF4-FFF2-40B4-BE49-F238E27FC236}">
                      <a16:creationId xmlns:a16="http://schemas.microsoft.com/office/drawing/2014/main" id="{1B021194-B5B9-3E33-478C-B4618A09E6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768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2" name="Group 60">
                <a:extLst>
                  <a:ext uri="{FF2B5EF4-FFF2-40B4-BE49-F238E27FC236}">
                    <a16:creationId xmlns:a16="http://schemas.microsoft.com/office/drawing/2014/main" id="{2CB4E121-E6FB-E80C-9CBF-022F01313F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52"/>
                <a:ext cx="776" cy="384"/>
                <a:chOff x="0" y="1152"/>
                <a:chExt cx="776" cy="384"/>
              </a:xfrm>
            </p:grpSpPr>
            <p:sp>
              <p:nvSpPr>
                <p:cNvPr id="47190" name="Rectangle 61">
                  <a:extLst>
                    <a:ext uri="{FF2B5EF4-FFF2-40B4-BE49-F238E27FC236}">
                      <a16:creationId xmlns:a16="http://schemas.microsoft.com/office/drawing/2014/main" id="{D7FC89FA-0002-3EB5-22BC-7E94454947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c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91" name="Rectangle 62">
                  <a:extLst>
                    <a:ext uri="{FF2B5EF4-FFF2-40B4-BE49-F238E27FC236}">
                      <a16:creationId xmlns:a16="http://schemas.microsoft.com/office/drawing/2014/main" id="{F5B7CAC2-227B-BBE2-4488-E726A71764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3" name="Group 63">
                <a:extLst>
                  <a:ext uri="{FF2B5EF4-FFF2-40B4-BE49-F238E27FC236}">
                    <a16:creationId xmlns:a16="http://schemas.microsoft.com/office/drawing/2014/main" id="{B6A41B00-E6CC-BEFD-D3D8-86CFA8F4D1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1152"/>
                <a:ext cx="776" cy="384"/>
                <a:chOff x="776" y="1152"/>
                <a:chExt cx="776" cy="384"/>
              </a:xfrm>
            </p:grpSpPr>
            <p:sp>
              <p:nvSpPr>
                <p:cNvPr id="47188" name="Rectangle 64">
                  <a:extLst>
                    <a:ext uri="{FF2B5EF4-FFF2-40B4-BE49-F238E27FC236}">
                      <a16:creationId xmlns:a16="http://schemas.microsoft.com/office/drawing/2014/main" id="{8A1927E7-599A-940A-EE1A-66DB264E7B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89" name="Rectangle 65">
                  <a:extLst>
                    <a:ext uri="{FF2B5EF4-FFF2-40B4-BE49-F238E27FC236}">
                      <a16:creationId xmlns:a16="http://schemas.microsoft.com/office/drawing/2014/main" id="{B8869D26-18FD-1E8F-7AAE-EF3509FDC4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4" name="Group 66">
                <a:extLst>
                  <a:ext uri="{FF2B5EF4-FFF2-40B4-BE49-F238E27FC236}">
                    <a16:creationId xmlns:a16="http://schemas.microsoft.com/office/drawing/2014/main" id="{D737D663-8DB3-F366-28C7-84D6397337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1152"/>
                <a:ext cx="776" cy="384"/>
                <a:chOff x="1552" y="1152"/>
                <a:chExt cx="776" cy="384"/>
              </a:xfrm>
            </p:grpSpPr>
            <p:sp>
              <p:nvSpPr>
                <p:cNvPr id="47186" name="Rectangle 67">
                  <a:extLst>
                    <a:ext uri="{FF2B5EF4-FFF2-40B4-BE49-F238E27FC236}">
                      <a16:creationId xmlns:a16="http://schemas.microsoft.com/office/drawing/2014/main" id="{A7F4A639-007E-CD12-568C-05E571BC61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87" name="Rectangle 68">
                  <a:extLst>
                    <a:ext uri="{FF2B5EF4-FFF2-40B4-BE49-F238E27FC236}">
                      <a16:creationId xmlns:a16="http://schemas.microsoft.com/office/drawing/2014/main" id="{861A1047-B286-1E5C-9806-06BA339623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5" name="Group 69">
                <a:extLst>
                  <a:ext uri="{FF2B5EF4-FFF2-40B4-BE49-F238E27FC236}">
                    <a16:creationId xmlns:a16="http://schemas.microsoft.com/office/drawing/2014/main" id="{4795A13F-915D-36E3-87DF-8356B3785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1152"/>
                <a:ext cx="776" cy="384"/>
                <a:chOff x="2328" y="1152"/>
                <a:chExt cx="776" cy="384"/>
              </a:xfrm>
            </p:grpSpPr>
            <p:sp>
              <p:nvSpPr>
                <p:cNvPr id="47184" name="Rectangle 70">
                  <a:extLst>
                    <a:ext uri="{FF2B5EF4-FFF2-40B4-BE49-F238E27FC236}">
                      <a16:creationId xmlns:a16="http://schemas.microsoft.com/office/drawing/2014/main" id="{6D54DC10-232A-895D-5348-091DD70C2E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85" name="Rectangle 71">
                  <a:extLst>
                    <a:ext uri="{FF2B5EF4-FFF2-40B4-BE49-F238E27FC236}">
                      <a16:creationId xmlns:a16="http://schemas.microsoft.com/office/drawing/2014/main" id="{6821A4A0-D4B1-833E-F4FB-1474772036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6" name="Group 72">
                <a:extLst>
                  <a:ext uri="{FF2B5EF4-FFF2-40B4-BE49-F238E27FC236}">
                    <a16:creationId xmlns:a16="http://schemas.microsoft.com/office/drawing/2014/main" id="{F03DA4E6-6F23-1F02-7F50-C718547263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1152"/>
                <a:ext cx="776" cy="384"/>
                <a:chOff x="3104" y="1152"/>
                <a:chExt cx="776" cy="384"/>
              </a:xfrm>
            </p:grpSpPr>
            <p:sp>
              <p:nvSpPr>
                <p:cNvPr id="47182" name="Rectangle 73">
                  <a:extLst>
                    <a:ext uri="{FF2B5EF4-FFF2-40B4-BE49-F238E27FC236}">
                      <a16:creationId xmlns:a16="http://schemas.microsoft.com/office/drawing/2014/main" id="{3AC754D5-52F1-0510-9196-113E3C87BE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1152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83" name="Rectangle 74">
                  <a:extLst>
                    <a:ext uri="{FF2B5EF4-FFF2-40B4-BE49-F238E27FC236}">
                      <a16:creationId xmlns:a16="http://schemas.microsoft.com/office/drawing/2014/main" id="{72C69A9A-5600-B314-A3E9-AB29059D3E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1152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7" name="Group 75">
                <a:extLst>
                  <a:ext uri="{FF2B5EF4-FFF2-40B4-BE49-F238E27FC236}">
                    <a16:creationId xmlns:a16="http://schemas.microsoft.com/office/drawing/2014/main" id="{4162388E-ABF7-36F5-363F-8DE0837D59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536"/>
                <a:ext cx="776" cy="384"/>
                <a:chOff x="0" y="1536"/>
                <a:chExt cx="776" cy="384"/>
              </a:xfrm>
            </p:grpSpPr>
            <p:sp>
              <p:nvSpPr>
                <p:cNvPr id="47180" name="Rectangle 76">
                  <a:extLst>
                    <a:ext uri="{FF2B5EF4-FFF2-40B4-BE49-F238E27FC236}">
                      <a16:creationId xmlns:a16="http://schemas.microsoft.com/office/drawing/2014/main" id="{5DC2EE5F-6CFB-8A07-D07A-C029D05DAE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d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81" name="Rectangle 77">
                  <a:extLst>
                    <a:ext uri="{FF2B5EF4-FFF2-40B4-BE49-F238E27FC236}">
                      <a16:creationId xmlns:a16="http://schemas.microsoft.com/office/drawing/2014/main" id="{40A89F22-768C-446B-4CF1-1BB5F065BA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8" name="Group 78">
                <a:extLst>
                  <a:ext uri="{FF2B5EF4-FFF2-40B4-BE49-F238E27FC236}">
                    <a16:creationId xmlns:a16="http://schemas.microsoft.com/office/drawing/2014/main" id="{1E5BB0CD-6040-75E7-ECA7-BDA0DFA82A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1536"/>
                <a:ext cx="776" cy="384"/>
                <a:chOff x="776" y="1536"/>
                <a:chExt cx="776" cy="384"/>
              </a:xfrm>
            </p:grpSpPr>
            <p:sp>
              <p:nvSpPr>
                <p:cNvPr id="47178" name="Rectangle 79">
                  <a:extLst>
                    <a:ext uri="{FF2B5EF4-FFF2-40B4-BE49-F238E27FC236}">
                      <a16:creationId xmlns:a16="http://schemas.microsoft.com/office/drawing/2014/main" id="{435364A1-C431-EFD9-43E1-471639FF61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79" name="Rectangle 80">
                  <a:extLst>
                    <a:ext uri="{FF2B5EF4-FFF2-40B4-BE49-F238E27FC236}">
                      <a16:creationId xmlns:a16="http://schemas.microsoft.com/office/drawing/2014/main" id="{9D9E4335-2965-83EB-BA0B-55416D3FE8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39" name="Group 81">
                <a:extLst>
                  <a:ext uri="{FF2B5EF4-FFF2-40B4-BE49-F238E27FC236}">
                    <a16:creationId xmlns:a16="http://schemas.microsoft.com/office/drawing/2014/main" id="{48955D8B-F16A-EA59-2166-9ABA147AC4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1536"/>
                <a:ext cx="776" cy="384"/>
                <a:chOff x="1552" y="1536"/>
                <a:chExt cx="776" cy="384"/>
              </a:xfrm>
            </p:grpSpPr>
            <p:sp>
              <p:nvSpPr>
                <p:cNvPr id="47176" name="Rectangle 82">
                  <a:extLst>
                    <a:ext uri="{FF2B5EF4-FFF2-40B4-BE49-F238E27FC236}">
                      <a16:creationId xmlns:a16="http://schemas.microsoft.com/office/drawing/2014/main" id="{8E9029E2-4BDA-096F-1986-1647EF22A4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77" name="Rectangle 83">
                  <a:extLst>
                    <a:ext uri="{FF2B5EF4-FFF2-40B4-BE49-F238E27FC236}">
                      <a16:creationId xmlns:a16="http://schemas.microsoft.com/office/drawing/2014/main" id="{E7F46A19-CB6B-B728-8477-A735E6610B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0" name="Group 84">
                <a:extLst>
                  <a:ext uri="{FF2B5EF4-FFF2-40B4-BE49-F238E27FC236}">
                    <a16:creationId xmlns:a16="http://schemas.microsoft.com/office/drawing/2014/main" id="{F16E70F9-21F0-0878-CA82-320D0B085A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1536"/>
                <a:ext cx="776" cy="384"/>
                <a:chOff x="2328" y="1536"/>
                <a:chExt cx="776" cy="384"/>
              </a:xfrm>
            </p:grpSpPr>
            <p:sp>
              <p:nvSpPr>
                <p:cNvPr id="47174" name="Rectangle 85">
                  <a:extLst>
                    <a:ext uri="{FF2B5EF4-FFF2-40B4-BE49-F238E27FC236}">
                      <a16:creationId xmlns:a16="http://schemas.microsoft.com/office/drawing/2014/main" id="{134BE86F-1193-1084-55D7-9BB9444E96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75" name="Rectangle 86">
                  <a:extLst>
                    <a:ext uri="{FF2B5EF4-FFF2-40B4-BE49-F238E27FC236}">
                      <a16:creationId xmlns:a16="http://schemas.microsoft.com/office/drawing/2014/main" id="{8C7F0A1B-50B7-A6D5-1A2B-192D3C89C2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1" name="Group 87">
                <a:extLst>
                  <a:ext uri="{FF2B5EF4-FFF2-40B4-BE49-F238E27FC236}">
                    <a16:creationId xmlns:a16="http://schemas.microsoft.com/office/drawing/2014/main" id="{E6F80BE0-CEDF-7647-A8B4-35E9C67F8F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1536"/>
                <a:ext cx="776" cy="384"/>
                <a:chOff x="3104" y="1536"/>
                <a:chExt cx="776" cy="384"/>
              </a:xfrm>
            </p:grpSpPr>
            <p:sp>
              <p:nvSpPr>
                <p:cNvPr id="47172" name="Rectangle 88">
                  <a:extLst>
                    <a:ext uri="{FF2B5EF4-FFF2-40B4-BE49-F238E27FC236}">
                      <a16:creationId xmlns:a16="http://schemas.microsoft.com/office/drawing/2014/main" id="{66F87E6D-0794-BA67-5554-28AED58A84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1536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73" name="Rectangle 89">
                  <a:extLst>
                    <a:ext uri="{FF2B5EF4-FFF2-40B4-BE49-F238E27FC236}">
                      <a16:creationId xmlns:a16="http://schemas.microsoft.com/office/drawing/2014/main" id="{A12C41B3-2FF9-25FA-316D-A2277BBB54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1536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2" name="Group 90">
                <a:extLst>
                  <a:ext uri="{FF2B5EF4-FFF2-40B4-BE49-F238E27FC236}">
                    <a16:creationId xmlns:a16="http://schemas.microsoft.com/office/drawing/2014/main" id="{01BCAB94-5B76-97F5-9F7B-F69CBF352F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0"/>
                <a:ext cx="776" cy="384"/>
                <a:chOff x="0" y="1920"/>
                <a:chExt cx="776" cy="384"/>
              </a:xfrm>
            </p:grpSpPr>
            <p:sp>
              <p:nvSpPr>
                <p:cNvPr id="47170" name="Rectangle 91">
                  <a:extLst>
                    <a:ext uri="{FF2B5EF4-FFF2-40B4-BE49-F238E27FC236}">
                      <a16:creationId xmlns:a16="http://schemas.microsoft.com/office/drawing/2014/main" id="{A5C71891-9FB0-EC31-B277-BD5CDB6748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e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71" name="Rectangle 92">
                  <a:extLst>
                    <a:ext uri="{FF2B5EF4-FFF2-40B4-BE49-F238E27FC236}">
                      <a16:creationId xmlns:a16="http://schemas.microsoft.com/office/drawing/2014/main" id="{E98BAD7F-3EF1-6B39-B99B-FE7B278B1F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3" name="Group 93">
                <a:extLst>
                  <a:ext uri="{FF2B5EF4-FFF2-40B4-BE49-F238E27FC236}">
                    <a16:creationId xmlns:a16="http://schemas.microsoft.com/office/drawing/2014/main" id="{68AEC692-A230-4126-27D9-FBD3E005D7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1920"/>
                <a:ext cx="776" cy="384"/>
                <a:chOff x="776" y="1920"/>
                <a:chExt cx="776" cy="384"/>
              </a:xfrm>
            </p:grpSpPr>
            <p:sp>
              <p:nvSpPr>
                <p:cNvPr id="47168" name="Rectangle 94">
                  <a:extLst>
                    <a:ext uri="{FF2B5EF4-FFF2-40B4-BE49-F238E27FC236}">
                      <a16:creationId xmlns:a16="http://schemas.microsoft.com/office/drawing/2014/main" id="{5651823D-5582-6E5D-D710-D0EB92621D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69" name="Rectangle 95">
                  <a:extLst>
                    <a:ext uri="{FF2B5EF4-FFF2-40B4-BE49-F238E27FC236}">
                      <a16:creationId xmlns:a16="http://schemas.microsoft.com/office/drawing/2014/main" id="{765B4C0D-E931-90BA-1FD2-E6A03B4D6E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4" name="Group 96">
                <a:extLst>
                  <a:ext uri="{FF2B5EF4-FFF2-40B4-BE49-F238E27FC236}">
                    <a16:creationId xmlns:a16="http://schemas.microsoft.com/office/drawing/2014/main" id="{BA687504-B5D3-FC5E-F359-B717DEE6A3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1920"/>
                <a:ext cx="776" cy="384"/>
                <a:chOff x="1552" y="1920"/>
                <a:chExt cx="776" cy="384"/>
              </a:xfrm>
            </p:grpSpPr>
            <p:sp>
              <p:nvSpPr>
                <p:cNvPr id="47166" name="Rectangle 97">
                  <a:extLst>
                    <a:ext uri="{FF2B5EF4-FFF2-40B4-BE49-F238E27FC236}">
                      <a16:creationId xmlns:a16="http://schemas.microsoft.com/office/drawing/2014/main" id="{ABD40619-A475-6E8E-307A-DC6DB21B22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67" name="Rectangle 98">
                  <a:extLst>
                    <a:ext uri="{FF2B5EF4-FFF2-40B4-BE49-F238E27FC236}">
                      <a16:creationId xmlns:a16="http://schemas.microsoft.com/office/drawing/2014/main" id="{48651311-7729-2C80-C177-F3B2520CE5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5" name="Group 99">
                <a:extLst>
                  <a:ext uri="{FF2B5EF4-FFF2-40B4-BE49-F238E27FC236}">
                    <a16:creationId xmlns:a16="http://schemas.microsoft.com/office/drawing/2014/main" id="{8F267C5C-E31A-E740-6FEB-619F81F00B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1920"/>
                <a:ext cx="776" cy="384"/>
                <a:chOff x="2328" y="1920"/>
                <a:chExt cx="776" cy="384"/>
              </a:xfrm>
            </p:grpSpPr>
            <p:sp>
              <p:nvSpPr>
                <p:cNvPr id="47164" name="Rectangle 100">
                  <a:extLst>
                    <a:ext uri="{FF2B5EF4-FFF2-40B4-BE49-F238E27FC236}">
                      <a16:creationId xmlns:a16="http://schemas.microsoft.com/office/drawing/2014/main" id="{8DCB27F7-45C4-ED4E-A439-48AC96F36D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65" name="Rectangle 101">
                  <a:extLst>
                    <a:ext uri="{FF2B5EF4-FFF2-40B4-BE49-F238E27FC236}">
                      <a16:creationId xmlns:a16="http://schemas.microsoft.com/office/drawing/2014/main" id="{B31983C5-B736-FB17-8275-E84841FA7C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6" name="Group 102">
                <a:extLst>
                  <a:ext uri="{FF2B5EF4-FFF2-40B4-BE49-F238E27FC236}">
                    <a16:creationId xmlns:a16="http://schemas.microsoft.com/office/drawing/2014/main" id="{199BD0BB-E166-88AE-72E0-882F0DD394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1920"/>
                <a:ext cx="776" cy="384"/>
                <a:chOff x="3104" y="1920"/>
                <a:chExt cx="776" cy="384"/>
              </a:xfrm>
            </p:grpSpPr>
            <p:sp>
              <p:nvSpPr>
                <p:cNvPr id="47162" name="Rectangle 103">
                  <a:extLst>
                    <a:ext uri="{FF2B5EF4-FFF2-40B4-BE49-F238E27FC236}">
                      <a16:creationId xmlns:a16="http://schemas.microsoft.com/office/drawing/2014/main" id="{10BE62D2-4278-2039-5562-295DCDF403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1920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63" name="Rectangle 104">
                  <a:extLst>
                    <a:ext uri="{FF2B5EF4-FFF2-40B4-BE49-F238E27FC236}">
                      <a16:creationId xmlns:a16="http://schemas.microsoft.com/office/drawing/2014/main" id="{1FF5757C-2D20-FC8C-2189-457DE68A5B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1920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7" name="Group 105">
                <a:extLst>
                  <a:ext uri="{FF2B5EF4-FFF2-40B4-BE49-F238E27FC236}">
                    <a16:creationId xmlns:a16="http://schemas.microsoft.com/office/drawing/2014/main" id="{F163657C-2E2E-941E-AE72-B21654ACA6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304"/>
                <a:ext cx="776" cy="384"/>
                <a:chOff x="0" y="2304"/>
                <a:chExt cx="776" cy="384"/>
              </a:xfrm>
            </p:grpSpPr>
            <p:sp>
              <p:nvSpPr>
                <p:cNvPr id="47160" name="Rectangle 106">
                  <a:extLst>
                    <a:ext uri="{FF2B5EF4-FFF2-40B4-BE49-F238E27FC236}">
                      <a16:creationId xmlns:a16="http://schemas.microsoft.com/office/drawing/2014/main" id="{B0F17645-2371-4FC1-179A-3C0663DA54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f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ko-KR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61" name="Rectangle 107">
                  <a:extLst>
                    <a:ext uri="{FF2B5EF4-FFF2-40B4-BE49-F238E27FC236}">
                      <a16:creationId xmlns:a16="http://schemas.microsoft.com/office/drawing/2014/main" id="{DA6D69AA-CCCD-46EE-F0CD-BA0477E87F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8" name="Group 108">
                <a:extLst>
                  <a:ext uri="{FF2B5EF4-FFF2-40B4-BE49-F238E27FC236}">
                    <a16:creationId xmlns:a16="http://schemas.microsoft.com/office/drawing/2014/main" id="{84D35994-C81F-5A31-15E1-C936D40C75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2304"/>
                <a:ext cx="776" cy="384"/>
                <a:chOff x="776" y="2304"/>
                <a:chExt cx="776" cy="384"/>
              </a:xfrm>
            </p:grpSpPr>
            <p:sp>
              <p:nvSpPr>
                <p:cNvPr id="47158" name="Rectangle 109">
                  <a:extLst>
                    <a:ext uri="{FF2B5EF4-FFF2-40B4-BE49-F238E27FC236}">
                      <a16:creationId xmlns:a16="http://schemas.microsoft.com/office/drawing/2014/main" id="{3E84523E-79C8-23EE-7F78-B4F2ED2F5D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59" name="Rectangle 110">
                  <a:extLst>
                    <a:ext uri="{FF2B5EF4-FFF2-40B4-BE49-F238E27FC236}">
                      <a16:creationId xmlns:a16="http://schemas.microsoft.com/office/drawing/2014/main" id="{62F5255D-E50C-47C9-0D06-12E494AFD5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6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49" name="Group 111">
                <a:extLst>
                  <a:ext uri="{FF2B5EF4-FFF2-40B4-BE49-F238E27FC236}">
                    <a16:creationId xmlns:a16="http://schemas.microsoft.com/office/drawing/2014/main" id="{DBBFD508-6F41-9F2A-212C-D6B2B8AFFE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2" y="2304"/>
                <a:ext cx="776" cy="384"/>
                <a:chOff x="1552" y="2304"/>
                <a:chExt cx="776" cy="384"/>
              </a:xfrm>
            </p:grpSpPr>
            <p:sp>
              <p:nvSpPr>
                <p:cNvPr id="47156" name="Rectangle 112">
                  <a:extLst>
                    <a:ext uri="{FF2B5EF4-FFF2-40B4-BE49-F238E27FC236}">
                      <a16:creationId xmlns:a16="http://schemas.microsoft.com/office/drawing/2014/main" id="{E2B4CAC0-63A3-6998-FC13-E5F03BC189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57" name="Rectangle 113">
                  <a:extLst>
                    <a:ext uri="{FF2B5EF4-FFF2-40B4-BE49-F238E27FC236}">
                      <a16:creationId xmlns:a16="http://schemas.microsoft.com/office/drawing/2014/main" id="{D0E3FD5D-4C0E-D373-C3EB-D0A8C5E510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2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50" name="Group 114">
                <a:extLst>
                  <a:ext uri="{FF2B5EF4-FFF2-40B4-BE49-F238E27FC236}">
                    <a16:creationId xmlns:a16="http://schemas.microsoft.com/office/drawing/2014/main" id="{9D289291-BDBA-BA2A-565A-670B5530E3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8" y="2304"/>
                <a:ext cx="776" cy="384"/>
                <a:chOff x="2328" y="2304"/>
                <a:chExt cx="776" cy="384"/>
              </a:xfrm>
            </p:grpSpPr>
            <p:sp>
              <p:nvSpPr>
                <p:cNvPr id="47154" name="Rectangle 115">
                  <a:extLst>
                    <a:ext uri="{FF2B5EF4-FFF2-40B4-BE49-F238E27FC236}">
                      <a16:creationId xmlns:a16="http://schemas.microsoft.com/office/drawing/2014/main" id="{E1F4F674-0581-DC6F-8CAF-33BF0F6E0D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8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1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55" name="Rectangle 116">
                  <a:extLst>
                    <a:ext uri="{FF2B5EF4-FFF2-40B4-BE49-F238E27FC236}">
                      <a16:creationId xmlns:a16="http://schemas.microsoft.com/office/drawing/2014/main" id="{310E359B-9B2B-070C-8C84-3A9C1F3392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8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7151" name="Group 117">
                <a:extLst>
                  <a:ext uri="{FF2B5EF4-FFF2-40B4-BE49-F238E27FC236}">
                    <a16:creationId xmlns:a16="http://schemas.microsoft.com/office/drawing/2014/main" id="{C52EA6B5-357D-3F19-D08D-5FDA8E4311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4" y="2304"/>
                <a:ext cx="776" cy="384"/>
                <a:chOff x="3104" y="2304"/>
                <a:chExt cx="776" cy="384"/>
              </a:xfrm>
            </p:grpSpPr>
            <p:sp>
              <p:nvSpPr>
                <p:cNvPr id="47152" name="Rectangle 118">
                  <a:extLst>
                    <a:ext uri="{FF2B5EF4-FFF2-40B4-BE49-F238E27FC236}">
                      <a16:creationId xmlns:a16="http://schemas.microsoft.com/office/drawing/2014/main" id="{44FCCBB0-51B3-8587-A5DD-84F51E982A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2304"/>
                  <a:ext cx="6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800">
                      <a:latin typeface="Times New Roman" panose="02020603050405020304" pitchFamily="18" charset="0"/>
                      <a:ea typeface="Batang" panose="02030600000101010101" pitchFamily="18" charset="-127"/>
                    </a:rPr>
                    <a:t>0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ko-KR" altLang="en-US" sz="1800">
                    <a:latin typeface="Times New Roman" panose="02020603050405020304" pitchFamily="18" charset="0"/>
                    <a:ea typeface="Batang" panose="02030600000101010101" pitchFamily="18" charset="-127"/>
                  </a:endParaRPr>
                </a:p>
              </p:txBody>
            </p:sp>
            <p:sp>
              <p:nvSpPr>
                <p:cNvPr id="47153" name="Rectangle 119">
                  <a:extLst>
                    <a:ext uri="{FF2B5EF4-FFF2-40B4-BE49-F238E27FC236}">
                      <a16:creationId xmlns:a16="http://schemas.microsoft.com/office/drawing/2014/main" id="{2D08D9A6-5D22-E557-6CC9-460060087E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4" y="2304"/>
                  <a:ext cx="77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4572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AU" altLang="en-US" sz="240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7116" name="Rectangle 120">
              <a:extLst>
                <a:ext uri="{FF2B5EF4-FFF2-40B4-BE49-F238E27FC236}">
                  <a16:creationId xmlns:a16="http://schemas.microsoft.com/office/drawing/2014/main" id="{AE8266B4-F8D9-67AB-25B4-A45EED9C2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3886" cy="2694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47114" name="Rectangle 123">
            <a:extLst>
              <a:ext uri="{FF2B5EF4-FFF2-40B4-BE49-F238E27FC236}">
                <a16:creationId xmlns:a16="http://schemas.microsoft.com/office/drawing/2014/main" id="{17DF4E0E-34BC-D9F2-2E1F-86315E89E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057400"/>
            <a:ext cx="6400800" cy="304800"/>
          </a:xfrm>
          <a:prstGeom prst="rect">
            <a:avLst/>
          </a:prstGeom>
          <a:solidFill>
            <a:srgbClr val="92D050">
              <a:alpha val="50195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491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3" name="Picture 7" descr="JCU_Logo_RGB.jpg">
            <a:extLst>
              <a:ext uri="{FF2B5EF4-FFF2-40B4-BE49-F238E27FC236}">
                <a16:creationId xmlns:a16="http://schemas.microsoft.com/office/drawing/2014/main" id="{64EBF9C7-42BB-5725-D88C-C350989E42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4" name="Line 9">
            <a:extLst>
              <a:ext uri="{FF2B5EF4-FFF2-40B4-BE49-F238E27FC236}">
                <a16:creationId xmlns:a16="http://schemas.microsoft.com/office/drawing/2014/main" id="{0B40AECF-31BE-F2AD-666F-9109E8F4AB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55" name="Line 10">
            <a:extLst>
              <a:ext uri="{FF2B5EF4-FFF2-40B4-BE49-F238E27FC236}">
                <a16:creationId xmlns:a16="http://schemas.microsoft.com/office/drawing/2014/main" id="{7200D2F5-3DAD-A73C-EE72-0F71A33B5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56" name="Slide Number Placeholder 7">
            <a:extLst>
              <a:ext uri="{FF2B5EF4-FFF2-40B4-BE49-F238E27FC236}">
                <a16:creationId xmlns:a16="http://schemas.microsoft.com/office/drawing/2014/main" id="{C0CABDC7-E925-CEF0-9775-D134B4249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B6D2CF-F0BA-754B-A6E3-201BD605F00A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9157" name="Rectangle 2">
            <a:extLst>
              <a:ext uri="{FF2B5EF4-FFF2-40B4-BE49-F238E27FC236}">
                <a16:creationId xmlns:a16="http://schemas.microsoft.com/office/drawing/2014/main" id="{D91CE80D-F285-E317-84C6-E74D02988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091363" cy="815975"/>
          </a:xfrm>
        </p:spPr>
        <p:txBody>
          <a:bodyPr lIns="0" tIns="0" rIns="0" bIns="0"/>
          <a:lstStyle/>
          <a:p>
            <a:pPr algn="l"/>
            <a:r>
              <a:rPr lang="en-AU" altLang="en-US" sz="40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Support and Confidence</a:t>
            </a:r>
            <a:endParaRPr lang="en-US" altLang="en-US" sz="40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FF713302-B63B-3DAD-5675-99033429A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55750"/>
            <a:ext cx="8229600" cy="445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33400" indent="-533400">
              <a:spcBef>
                <a:spcPct val="50000"/>
              </a:spcBef>
              <a:buFontTx/>
              <a:buChar char="•"/>
              <a:defRPr/>
            </a:pPr>
            <a:r>
              <a:rPr lang="en-US" altLang="ko-KR" sz="2700" dirty="0">
                <a:solidFill>
                  <a:srgbClr val="000099"/>
                </a:solidFill>
                <a:latin typeface="+mn-lt"/>
              </a:rPr>
              <a:t> People want strong associations.</a:t>
            </a:r>
          </a:p>
          <a:p>
            <a:pPr marL="990600" lvl="1" indent="-533400">
              <a:spcBef>
                <a:spcPct val="50000"/>
              </a:spcBef>
              <a:buClr>
                <a:srgbClr val="990000"/>
              </a:buClr>
              <a:buFontTx/>
              <a:buChar char="•"/>
              <a:defRPr/>
            </a:pPr>
            <a:r>
              <a:rPr lang="en-US" altLang="ko-KR" sz="2700" dirty="0">
                <a:latin typeface="+mn-lt"/>
              </a:rPr>
              <a:t>Big support </a:t>
            </a:r>
            <a:r>
              <a:rPr lang="en-US" altLang="ko-KR" sz="2700" dirty="0">
                <a:latin typeface="+mn-lt"/>
                <a:sym typeface="Wingdings" pitchFamily="2" charset="2"/>
              </a:rPr>
              <a:t> the rule includes many people who do both X and Y.</a:t>
            </a:r>
          </a:p>
          <a:p>
            <a:pPr marL="990600" lvl="1" indent="-533400">
              <a:spcBef>
                <a:spcPct val="50000"/>
              </a:spcBef>
              <a:buClr>
                <a:srgbClr val="990000"/>
              </a:buClr>
              <a:buFontTx/>
              <a:buChar char="•"/>
              <a:defRPr/>
            </a:pPr>
            <a:r>
              <a:rPr lang="en-US" altLang="ko-KR" sz="2700" dirty="0">
                <a:latin typeface="+mn-lt"/>
              </a:rPr>
              <a:t>High confidence </a:t>
            </a:r>
            <a:r>
              <a:rPr lang="en-US" altLang="ko-KR" sz="2700" dirty="0">
                <a:latin typeface="+mn-lt"/>
                <a:sym typeface="Wingdings" pitchFamily="2" charset="2"/>
              </a:rPr>
              <a:t> if someone does X, there is a good chance they will also do Y. </a:t>
            </a:r>
            <a:endParaRPr lang="en-US" altLang="ko-KR" sz="2700" dirty="0">
              <a:latin typeface="+mn-lt"/>
            </a:endParaRPr>
          </a:p>
          <a:p>
            <a:pPr marL="533400" indent="-533400">
              <a:spcBef>
                <a:spcPct val="50000"/>
              </a:spcBef>
              <a:buFontTx/>
              <a:buChar char="•"/>
              <a:defRPr/>
            </a:pPr>
            <a:r>
              <a:rPr lang="en-US" altLang="ko-KR" sz="2700" dirty="0">
                <a:solidFill>
                  <a:srgbClr val="000099"/>
                </a:solidFill>
                <a:latin typeface="+mn-lt"/>
              </a:rPr>
              <a:t> Set limits on what is a “strong” rule. </a:t>
            </a:r>
          </a:p>
          <a:p>
            <a:pPr marL="990600" lvl="1" indent="-533400">
              <a:spcBef>
                <a:spcPct val="50000"/>
              </a:spcBef>
              <a:buFontTx/>
              <a:buAutoNum type="arabicPeriod"/>
              <a:defRPr/>
            </a:pPr>
            <a:r>
              <a:rPr lang="en-US" altLang="ko-KR" sz="2700" dirty="0">
                <a:latin typeface="+mn-lt"/>
                <a:ea typeface="Gulim" pitchFamily="34" charset="-127"/>
              </a:rPr>
              <a:t>Minimum support, minimum confidence.</a:t>
            </a:r>
          </a:p>
          <a:p>
            <a:pPr marL="990600" lvl="1" indent="-533400">
              <a:spcBef>
                <a:spcPct val="50000"/>
              </a:spcBef>
              <a:buFontTx/>
              <a:buAutoNum type="arabicPeriod"/>
              <a:defRPr/>
            </a:pPr>
            <a:r>
              <a:rPr lang="en-US" altLang="ko-KR" sz="2700" dirty="0">
                <a:latin typeface="+mn-lt"/>
                <a:ea typeface="Gulim" pitchFamily="34" charset="-127"/>
              </a:rPr>
              <a:t>We report all rules that satisfy these limits.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Line 9">
            <a:extLst>
              <a:ext uri="{FF2B5EF4-FFF2-40B4-BE49-F238E27FC236}">
                <a16:creationId xmlns:a16="http://schemas.microsoft.com/office/drawing/2014/main" id="{3381D6AB-6EE1-171E-2E58-48AA171455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3" name="Line 10">
            <a:extLst>
              <a:ext uri="{FF2B5EF4-FFF2-40B4-BE49-F238E27FC236}">
                <a16:creationId xmlns:a16="http://schemas.microsoft.com/office/drawing/2014/main" id="{1279EA3B-7036-AFD5-00BB-922078BBE4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4" name="Slide Number Placeholder 7">
            <a:extLst>
              <a:ext uri="{FF2B5EF4-FFF2-40B4-BE49-F238E27FC236}">
                <a16:creationId xmlns:a16="http://schemas.microsoft.com/office/drawing/2014/main" id="{7BA41A67-1211-A60C-CED2-B48EE74A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38901F-6119-4C48-B91C-B5CD60F0971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51205" name="Rectangle 2">
            <a:extLst>
              <a:ext uri="{FF2B5EF4-FFF2-40B4-BE49-F238E27FC236}">
                <a16:creationId xmlns:a16="http://schemas.microsoft.com/office/drawing/2014/main" id="{355145D1-159D-2B5B-18B8-6D2343D2B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091363" cy="815975"/>
          </a:xfrm>
        </p:spPr>
        <p:txBody>
          <a:bodyPr lIns="0" tIns="0" rIns="0" bIns="0"/>
          <a:lstStyle/>
          <a:p>
            <a:pPr algn="l"/>
            <a:r>
              <a:rPr lang="en-AU" altLang="en-US" sz="4000">
                <a:solidFill>
                  <a:schemeClr val="bg1"/>
                </a:solidFill>
                <a:latin typeface="Times" pitchFamily="-84" charset="0"/>
                <a:ea typeface="ＭＳ Ｐゴシック" panose="020B0600070205080204" pitchFamily="34" charset="-128"/>
              </a:rPr>
              <a:t>Think/Pair/Share</a:t>
            </a:r>
            <a:endParaRPr lang="en-US" altLang="en-US" sz="4000">
              <a:solidFill>
                <a:schemeClr val="bg1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sp>
        <p:nvSpPr>
          <p:cNvPr id="51206" name="Text Box 6">
            <a:extLst>
              <a:ext uri="{FF2B5EF4-FFF2-40B4-BE49-F238E27FC236}">
                <a16:creationId xmlns:a16="http://schemas.microsoft.com/office/drawing/2014/main" id="{FB8E3EF4-1A4A-755A-FA24-64DF7194A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55750"/>
            <a:ext cx="8229600" cy="279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ko-KR" sz="2700">
                <a:solidFill>
                  <a:schemeClr val="bg1"/>
                </a:solidFill>
              </a:rPr>
              <a:t>What happens with large minimum support?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ko-KR" sz="2700">
                <a:solidFill>
                  <a:schemeClr val="bg1"/>
                </a:solidFill>
              </a:rPr>
              <a:t>What happens with low minimum confidence?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ko-KR" sz="2700">
                <a:solidFill>
                  <a:schemeClr val="bg1"/>
                </a:solidFill>
              </a:rPr>
              <a:t>What are strong rules?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ko-KR" sz="2700">
                <a:solidFill>
                  <a:schemeClr val="bg1"/>
                </a:solidFill>
              </a:rPr>
              <a:t>The question is how to efficiently find all strong rules from a massive transactional DB?</a:t>
            </a:r>
            <a:endParaRPr lang="en-US" altLang="ko-KR" sz="2700">
              <a:solidFill>
                <a:schemeClr val="bg1"/>
              </a:solidFill>
              <a:ea typeface="굴림" panose="020B0600000101010101" pitchFamily="34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CCE32CAF-B034-5B41-1561-8A46EFCC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Outline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53250" name="Picture 7" descr="JCU_Logo_RGB.jpg">
            <a:extLst>
              <a:ext uri="{FF2B5EF4-FFF2-40B4-BE49-F238E27FC236}">
                <a16:creationId xmlns:a16="http://schemas.microsoft.com/office/drawing/2014/main" id="{9BCF613D-0B06-C6C3-ECFC-1ABB546EFD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1" name="Line 9">
            <a:extLst>
              <a:ext uri="{FF2B5EF4-FFF2-40B4-BE49-F238E27FC236}">
                <a16:creationId xmlns:a16="http://schemas.microsoft.com/office/drawing/2014/main" id="{E89B57EA-DBEA-B447-7539-853486477C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2" name="Line 10">
            <a:extLst>
              <a:ext uri="{FF2B5EF4-FFF2-40B4-BE49-F238E27FC236}">
                <a16:creationId xmlns:a16="http://schemas.microsoft.com/office/drawing/2014/main" id="{955AA583-1019-CB86-245D-CB2A0A239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3" name="Content Placeholder 2">
            <a:extLst>
              <a:ext uri="{FF2B5EF4-FFF2-40B4-BE49-F238E27FC236}">
                <a16:creationId xmlns:a16="http://schemas.microsoft.com/office/drawing/2014/main" id="{F704BAAA-18A6-A078-80E7-ABF7C0573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03363"/>
            <a:ext cx="8077200" cy="462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14400" indent="-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AU" altLang="en-US" sz="2800">
                <a:cs typeface="Arial" panose="020B0604020202020204" pitchFamily="34" charset="0"/>
              </a:rPr>
              <a:t>ARM Background</a:t>
            </a:r>
          </a:p>
          <a:p>
            <a:r>
              <a:rPr lang="en-AU" altLang="en-US" sz="2800" b="1">
                <a:cs typeface="Arial" panose="020B0604020202020204" pitchFamily="34" charset="0"/>
              </a:rPr>
              <a:t>Apriori</a:t>
            </a:r>
          </a:p>
          <a:p>
            <a:r>
              <a:rPr lang="en-AU" altLang="en-US" sz="2800">
                <a:cs typeface="Arial" panose="020B0604020202020204" pitchFamily="34" charset="0"/>
              </a:rPr>
              <a:t>FP-Tree</a:t>
            </a:r>
          </a:p>
          <a:p>
            <a:r>
              <a:rPr lang="en-AU" altLang="en-US" sz="2800">
                <a:cs typeface="Arial" panose="020B0604020202020204" pitchFamily="34" charset="0"/>
              </a:rPr>
              <a:t>Various ARM</a:t>
            </a:r>
          </a:p>
          <a:p>
            <a:r>
              <a:rPr lang="en-AU" altLang="en-US" sz="2800">
                <a:cs typeface="Arial" panose="020B0604020202020204" pitchFamily="34" charset="0"/>
              </a:rPr>
              <a:t>Constraint ARM</a:t>
            </a:r>
            <a:endParaRPr lang="en-AU" altLang="en-US" sz="2400">
              <a:cs typeface="Arial" panose="020B0604020202020204" pitchFamily="34" charset="0"/>
            </a:endParaRPr>
          </a:p>
          <a:p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AU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254" name="Slide Number Placeholder 6">
            <a:extLst>
              <a:ext uri="{FF2B5EF4-FFF2-40B4-BE49-F238E27FC236}">
                <a16:creationId xmlns:a16="http://schemas.microsoft.com/office/drawing/2014/main" id="{BD7CFBFF-0F59-409B-E0BB-6155387D8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0A66B8-DCDC-C640-99D0-E796FB21F7C0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B85A9401-7669-5472-70D5-0151AC9D6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How to Mine?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55298" name="Picture 7" descr="JCU_Logo_RGB.jpg">
            <a:extLst>
              <a:ext uri="{FF2B5EF4-FFF2-40B4-BE49-F238E27FC236}">
                <a16:creationId xmlns:a16="http://schemas.microsoft.com/office/drawing/2014/main" id="{D0407822-B001-2F18-BEFD-43B7BA744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9" name="Line 9">
            <a:extLst>
              <a:ext uri="{FF2B5EF4-FFF2-40B4-BE49-F238E27FC236}">
                <a16:creationId xmlns:a16="http://schemas.microsoft.com/office/drawing/2014/main" id="{B82EAD41-F1BA-A6BA-9DAA-CEDC7D4B2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0" name="Line 10">
            <a:extLst>
              <a:ext uri="{FF2B5EF4-FFF2-40B4-BE49-F238E27FC236}">
                <a16:creationId xmlns:a16="http://schemas.microsoft.com/office/drawing/2014/main" id="{7A221348-4CAA-9FA6-264C-335801900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1" name="Content Placeholder 2">
            <a:extLst>
              <a:ext uri="{FF2B5EF4-FFF2-40B4-BE49-F238E27FC236}">
                <a16:creationId xmlns:a16="http://schemas.microsoft.com/office/drawing/2014/main" id="{7C7A61E9-595B-ADA1-9A43-FBDCCCDD2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03363"/>
            <a:ext cx="8077200" cy="462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14400" indent="-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AU" altLang="en-US" sz="2800" dirty="0">
                <a:solidFill>
                  <a:srgbClr val="FF0000"/>
                </a:solidFill>
                <a:cs typeface="Arial" panose="020B0604020202020204" pitchFamily="34" charset="0"/>
              </a:rPr>
              <a:t>Downward closure </a:t>
            </a:r>
            <a:r>
              <a:rPr lang="en-AU" altLang="en-US" sz="2800" dirty="0">
                <a:cs typeface="Arial" panose="020B0604020202020204" pitchFamily="34" charset="0"/>
              </a:rPr>
              <a:t>property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altLang="en-US" sz="2400" u="sng" dirty="0">
                <a:solidFill>
                  <a:srgbClr val="2E3192"/>
                </a:solidFill>
                <a:cs typeface="Arial" panose="020B0604020202020204" pitchFamily="34" charset="0"/>
              </a:rPr>
              <a:t>Any subset of a frequent itemset must be frequent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altLang="en-US" sz="2400" dirty="0">
                <a:cs typeface="Arial" panose="020B0604020202020204" pitchFamily="34" charset="0"/>
              </a:rPr>
              <a:t>If {coffee, sugar, banana} is frequent, so is {coffee, sugar}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ko-KR" dirty="0">
                <a:ea typeface="굴림" panose="020B0600000101010101" pitchFamily="34" charset="-127"/>
              </a:rPr>
              <a:t>i.e., every transaction having {milk, coffee, sugar} also contains {milk, coffee}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ko-KR" dirty="0">
                <a:ea typeface="굴림" panose="020B0600000101010101" pitchFamily="34" charset="-127"/>
              </a:rPr>
              <a:t>E.g., if {coffee, sugar, banana} occurs 20 times, it would be impossible for {coffee, sugar} to occur &lt; 20 times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endParaRPr lang="en-US" altLang="ko-KR" dirty="0">
              <a:ea typeface="굴림" panose="020B0600000101010101" pitchFamily="34" charset="-127"/>
            </a:endParaRPr>
          </a:p>
          <a:p>
            <a:r>
              <a:rPr lang="en-AU" altLang="en-US" sz="2800" dirty="0">
                <a:cs typeface="Arial" panose="020B0604020202020204" pitchFamily="34" charset="0"/>
              </a:rPr>
              <a:t>Scalable ARM methods: Two major approaches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altLang="en-US" sz="2400" dirty="0" err="1">
                <a:solidFill>
                  <a:srgbClr val="FF0000"/>
                </a:solidFill>
                <a:cs typeface="Arial" panose="020B0604020202020204" pitchFamily="34" charset="0"/>
              </a:rPr>
              <a:t>Apriori</a:t>
            </a:r>
            <a:endParaRPr lang="en-AU" altLang="en-US" sz="24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AU" altLang="en-US" sz="2400" dirty="0">
                <a:cs typeface="Arial" panose="020B0604020202020204" pitchFamily="34" charset="0"/>
              </a:rPr>
              <a:t>Frequent pattern growth (FP-growth)</a:t>
            </a:r>
          </a:p>
          <a:p>
            <a:endParaRPr lang="en-AU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AU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302" name="Slide Number Placeholder 6">
            <a:extLst>
              <a:ext uri="{FF2B5EF4-FFF2-40B4-BE49-F238E27FC236}">
                <a16:creationId xmlns:a16="http://schemas.microsoft.com/office/drawing/2014/main" id="{DCC0C463-D2E7-3770-72E5-284DFDE03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05A26C-3FD6-BE49-AE57-06A4BD612EE6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6FBBAB9D-98AE-7B54-EDEB-EEA1BF9E4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Apriori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57346" name="Picture 7" descr="JCU_Logo_RGB.jpg">
            <a:extLst>
              <a:ext uri="{FF2B5EF4-FFF2-40B4-BE49-F238E27FC236}">
                <a16:creationId xmlns:a16="http://schemas.microsoft.com/office/drawing/2014/main" id="{4B62462C-0D1A-3D8D-707F-594055869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7" name="Line 9">
            <a:extLst>
              <a:ext uri="{FF2B5EF4-FFF2-40B4-BE49-F238E27FC236}">
                <a16:creationId xmlns:a16="http://schemas.microsoft.com/office/drawing/2014/main" id="{3D946BDF-91AE-40BE-3360-AEF33073EB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48" name="Line 10">
            <a:extLst>
              <a:ext uri="{FF2B5EF4-FFF2-40B4-BE49-F238E27FC236}">
                <a16:creationId xmlns:a16="http://schemas.microsoft.com/office/drawing/2014/main" id="{AA49F341-90AF-959F-B1C5-8C31F51FBD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49" name="Slide Number Placeholder 6">
            <a:extLst>
              <a:ext uri="{FF2B5EF4-FFF2-40B4-BE49-F238E27FC236}">
                <a16:creationId xmlns:a16="http://schemas.microsoft.com/office/drawing/2014/main" id="{65003596-7765-F602-E3EC-08A5DA968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CEA837-EAE0-AB49-B43F-9A16DB51E4EF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3702279-80F7-3AEE-C809-B061865A09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00100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US" sz="2400" u="sng" dirty="0" err="1">
                <a:solidFill>
                  <a:schemeClr val="hlink"/>
                </a:solidFill>
                <a:ea typeface="+mn-ea"/>
              </a:rPr>
              <a:t>Apriori</a:t>
            </a:r>
            <a:r>
              <a:rPr lang="en-US" sz="2400" u="sng" dirty="0">
                <a:solidFill>
                  <a:schemeClr val="hlink"/>
                </a:solidFill>
                <a:ea typeface="+mn-ea"/>
              </a:rPr>
              <a:t> pruning principle</a:t>
            </a:r>
            <a:r>
              <a:rPr lang="en-US" sz="2400" dirty="0">
                <a:solidFill>
                  <a:schemeClr val="hlink"/>
                </a:solidFill>
                <a:ea typeface="+mn-ea"/>
              </a:rPr>
              <a:t>: </a:t>
            </a:r>
          </a:p>
          <a:p>
            <a:pPr eaLnBrk="1" hangingPunct="1">
              <a:lnSpc>
                <a:spcPct val="120000"/>
              </a:lnSpc>
              <a:buFont typeface="Arial" charset="0"/>
              <a:buNone/>
              <a:defRPr/>
            </a:pPr>
            <a:r>
              <a:rPr lang="en-US" sz="2400" dirty="0">
                <a:solidFill>
                  <a:schemeClr val="hlink"/>
                </a:solidFill>
                <a:ea typeface="+mn-ea"/>
              </a:rPr>
              <a:t>     </a:t>
            </a:r>
            <a:r>
              <a:rPr lang="en-US" sz="2400" dirty="0">
                <a:solidFill>
                  <a:schemeClr val="tx2"/>
                </a:solidFill>
                <a:ea typeface="+mn-ea"/>
              </a:rPr>
              <a:t>If there is </a:t>
            </a:r>
            <a:r>
              <a:rPr lang="en-US" sz="2400" dirty="0">
                <a:solidFill>
                  <a:schemeClr val="hlink"/>
                </a:solidFill>
                <a:ea typeface="+mn-ea"/>
              </a:rPr>
              <a:t>any</a:t>
            </a:r>
            <a:r>
              <a:rPr lang="en-US" sz="2400" dirty="0">
                <a:solidFill>
                  <a:schemeClr val="tx2"/>
                </a:solidFill>
                <a:ea typeface="+mn-ea"/>
              </a:rPr>
              <a:t> </a:t>
            </a:r>
            <a:r>
              <a:rPr lang="en-US" sz="2400" dirty="0" err="1">
                <a:solidFill>
                  <a:schemeClr val="tx2"/>
                </a:solidFill>
                <a:ea typeface="+mn-ea"/>
              </a:rPr>
              <a:t>itemset</a:t>
            </a:r>
            <a:r>
              <a:rPr lang="en-US" sz="2400" dirty="0">
                <a:solidFill>
                  <a:schemeClr val="tx2"/>
                </a:solidFill>
                <a:ea typeface="+mn-ea"/>
              </a:rPr>
              <a:t> which is infrequent, its superset should not be generated or tested! </a:t>
            </a:r>
          </a:p>
          <a:p>
            <a:pPr eaLnBrk="1" hangingPunct="1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Method: </a:t>
            </a:r>
          </a:p>
          <a:p>
            <a:pPr lvl="1" eaLnBrk="1" hangingPunct="1">
              <a:lnSpc>
                <a:spcPct val="120000"/>
              </a:lnSpc>
              <a:buFont typeface="Arial" charset="0"/>
              <a:buChar char="–"/>
              <a:defRPr/>
            </a:pPr>
            <a:r>
              <a:rPr lang="en-US" sz="2400" dirty="0">
                <a:ea typeface="+mn-ea"/>
              </a:rPr>
              <a:t>Initially, scan DB once to get frequent 1-itemset</a:t>
            </a:r>
          </a:p>
          <a:p>
            <a:pPr lvl="1" eaLnBrk="1" hangingPunct="1">
              <a:lnSpc>
                <a:spcPct val="120000"/>
              </a:lnSpc>
              <a:buFont typeface="Arial" charset="0"/>
              <a:buChar char="–"/>
              <a:defRPr/>
            </a:pPr>
            <a:r>
              <a:rPr lang="en-US" sz="2400" dirty="0">
                <a:solidFill>
                  <a:schemeClr val="hlink"/>
                </a:solidFill>
                <a:ea typeface="+mn-ea"/>
              </a:rPr>
              <a:t>Generate</a:t>
            </a:r>
            <a:r>
              <a:rPr lang="en-US" sz="2400" dirty="0">
                <a:solidFill>
                  <a:schemeClr val="bg2"/>
                </a:solidFill>
                <a:ea typeface="+mn-ea"/>
              </a:rPr>
              <a:t> </a:t>
            </a:r>
            <a:r>
              <a:rPr lang="en-US" sz="2400" dirty="0">
                <a:solidFill>
                  <a:srgbClr val="C00000"/>
                </a:solidFill>
                <a:ea typeface="+mn-ea"/>
              </a:rPr>
              <a:t>length (k+1) </a:t>
            </a:r>
            <a:r>
              <a:rPr lang="en-US" sz="2400" dirty="0">
                <a:solidFill>
                  <a:schemeClr val="hlink"/>
                </a:solidFill>
                <a:ea typeface="+mn-ea"/>
              </a:rPr>
              <a:t>candidate</a:t>
            </a:r>
            <a:r>
              <a:rPr lang="en-US" sz="2400" dirty="0">
                <a:solidFill>
                  <a:schemeClr val="bg2"/>
                </a:solidFill>
                <a:ea typeface="+mn-ea"/>
              </a:rPr>
              <a:t> </a:t>
            </a:r>
            <a:r>
              <a:rPr lang="en-US" sz="2400" dirty="0" err="1">
                <a:solidFill>
                  <a:srgbClr val="C00000"/>
                </a:solidFill>
                <a:ea typeface="+mn-ea"/>
              </a:rPr>
              <a:t>itemsets</a:t>
            </a:r>
            <a:r>
              <a:rPr lang="en-US" sz="2400" dirty="0">
                <a:solidFill>
                  <a:srgbClr val="C00000"/>
                </a:solidFill>
                <a:ea typeface="+mn-ea"/>
              </a:rPr>
              <a:t> from length k </a:t>
            </a:r>
            <a:r>
              <a:rPr lang="en-US" sz="2400" dirty="0">
                <a:solidFill>
                  <a:schemeClr val="hlink"/>
                </a:solidFill>
                <a:ea typeface="+mn-ea"/>
              </a:rPr>
              <a:t>frequent</a:t>
            </a:r>
            <a:r>
              <a:rPr lang="en-US" sz="2400" dirty="0">
                <a:solidFill>
                  <a:schemeClr val="bg2"/>
                </a:solidFill>
                <a:ea typeface="+mn-ea"/>
              </a:rPr>
              <a:t> </a:t>
            </a:r>
            <a:r>
              <a:rPr lang="en-US" sz="2400" dirty="0" err="1">
                <a:solidFill>
                  <a:srgbClr val="C00000"/>
                </a:solidFill>
                <a:ea typeface="+mn-ea"/>
              </a:rPr>
              <a:t>itemsets</a:t>
            </a:r>
            <a:endParaRPr lang="en-US" sz="2400" dirty="0">
              <a:solidFill>
                <a:srgbClr val="C00000"/>
              </a:solidFill>
              <a:ea typeface="+mn-ea"/>
            </a:endParaRPr>
          </a:p>
          <a:p>
            <a:pPr lvl="1" eaLnBrk="1" hangingPunct="1">
              <a:lnSpc>
                <a:spcPct val="120000"/>
              </a:lnSpc>
              <a:buFont typeface="Arial" charset="0"/>
              <a:buChar char="–"/>
              <a:defRPr/>
            </a:pPr>
            <a:r>
              <a:rPr lang="en-US" sz="2400" dirty="0">
                <a:solidFill>
                  <a:schemeClr val="hlink"/>
                </a:solidFill>
                <a:ea typeface="+mn-ea"/>
              </a:rPr>
              <a:t>Test </a:t>
            </a:r>
            <a:r>
              <a:rPr lang="en-US" sz="2400" dirty="0">
                <a:solidFill>
                  <a:srgbClr val="C00000"/>
                </a:solidFill>
                <a:ea typeface="+mn-ea"/>
              </a:rPr>
              <a:t>the candidates against DB</a:t>
            </a:r>
          </a:p>
          <a:p>
            <a:pPr lvl="1" eaLnBrk="1" hangingPunct="1">
              <a:lnSpc>
                <a:spcPct val="120000"/>
              </a:lnSpc>
              <a:buFont typeface="Arial" charset="0"/>
              <a:buChar char="–"/>
              <a:defRPr/>
            </a:pPr>
            <a:r>
              <a:rPr lang="en-US" sz="2400" dirty="0">
                <a:solidFill>
                  <a:srgbClr val="C00000"/>
                </a:solidFill>
                <a:ea typeface="+mn-ea"/>
              </a:rPr>
              <a:t>Terminate when no frequent or candidate set can be generated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40D6FEDC-14E3-40AD-C804-A7DE3E356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38" y="381000"/>
            <a:ext cx="7245350" cy="815975"/>
          </a:xfrm>
        </p:spPr>
        <p:txBody>
          <a:bodyPr lIns="0" tIns="0" rIns="0" bIns="0"/>
          <a:lstStyle/>
          <a:p>
            <a:pPr algn="l"/>
            <a:r>
              <a:rPr lang="en-AU" altLang="en-US" sz="40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Apriori Algorithm – An Example</a:t>
            </a:r>
            <a:endParaRPr lang="en-US" altLang="en-US" sz="40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59394" name="Picture 7" descr="JCU_Logo_RGB.jpg">
            <a:extLst>
              <a:ext uri="{FF2B5EF4-FFF2-40B4-BE49-F238E27FC236}">
                <a16:creationId xmlns:a16="http://schemas.microsoft.com/office/drawing/2014/main" id="{D5296E1E-C32F-5D3F-627E-C93F239C7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Line 9">
            <a:extLst>
              <a:ext uri="{FF2B5EF4-FFF2-40B4-BE49-F238E27FC236}">
                <a16:creationId xmlns:a16="http://schemas.microsoft.com/office/drawing/2014/main" id="{5F63F039-90F0-4556-F30F-694573AD88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738" y="1196975"/>
            <a:ext cx="8164512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396" name="Slide Number Placeholder 6">
            <a:extLst>
              <a:ext uri="{FF2B5EF4-FFF2-40B4-BE49-F238E27FC236}">
                <a16:creationId xmlns:a16="http://schemas.microsoft.com/office/drawing/2014/main" id="{E9926880-CC37-773C-CE72-B73BD5AF6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675438" y="660400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C9967F-88BA-414C-8F56-30AFC7253387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59397" name="Text Box 3">
            <a:extLst>
              <a:ext uri="{FF2B5EF4-FFF2-40B4-BE49-F238E27FC236}">
                <a16:creationId xmlns:a16="http://schemas.microsoft.com/office/drawing/2014/main" id="{082D75E5-CFC6-A938-9436-C34BD7063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1543050"/>
            <a:ext cx="1985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  <a:ea typeface="굴림" panose="020B0600000101010101" pitchFamily="34" charset="-127"/>
              </a:rPr>
              <a:t>Database TDB</a:t>
            </a:r>
          </a:p>
        </p:txBody>
      </p:sp>
      <p:sp>
        <p:nvSpPr>
          <p:cNvPr id="59398" name="Text Box 4">
            <a:extLst>
              <a:ext uri="{FF2B5EF4-FFF2-40B4-BE49-F238E27FC236}">
                <a16:creationId xmlns:a16="http://schemas.microsoft.com/office/drawing/2014/main" id="{2A4B0F9C-9621-7325-82E9-E3B29BFCA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2444750"/>
            <a:ext cx="1090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  <a:ea typeface="굴림" panose="020B0600000101010101" pitchFamily="34" charset="-127"/>
              </a:rPr>
              <a:t>1</a:t>
            </a:r>
            <a:r>
              <a:rPr lang="en-US" altLang="ko-KR" sz="2400" baseline="30000">
                <a:latin typeface="Times New Roman" panose="02020603050405020304" pitchFamily="18" charset="0"/>
                <a:ea typeface="굴림" panose="020B0600000101010101" pitchFamily="34" charset="-127"/>
              </a:rPr>
              <a:t>st</a:t>
            </a:r>
            <a:r>
              <a:rPr lang="en-US" altLang="ko-KR" sz="2400">
                <a:latin typeface="Times New Roman" panose="02020603050405020304" pitchFamily="18" charset="0"/>
                <a:ea typeface="굴림" panose="020B0600000101010101" pitchFamily="34" charset="-127"/>
              </a:rPr>
              <a:t> scan</a:t>
            </a:r>
          </a:p>
        </p:txBody>
      </p:sp>
      <p:sp>
        <p:nvSpPr>
          <p:cNvPr id="59399" name="Line 5">
            <a:extLst>
              <a:ext uri="{FF2B5EF4-FFF2-40B4-BE49-F238E27FC236}">
                <a16:creationId xmlns:a16="http://schemas.microsoft.com/office/drawing/2014/main" id="{A814FC9A-1ABE-AF4D-2A60-CFEFF3132C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2750" y="2890838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00" name="Text Box 6">
            <a:extLst>
              <a:ext uri="{FF2B5EF4-FFF2-40B4-BE49-F238E27FC236}">
                <a16:creationId xmlns:a16="http://schemas.microsoft.com/office/drawing/2014/main" id="{CE93BF32-B91E-956E-202D-5A93EE443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4713" y="18923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4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4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1</a:t>
            </a:r>
          </a:p>
        </p:txBody>
      </p:sp>
      <p:sp>
        <p:nvSpPr>
          <p:cNvPr id="59401" name="Text Box 7">
            <a:extLst>
              <a:ext uri="{FF2B5EF4-FFF2-40B4-BE49-F238E27FC236}">
                <a16:creationId xmlns:a16="http://schemas.microsoft.com/office/drawing/2014/main" id="{DF3C2472-F9D8-5429-A417-106B8A1B4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2338" y="1735138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400" i="1">
                <a:latin typeface="Times New Roman" panose="02020603050405020304" pitchFamily="18" charset="0"/>
                <a:ea typeface="굴림" panose="020B0600000101010101" pitchFamily="34" charset="-127"/>
              </a:rPr>
              <a:t>L</a:t>
            </a:r>
            <a:r>
              <a:rPr lang="en-US" altLang="ko-KR" sz="24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1</a:t>
            </a:r>
          </a:p>
        </p:txBody>
      </p:sp>
      <p:sp>
        <p:nvSpPr>
          <p:cNvPr id="59402" name="Text Box 8">
            <a:extLst>
              <a:ext uri="{FF2B5EF4-FFF2-40B4-BE49-F238E27FC236}">
                <a16:creationId xmlns:a16="http://schemas.microsoft.com/office/drawing/2014/main" id="{76AE4514-B2FB-D64B-E04A-E6BC3C571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63" y="3900488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400" i="1">
                <a:latin typeface="Times New Roman" panose="02020603050405020304" pitchFamily="18" charset="0"/>
                <a:ea typeface="굴림" panose="020B0600000101010101" pitchFamily="34" charset="-127"/>
              </a:rPr>
              <a:t>L</a:t>
            </a:r>
            <a:r>
              <a:rPr lang="en-US" altLang="ko-KR" sz="24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</a:p>
        </p:txBody>
      </p:sp>
      <p:sp>
        <p:nvSpPr>
          <p:cNvPr id="59403" name="Text Box 9">
            <a:extLst>
              <a:ext uri="{FF2B5EF4-FFF2-40B4-BE49-F238E27FC236}">
                <a16:creationId xmlns:a16="http://schemas.microsoft.com/office/drawing/2014/main" id="{86F0A8B5-2FDF-B07B-A60C-14A7B4A2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550" y="35036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4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4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</a:p>
        </p:txBody>
      </p:sp>
      <p:sp>
        <p:nvSpPr>
          <p:cNvPr id="59404" name="Text Box 10">
            <a:extLst>
              <a:ext uri="{FF2B5EF4-FFF2-40B4-BE49-F238E27FC236}">
                <a16:creationId xmlns:a16="http://schemas.microsoft.com/office/drawing/2014/main" id="{A3978C79-2259-E428-9B29-3E67DF59B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35544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4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4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</a:p>
        </p:txBody>
      </p:sp>
      <p:sp>
        <p:nvSpPr>
          <p:cNvPr id="59405" name="Line 11">
            <a:extLst>
              <a:ext uri="{FF2B5EF4-FFF2-40B4-BE49-F238E27FC236}">
                <a16:creationId xmlns:a16="http://schemas.microsoft.com/office/drawing/2014/main" id="{27ABB9E2-A6F6-2535-7DB0-961766D040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3263" y="4424363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06" name="Text Box 12">
            <a:extLst>
              <a:ext uri="{FF2B5EF4-FFF2-40B4-BE49-F238E27FC236}">
                <a16:creationId xmlns:a16="http://schemas.microsoft.com/office/drawing/2014/main" id="{65BEE095-84A0-A47C-E8B5-C6D5EB13F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213" y="3922713"/>
            <a:ext cx="1157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  <a:r>
              <a:rPr lang="en-US" altLang="ko-KR" sz="2400" baseline="30000">
                <a:latin typeface="Times New Roman" panose="02020603050405020304" pitchFamily="18" charset="0"/>
                <a:ea typeface="굴림" panose="020B0600000101010101" pitchFamily="34" charset="-127"/>
              </a:rPr>
              <a:t>nd</a:t>
            </a:r>
            <a:r>
              <a:rPr lang="en-US" altLang="ko-KR" sz="2400">
                <a:latin typeface="Times New Roman" panose="02020603050405020304" pitchFamily="18" charset="0"/>
                <a:ea typeface="굴림" panose="020B0600000101010101" pitchFamily="34" charset="-127"/>
              </a:rPr>
              <a:t> scan</a:t>
            </a:r>
          </a:p>
        </p:txBody>
      </p:sp>
      <p:sp>
        <p:nvSpPr>
          <p:cNvPr id="59407" name="AutoShape 13">
            <a:extLst>
              <a:ext uri="{FF2B5EF4-FFF2-40B4-BE49-F238E27FC236}">
                <a16:creationId xmlns:a16="http://schemas.microsoft.com/office/drawing/2014/main" id="{E764BF7F-0E95-97DA-BAC9-66103D94F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6938" y="3241675"/>
            <a:ext cx="627062" cy="855663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400">
              <a:latin typeface="Arial" panose="020B0604020202020204" pitchFamily="34" charset="0"/>
            </a:endParaRPr>
          </a:p>
        </p:txBody>
      </p:sp>
      <p:sp>
        <p:nvSpPr>
          <p:cNvPr id="59408" name="Line 14">
            <a:extLst>
              <a:ext uri="{FF2B5EF4-FFF2-40B4-BE49-F238E27FC236}">
                <a16:creationId xmlns:a16="http://schemas.microsoft.com/office/drawing/2014/main" id="{BAABE6F9-15CC-E7B5-3577-CA12DDAAB5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0875" y="6470650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09" name="Text Box 15">
            <a:extLst>
              <a:ext uri="{FF2B5EF4-FFF2-40B4-BE49-F238E27FC236}">
                <a16:creationId xmlns:a16="http://schemas.microsoft.com/office/drawing/2014/main" id="{0C3DAEB9-29FE-B3BB-3C92-E441179B3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4138" y="59737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4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4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3</a:t>
            </a:r>
          </a:p>
        </p:txBody>
      </p:sp>
      <p:sp>
        <p:nvSpPr>
          <p:cNvPr id="59410" name="Text Box 16">
            <a:extLst>
              <a:ext uri="{FF2B5EF4-FFF2-40B4-BE49-F238E27FC236}">
                <a16:creationId xmlns:a16="http://schemas.microsoft.com/office/drawing/2014/main" id="{F33262FB-F39C-BACA-FDF1-A4AAEB6A6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0438" y="5962650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400" i="1">
                <a:latin typeface="Times New Roman" panose="02020603050405020304" pitchFamily="18" charset="0"/>
                <a:ea typeface="굴림" panose="020B0600000101010101" pitchFamily="34" charset="-127"/>
              </a:rPr>
              <a:t>L</a:t>
            </a:r>
            <a:r>
              <a:rPr lang="en-US" altLang="ko-KR" sz="24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3</a:t>
            </a:r>
          </a:p>
        </p:txBody>
      </p:sp>
      <p:sp>
        <p:nvSpPr>
          <p:cNvPr id="59411" name="Text Box 17">
            <a:extLst>
              <a:ext uri="{FF2B5EF4-FFF2-40B4-BE49-F238E27FC236}">
                <a16:creationId xmlns:a16="http://schemas.microsoft.com/office/drawing/2014/main" id="{F055E5F5-F01D-1355-0964-7C78B1D4B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913" y="6053138"/>
            <a:ext cx="1123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  <a:ea typeface="굴림" panose="020B0600000101010101" pitchFamily="34" charset="-127"/>
              </a:rPr>
              <a:t>3</a:t>
            </a:r>
            <a:r>
              <a:rPr lang="en-US" altLang="ko-KR" sz="2400" baseline="30000">
                <a:latin typeface="Times New Roman" panose="02020603050405020304" pitchFamily="18" charset="0"/>
                <a:ea typeface="굴림" panose="020B0600000101010101" pitchFamily="34" charset="-127"/>
              </a:rPr>
              <a:t>rd</a:t>
            </a:r>
            <a:r>
              <a:rPr lang="en-US" altLang="ko-KR" sz="2400">
                <a:latin typeface="Times New Roman" panose="02020603050405020304" pitchFamily="18" charset="0"/>
                <a:ea typeface="굴림" panose="020B0600000101010101" pitchFamily="34" charset="-127"/>
              </a:rPr>
              <a:t> scan</a:t>
            </a:r>
          </a:p>
        </p:txBody>
      </p:sp>
      <p:sp>
        <p:nvSpPr>
          <p:cNvPr id="59412" name="AutoShape 18">
            <a:extLst>
              <a:ext uri="{FF2B5EF4-FFF2-40B4-BE49-F238E27FC236}">
                <a16:creationId xmlns:a16="http://schemas.microsoft.com/office/drawing/2014/main" id="{CAC156A8-BA10-0A2A-86CF-20EC254A3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5018088"/>
            <a:ext cx="441325" cy="1249362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400">
              <a:latin typeface="Arial" panose="020B0604020202020204" pitchFamily="34" charset="0"/>
            </a:endParaRPr>
          </a:p>
        </p:txBody>
      </p:sp>
      <p:sp>
        <p:nvSpPr>
          <p:cNvPr id="59413" name="Line 19">
            <a:extLst>
              <a:ext uri="{FF2B5EF4-FFF2-40B4-BE49-F238E27FC236}">
                <a16:creationId xmlns:a16="http://schemas.microsoft.com/office/drawing/2014/main" id="{0A70C656-41F9-9EAA-BB09-0CB9A88ED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9638" y="2609850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14" name="Line 20">
            <a:extLst>
              <a:ext uri="{FF2B5EF4-FFF2-40B4-BE49-F238E27FC236}">
                <a16:creationId xmlns:a16="http://schemas.microsoft.com/office/drawing/2014/main" id="{0A75F16E-49DD-CDD4-EAD3-9580D43E30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22638" y="481965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28" name="Group 21">
            <a:extLst>
              <a:ext uri="{FF2B5EF4-FFF2-40B4-BE49-F238E27FC236}">
                <a16:creationId xmlns:a16="http://schemas.microsoft.com/office/drawing/2014/main" id="{9ADD9496-46B8-D694-E860-2AF986B4A6B8}"/>
              </a:ext>
            </a:extLst>
          </p:cNvPr>
          <p:cNvGraphicFramePr>
            <a:graphicFrameLocks noGrp="1"/>
          </p:cNvGraphicFramePr>
          <p:nvPr/>
        </p:nvGraphicFramePr>
        <p:xfrm>
          <a:off x="808038" y="2000250"/>
          <a:ext cx="1905000" cy="15541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D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E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C, E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E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" name="Group 41">
            <a:extLst>
              <a:ext uri="{FF2B5EF4-FFF2-40B4-BE49-F238E27FC236}">
                <a16:creationId xmlns:a16="http://schemas.microsoft.com/office/drawing/2014/main" id="{F4C9B091-7CAD-B78C-4FC1-F38EADED2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601244"/>
              </p:ext>
            </p:extLst>
          </p:nvPr>
        </p:nvGraphicFramePr>
        <p:xfrm>
          <a:off x="4084638" y="1390650"/>
          <a:ext cx="1752600" cy="1865328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Itemset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sup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{A}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2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{B}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3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{C}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3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{D}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ahoma" charset="0"/>
                          <a:ea typeface="Gulim" charset="-127"/>
                        </a:rPr>
                        <a:t>1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{E}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3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0" name="Group 64">
            <a:extLst>
              <a:ext uri="{FF2B5EF4-FFF2-40B4-BE49-F238E27FC236}">
                <a16:creationId xmlns:a16="http://schemas.microsoft.com/office/drawing/2014/main" id="{B8C91E47-C06F-C235-4E30-B9E6A3C8CDAD}"/>
              </a:ext>
            </a:extLst>
          </p:cNvPr>
          <p:cNvGraphicFramePr>
            <a:graphicFrameLocks noGrp="1"/>
          </p:cNvGraphicFramePr>
          <p:nvPr/>
        </p:nvGraphicFramePr>
        <p:xfrm>
          <a:off x="6599238" y="1543050"/>
          <a:ext cx="1752600" cy="15541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3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Itemset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sup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3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{A}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2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3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{B}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3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3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{C}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3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3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{E}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3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1" name="Group 84">
            <a:extLst>
              <a:ext uri="{FF2B5EF4-FFF2-40B4-BE49-F238E27FC236}">
                <a16:creationId xmlns:a16="http://schemas.microsoft.com/office/drawing/2014/main" id="{2BAA7F50-7257-5FDC-7780-30C5DEC7DBBA}"/>
              </a:ext>
            </a:extLst>
          </p:cNvPr>
          <p:cNvGraphicFramePr>
            <a:graphicFrameLocks noGrp="1"/>
          </p:cNvGraphicFramePr>
          <p:nvPr/>
        </p:nvGraphicFramePr>
        <p:xfrm>
          <a:off x="7208838" y="3752850"/>
          <a:ext cx="1143000" cy="217646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B}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C}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E}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C}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E}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{C, E}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2" name="Group 102">
            <a:extLst>
              <a:ext uri="{FF2B5EF4-FFF2-40B4-BE49-F238E27FC236}">
                <a16:creationId xmlns:a16="http://schemas.microsoft.com/office/drawing/2014/main" id="{95EB3C2D-A75F-8CA9-1F42-053CAA757E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059862"/>
              </p:ext>
            </p:extLst>
          </p:nvPr>
        </p:nvGraphicFramePr>
        <p:xfrm>
          <a:off x="3856038" y="3600450"/>
          <a:ext cx="1752600" cy="200502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43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Itemset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sup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3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{A, B}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ahoma" charset="0"/>
                          <a:ea typeface="Gulim" charset="-127"/>
                        </a:rPr>
                        <a:t>1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43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{A, C}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2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43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{A, E}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ahoma" charset="0"/>
                          <a:ea typeface="Gulim" charset="-127"/>
                        </a:rPr>
                        <a:t>1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43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{B, C}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2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43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{B, E}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3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43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{C, E}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2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" name="Group 128">
            <a:extLst>
              <a:ext uri="{FF2B5EF4-FFF2-40B4-BE49-F238E27FC236}">
                <a16:creationId xmlns:a16="http://schemas.microsoft.com/office/drawing/2014/main" id="{279C5DCC-C6A0-F7DF-8581-94DDDDBF283E}"/>
              </a:ext>
            </a:extLst>
          </p:cNvPr>
          <p:cNvGraphicFramePr>
            <a:graphicFrameLocks noGrp="1"/>
          </p:cNvGraphicFramePr>
          <p:nvPr/>
        </p:nvGraphicFramePr>
        <p:xfrm>
          <a:off x="1417638" y="4033838"/>
          <a:ext cx="1752600" cy="143194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3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Itemset</a:t>
                      </a:r>
                    </a:p>
                  </a:txBody>
                  <a:tcPr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sup</a:t>
                      </a:r>
                    </a:p>
                  </a:txBody>
                  <a:tcPr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{A, C}</a:t>
                      </a:r>
                    </a:p>
                  </a:txBody>
                  <a:tcPr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2</a:t>
                      </a:r>
                    </a:p>
                  </a:txBody>
                  <a:tcPr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3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{B, C}</a:t>
                      </a:r>
                    </a:p>
                  </a:txBody>
                  <a:tcPr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2</a:t>
                      </a:r>
                    </a:p>
                  </a:txBody>
                  <a:tcPr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3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{B, E}</a:t>
                      </a:r>
                    </a:p>
                  </a:txBody>
                  <a:tcPr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3</a:t>
                      </a:r>
                    </a:p>
                  </a:txBody>
                  <a:tcPr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3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{C, E}</a:t>
                      </a:r>
                    </a:p>
                  </a:txBody>
                  <a:tcPr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2</a:t>
                      </a:r>
                    </a:p>
                  </a:txBody>
                  <a:tcPr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" name="Group 148">
            <a:extLst>
              <a:ext uri="{FF2B5EF4-FFF2-40B4-BE49-F238E27FC236}">
                <a16:creationId xmlns:a16="http://schemas.microsoft.com/office/drawing/2014/main" id="{1C6C7446-0439-3864-ACE3-BB9591829F1E}"/>
              </a:ext>
            </a:extLst>
          </p:cNvPr>
          <p:cNvGraphicFramePr>
            <a:graphicFrameLocks noGrp="1"/>
          </p:cNvGraphicFramePr>
          <p:nvPr/>
        </p:nvGraphicFramePr>
        <p:xfrm>
          <a:off x="1798638" y="6038850"/>
          <a:ext cx="1143000" cy="65881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10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</a:p>
                  </a:txBody>
                  <a:tcPr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C, E}</a:t>
                      </a:r>
                    </a:p>
                  </a:txBody>
                  <a:tcPr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Group 156">
            <a:extLst>
              <a:ext uri="{FF2B5EF4-FFF2-40B4-BE49-F238E27FC236}">
                <a16:creationId xmlns:a16="http://schemas.microsoft.com/office/drawing/2014/main" id="{7F194A93-98FF-FDBA-659A-CC8D379C88A8}"/>
              </a:ext>
            </a:extLst>
          </p:cNvPr>
          <p:cNvGraphicFramePr>
            <a:graphicFrameLocks noGrp="1"/>
          </p:cNvGraphicFramePr>
          <p:nvPr/>
        </p:nvGraphicFramePr>
        <p:xfrm>
          <a:off x="5227638" y="6038850"/>
          <a:ext cx="1752600" cy="61912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Itemset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sup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{B, C, E}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Gulim" charset="-127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9561" name="Text Box 167">
            <a:extLst>
              <a:ext uri="{FF2B5EF4-FFF2-40B4-BE49-F238E27FC236}">
                <a16:creationId xmlns:a16="http://schemas.microsoft.com/office/drawing/2014/main" id="{E09F5477-4D66-B838-D8A9-A8E62D4DE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1314450"/>
            <a:ext cx="1752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000">
                <a:latin typeface="Arial" panose="020B0604020202020204" pitchFamily="34" charset="0"/>
                <a:ea typeface="굴림" panose="020B0600000101010101" pitchFamily="34" charset="-127"/>
              </a:rPr>
              <a:t>Sup</a:t>
            </a:r>
            <a:r>
              <a:rPr lang="en-US" altLang="ko-KR" sz="2000" baseline="-25000">
                <a:latin typeface="Arial" panose="020B0604020202020204" pitchFamily="34" charset="0"/>
                <a:ea typeface="굴림" panose="020B0600000101010101" pitchFamily="34" charset="-127"/>
              </a:rPr>
              <a:t>min</a:t>
            </a:r>
            <a:r>
              <a:rPr lang="en-US" altLang="ko-KR" sz="2000">
                <a:latin typeface="Arial" panose="020B0604020202020204" pitchFamily="34" charset="0"/>
                <a:ea typeface="굴림" panose="020B0600000101010101" pitchFamily="34" charset="-127"/>
              </a:rPr>
              <a:t> =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87CE1E8D-A884-67DF-39FC-E89950A62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Details of Apriori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61442" name="Picture 7" descr="JCU_Logo_RGB.jpg">
            <a:extLst>
              <a:ext uri="{FF2B5EF4-FFF2-40B4-BE49-F238E27FC236}">
                <a16:creationId xmlns:a16="http://schemas.microsoft.com/office/drawing/2014/main" id="{8999FF8F-D5DB-4E12-CC51-6341F59B2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3" name="Line 9">
            <a:extLst>
              <a:ext uri="{FF2B5EF4-FFF2-40B4-BE49-F238E27FC236}">
                <a16:creationId xmlns:a16="http://schemas.microsoft.com/office/drawing/2014/main" id="{8E3573EB-8C70-891F-E487-B2E7576D70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4" name="Line 10">
            <a:extLst>
              <a:ext uri="{FF2B5EF4-FFF2-40B4-BE49-F238E27FC236}">
                <a16:creationId xmlns:a16="http://schemas.microsoft.com/office/drawing/2014/main" id="{6BE61AD8-4C4A-9570-C956-DBE622ABC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5" name="Slide Number Placeholder 6">
            <a:extLst>
              <a:ext uri="{FF2B5EF4-FFF2-40B4-BE49-F238E27FC236}">
                <a16:creationId xmlns:a16="http://schemas.microsoft.com/office/drawing/2014/main" id="{921C99BE-8352-2FCA-A5E5-C6669CA3F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3C2F63-8C89-814A-B08F-1493D79225A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61446" name="Rectangle 3">
            <a:extLst>
              <a:ext uri="{FF2B5EF4-FFF2-40B4-BE49-F238E27FC236}">
                <a16:creationId xmlns:a16="http://schemas.microsoft.com/office/drawing/2014/main" id="{F6F28E2F-7BBF-4B02-D4D0-10F400ABE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0"/>
            <a:ext cx="7924800" cy="50292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 dirty="0">
                <a:ea typeface="굴림" panose="020B0600000101010101" pitchFamily="34" charset="-127"/>
              </a:rPr>
              <a:t>Generate candidates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 dirty="0">
                <a:ea typeface="굴림" panose="020B0600000101010101" pitchFamily="34" charset="-127"/>
              </a:rPr>
              <a:t>Step 1: self-joining </a:t>
            </a:r>
            <a:r>
              <a:rPr lang="en-US" altLang="ko-KR" sz="2400" i="1" dirty="0">
                <a:ea typeface="굴림" panose="020B0600000101010101" pitchFamily="34" charset="-127"/>
              </a:rPr>
              <a:t>L</a:t>
            </a:r>
            <a:r>
              <a:rPr lang="en-US" altLang="ko-KR" sz="2400" i="1" baseline="-25000" dirty="0">
                <a:ea typeface="굴림" panose="020B0600000101010101" pitchFamily="34" charset="-127"/>
              </a:rPr>
              <a:t>k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 dirty="0">
                <a:ea typeface="굴림" panose="020B0600000101010101" pitchFamily="34" charset="-127"/>
              </a:rPr>
              <a:t>Step 2: pruning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 dirty="0">
                <a:solidFill>
                  <a:srgbClr val="0070C0"/>
                </a:solidFill>
                <a:ea typeface="굴림" panose="020B0600000101010101" pitchFamily="34" charset="-127"/>
              </a:rPr>
              <a:t>Count supports of candidates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 dirty="0">
                <a:ea typeface="굴림" panose="020B0600000101010101" pitchFamily="34" charset="-127"/>
              </a:rPr>
              <a:t>Example of Candidate-generation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 i="1" dirty="0">
                <a:ea typeface="굴림" panose="020B0600000101010101" pitchFamily="34" charset="-127"/>
              </a:rPr>
              <a:t>L</a:t>
            </a:r>
            <a:r>
              <a:rPr lang="en-US" altLang="ko-KR" sz="2400" i="1" baseline="-25000" dirty="0">
                <a:ea typeface="굴림" panose="020B0600000101010101" pitchFamily="34" charset="-127"/>
              </a:rPr>
              <a:t>3</a:t>
            </a:r>
            <a:r>
              <a:rPr lang="en-US" altLang="ko-KR" sz="2400" i="1" dirty="0">
                <a:ea typeface="굴림" panose="020B0600000101010101" pitchFamily="34" charset="-127"/>
              </a:rPr>
              <a:t>=</a:t>
            </a:r>
            <a:r>
              <a:rPr lang="en-US" altLang="ko-KR" sz="2400" dirty="0">
                <a:ea typeface="굴림" panose="020B0600000101010101" pitchFamily="34" charset="-127"/>
              </a:rPr>
              <a:t>{</a:t>
            </a:r>
            <a:r>
              <a:rPr lang="en-US" altLang="ko-KR" sz="2400" i="1" dirty="0" err="1">
                <a:ea typeface="굴림" panose="020B0600000101010101" pitchFamily="34" charset="-127"/>
              </a:rPr>
              <a:t>abc</a:t>
            </a:r>
            <a:r>
              <a:rPr lang="en-US" altLang="ko-KR" sz="2400" i="1" dirty="0">
                <a:ea typeface="굴림" panose="020B0600000101010101" pitchFamily="34" charset="-127"/>
              </a:rPr>
              <a:t>, </a:t>
            </a:r>
            <a:r>
              <a:rPr lang="en-US" altLang="ko-KR" sz="2400" i="1" dirty="0" err="1">
                <a:ea typeface="굴림" panose="020B0600000101010101" pitchFamily="34" charset="-127"/>
              </a:rPr>
              <a:t>abd</a:t>
            </a:r>
            <a:r>
              <a:rPr lang="en-US" altLang="ko-KR" sz="2400" i="1" dirty="0">
                <a:ea typeface="굴림" panose="020B0600000101010101" pitchFamily="34" charset="-127"/>
              </a:rPr>
              <a:t>, </a:t>
            </a:r>
            <a:r>
              <a:rPr lang="en-US" altLang="ko-KR" sz="2400" i="1" dirty="0" err="1">
                <a:ea typeface="굴림" panose="020B0600000101010101" pitchFamily="34" charset="-127"/>
              </a:rPr>
              <a:t>acd</a:t>
            </a:r>
            <a:r>
              <a:rPr lang="en-US" altLang="ko-KR" sz="2400" i="1" dirty="0">
                <a:ea typeface="굴림" panose="020B0600000101010101" pitchFamily="34" charset="-127"/>
              </a:rPr>
              <a:t>, ace, </a:t>
            </a:r>
            <a:r>
              <a:rPr lang="en-US" altLang="ko-KR" sz="2400" i="1" dirty="0" err="1">
                <a:ea typeface="굴림" panose="020B0600000101010101" pitchFamily="34" charset="-127"/>
              </a:rPr>
              <a:t>bcd</a:t>
            </a:r>
            <a:r>
              <a:rPr lang="en-US" altLang="ko-KR" sz="2400" dirty="0">
                <a:ea typeface="굴림" panose="020B0600000101010101" pitchFamily="34" charset="-127"/>
              </a:rPr>
              <a:t>}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 dirty="0">
                <a:ea typeface="굴림" panose="020B0600000101010101" pitchFamily="34" charset="-127"/>
              </a:rPr>
              <a:t>Self-joining: </a:t>
            </a:r>
            <a:r>
              <a:rPr lang="en-US" altLang="ko-KR" sz="2400" i="1" dirty="0">
                <a:ea typeface="굴림" panose="020B0600000101010101" pitchFamily="34" charset="-127"/>
              </a:rPr>
              <a:t>L</a:t>
            </a:r>
            <a:r>
              <a:rPr lang="en-US" altLang="ko-KR" sz="2400" i="1" baseline="-25000" dirty="0">
                <a:ea typeface="굴림" panose="020B0600000101010101" pitchFamily="34" charset="-127"/>
              </a:rPr>
              <a:t>3</a:t>
            </a:r>
            <a:r>
              <a:rPr lang="en-AU" dirty="0"/>
              <a:t>⨝ </a:t>
            </a:r>
            <a:r>
              <a:rPr lang="en-US" altLang="ko-KR" sz="2400" i="1" dirty="0">
                <a:ea typeface="굴림" panose="020B0600000101010101" pitchFamily="34" charset="-127"/>
              </a:rPr>
              <a:t>L</a:t>
            </a:r>
            <a:r>
              <a:rPr lang="en-US" altLang="ko-KR" sz="2400" i="1" baseline="-25000" dirty="0">
                <a:ea typeface="굴림" panose="020B0600000101010101" pitchFamily="34" charset="-127"/>
              </a:rPr>
              <a:t>3</a:t>
            </a:r>
            <a:endParaRPr lang="en-US" altLang="ko-KR" sz="2400" i="1" dirty="0">
              <a:ea typeface="굴림" panose="020B0600000101010101" pitchFamily="34" charset="-127"/>
            </a:endParaRPr>
          </a:p>
          <a:p>
            <a:pPr lvl="2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000" i="1" dirty="0" err="1">
                <a:ea typeface="굴림" panose="020B0600000101010101" pitchFamily="34" charset="-127"/>
              </a:rPr>
              <a:t>abcd</a:t>
            </a:r>
            <a:r>
              <a:rPr lang="en-US" altLang="ko-KR" sz="2000" i="1" dirty="0">
                <a:ea typeface="굴림" panose="020B0600000101010101" pitchFamily="34" charset="-127"/>
              </a:rPr>
              <a:t> </a:t>
            </a:r>
            <a:r>
              <a:rPr lang="en-US" altLang="ko-KR" sz="2000" dirty="0">
                <a:ea typeface="굴림" panose="020B0600000101010101" pitchFamily="34" charset="-127"/>
              </a:rPr>
              <a:t>from </a:t>
            </a:r>
            <a:r>
              <a:rPr lang="en-US" altLang="ko-KR" sz="2000" i="1" dirty="0" err="1">
                <a:ea typeface="굴림" panose="020B0600000101010101" pitchFamily="34" charset="-127"/>
              </a:rPr>
              <a:t>abc</a:t>
            </a:r>
            <a:r>
              <a:rPr lang="en-US" altLang="ko-KR" sz="2000" dirty="0">
                <a:ea typeface="굴림" panose="020B0600000101010101" pitchFamily="34" charset="-127"/>
              </a:rPr>
              <a:t> and </a:t>
            </a:r>
            <a:r>
              <a:rPr lang="en-US" altLang="ko-KR" sz="2000" i="1" dirty="0" err="1">
                <a:ea typeface="굴림" panose="020B0600000101010101" pitchFamily="34" charset="-127"/>
              </a:rPr>
              <a:t>abd</a:t>
            </a:r>
            <a:endParaRPr lang="en-US" altLang="ko-KR" sz="2000" i="1" dirty="0">
              <a:ea typeface="굴림" panose="020B0600000101010101" pitchFamily="34" charset="-127"/>
            </a:endParaRPr>
          </a:p>
          <a:p>
            <a:pPr lvl="2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000" i="1" dirty="0" err="1">
                <a:ea typeface="굴림" panose="020B0600000101010101" pitchFamily="34" charset="-127"/>
              </a:rPr>
              <a:t>acde</a:t>
            </a:r>
            <a:r>
              <a:rPr lang="en-US" altLang="ko-KR" sz="2000" dirty="0">
                <a:ea typeface="굴림" panose="020B0600000101010101" pitchFamily="34" charset="-127"/>
              </a:rPr>
              <a:t> from </a:t>
            </a:r>
            <a:r>
              <a:rPr lang="en-US" altLang="ko-KR" sz="2000" i="1" dirty="0" err="1">
                <a:ea typeface="굴림" panose="020B0600000101010101" pitchFamily="34" charset="-127"/>
              </a:rPr>
              <a:t>acd</a:t>
            </a:r>
            <a:r>
              <a:rPr lang="en-US" altLang="ko-KR" sz="2000" dirty="0">
                <a:ea typeface="굴림" panose="020B0600000101010101" pitchFamily="34" charset="-127"/>
              </a:rPr>
              <a:t> and </a:t>
            </a:r>
            <a:r>
              <a:rPr lang="en-US" altLang="ko-KR" sz="2000" i="1" dirty="0">
                <a:ea typeface="굴림" panose="020B0600000101010101" pitchFamily="34" charset="-127"/>
              </a:rPr>
              <a:t>ace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 dirty="0">
                <a:ea typeface="굴림" panose="020B0600000101010101" pitchFamily="34" charset="-127"/>
              </a:rPr>
              <a:t>Pruning:</a:t>
            </a:r>
          </a:p>
          <a:p>
            <a:pPr lvl="2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000" i="1" dirty="0" err="1">
                <a:ea typeface="굴림" panose="020B0600000101010101" pitchFamily="34" charset="-127"/>
              </a:rPr>
              <a:t>acde</a:t>
            </a:r>
            <a:r>
              <a:rPr lang="en-US" altLang="ko-KR" sz="2000" dirty="0">
                <a:ea typeface="굴림" panose="020B0600000101010101" pitchFamily="34" charset="-127"/>
              </a:rPr>
              <a:t> is removed because </a:t>
            </a:r>
            <a:r>
              <a:rPr lang="en-US" altLang="ko-KR" sz="2000" i="1" dirty="0" err="1">
                <a:ea typeface="굴림" panose="020B0600000101010101" pitchFamily="34" charset="-127"/>
              </a:rPr>
              <a:t>ade</a:t>
            </a:r>
            <a:r>
              <a:rPr lang="en-US" altLang="ko-KR" sz="2000" dirty="0">
                <a:ea typeface="굴림" panose="020B0600000101010101" pitchFamily="34" charset="-127"/>
              </a:rPr>
              <a:t> is not in </a:t>
            </a:r>
            <a:r>
              <a:rPr lang="en-US" altLang="ko-KR" sz="2000" i="1" dirty="0">
                <a:ea typeface="굴림" panose="020B0600000101010101" pitchFamily="34" charset="-127"/>
              </a:rPr>
              <a:t>L</a:t>
            </a:r>
            <a:r>
              <a:rPr lang="en-US" altLang="ko-KR" sz="2000" i="1" baseline="-25000" dirty="0">
                <a:ea typeface="굴림" panose="020B0600000101010101" pitchFamily="34" charset="-127"/>
              </a:rPr>
              <a:t>3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 i="1" dirty="0">
                <a:ea typeface="굴림" panose="020B0600000101010101" pitchFamily="34" charset="-127"/>
              </a:rPr>
              <a:t>C</a:t>
            </a:r>
            <a:r>
              <a:rPr lang="en-US" altLang="ko-KR" sz="2400" i="1" baseline="-25000" dirty="0">
                <a:ea typeface="굴림" panose="020B0600000101010101" pitchFamily="34" charset="-127"/>
              </a:rPr>
              <a:t>4</a:t>
            </a:r>
            <a:r>
              <a:rPr lang="en-US" altLang="ko-KR" sz="2400" dirty="0">
                <a:ea typeface="굴림" panose="020B0600000101010101" pitchFamily="34" charset="-127"/>
              </a:rPr>
              <a:t>={</a:t>
            </a:r>
            <a:r>
              <a:rPr lang="en-US" altLang="ko-KR" sz="2400" i="1" dirty="0" err="1">
                <a:ea typeface="굴림" panose="020B0600000101010101" pitchFamily="34" charset="-127"/>
              </a:rPr>
              <a:t>abcd</a:t>
            </a:r>
            <a:r>
              <a:rPr lang="en-US" altLang="ko-KR" sz="2400" dirty="0">
                <a:ea typeface="굴림" panose="020B0600000101010101" pitchFamily="34" charset="-127"/>
              </a:rPr>
              <a:t>}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endParaRPr lang="en-US" altLang="ko-KR" sz="2000" dirty="0">
              <a:ea typeface="굴림" panose="020B0600000101010101" pitchFamily="34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>
            <a:extLst>
              <a:ext uri="{FF2B5EF4-FFF2-40B4-BE49-F238E27FC236}">
                <a16:creationId xmlns:a16="http://schemas.microsoft.com/office/drawing/2014/main" id="{2D63B737-9B26-59A9-DDA1-C8C7D0713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 sz="36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Apriori Rule Generation - Example</a:t>
            </a:r>
            <a:endParaRPr lang="en-US" altLang="en-US" sz="36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63490" name="Picture 7" descr="JCU_Logo_RGB.jpg">
            <a:extLst>
              <a:ext uri="{FF2B5EF4-FFF2-40B4-BE49-F238E27FC236}">
                <a16:creationId xmlns:a16="http://schemas.microsoft.com/office/drawing/2014/main" id="{BB73EFEA-F49C-F58C-5A17-2734DE566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1" name="Line 9">
            <a:extLst>
              <a:ext uri="{FF2B5EF4-FFF2-40B4-BE49-F238E27FC236}">
                <a16:creationId xmlns:a16="http://schemas.microsoft.com/office/drawing/2014/main" id="{B9D6B5D8-E945-3759-44FC-14BCD41139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2" name="Line 10">
            <a:extLst>
              <a:ext uri="{FF2B5EF4-FFF2-40B4-BE49-F238E27FC236}">
                <a16:creationId xmlns:a16="http://schemas.microsoft.com/office/drawing/2014/main" id="{C1BD3B57-3CC9-3303-9D13-3FEA306E26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3" name="Slide Number Placeholder 6">
            <a:extLst>
              <a:ext uri="{FF2B5EF4-FFF2-40B4-BE49-F238E27FC236}">
                <a16:creationId xmlns:a16="http://schemas.microsoft.com/office/drawing/2014/main" id="{57CE3CC0-2214-ADBD-A024-04DE9DF70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9EBB09-7823-2C40-ADD4-0D1819A58E58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2B3058-A8FD-EECA-FC2A-292A93D98B5E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597150"/>
          <a:ext cx="3165475" cy="2124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5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TID</a:t>
                      </a:r>
                      <a:endParaRPr lang="en-US" sz="1800" b="1" baseline="0" dirty="0"/>
                    </a:p>
                  </a:txBody>
                  <a:tcPr marL="91461" marR="91461" marT="45734" marB="45734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Items</a:t>
                      </a:r>
                      <a:endParaRPr lang="en-AU" sz="1800" b="1" dirty="0"/>
                    </a:p>
                  </a:txBody>
                  <a:tcPr marL="91461" marR="91461" marT="45734" marB="45734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</a:t>
                      </a:r>
                      <a:endParaRPr lang="en-AU" sz="1800" dirty="0"/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Apple, Coke, DVD</a:t>
                      </a:r>
                      <a:endParaRPr lang="en-AU" sz="1800" dirty="0"/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200</a:t>
                      </a:r>
                      <a:endParaRPr lang="en-AU" sz="1800" dirty="0"/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Bread, Coke, Egg</a:t>
                      </a:r>
                      <a:endParaRPr lang="en-AU" sz="1800" dirty="0"/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27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300</a:t>
                      </a:r>
                      <a:endParaRPr lang="en-AU" sz="1800" dirty="0"/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Apple, Bread, Coke, Egg</a:t>
                      </a:r>
                      <a:endParaRPr lang="en-AU" sz="1800" dirty="0"/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400</a:t>
                      </a:r>
                      <a:endParaRPr lang="en-AU" sz="1800" dirty="0"/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Bread, Egg</a:t>
                      </a:r>
                      <a:endParaRPr lang="en-AU" sz="1800" dirty="0"/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514" name="TextBox 12">
            <a:extLst>
              <a:ext uri="{FF2B5EF4-FFF2-40B4-BE49-F238E27FC236}">
                <a16:creationId xmlns:a16="http://schemas.microsoft.com/office/drawing/2014/main" id="{AB9650F0-CB98-6171-2DCC-7FB113436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731963"/>
            <a:ext cx="7808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Transaction Database                               Initial Candidates</a:t>
            </a:r>
            <a:endParaRPr lang="en-AU" altLang="en-US" sz="2000">
              <a:latin typeface="Arial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3547471-5785-7F0B-68DB-E050A1B47012}"/>
              </a:ext>
            </a:extLst>
          </p:cNvPr>
          <p:cNvGraphicFramePr>
            <a:graphicFrameLocks noGrp="1"/>
          </p:cNvGraphicFramePr>
          <p:nvPr/>
        </p:nvGraphicFramePr>
        <p:xfrm>
          <a:off x="5254625" y="2597150"/>
          <a:ext cx="3165475" cy="2225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Itemset</a:t>
                      </a:r>
                      <a:endParaRPr lang="en-US" sz="1800" b="1" baseline="0" dirty="0"/>
                    </a:p>
                  </a:txBody>
                  <a:tcPr marL="91461" marR="91461" marT="45733" marB="45733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Support</a:t>
                      </a:r>
                      <a:endParaRPr lang="en-AU" sz="1800" b="1" dirty="0"/>
                    </a:p>
                  </a:txBody>
                  <a:tcPr marL="91461" marR="91461" marT="45733" marB="45733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{Apple}</a:t>
                      </a:r>
                      <a:endParaRPr lang="en-AU" sz="1800" dirty="0"/>
                    </a:p>
                  </a:txBody>
                  <a:tcPr marL="91461" marR="91461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  <a:endParaRPr lang="en-AU" sz="1800" dirty="0"/>
                    </a:p>
                  </a:txBody>
                  <a:tcPr marL="91461" marR="91461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{Bread}</a:t>
                      </a:r>
                      <a:endParaRPr lang="en-AU" sz="1800" dirty="0"/>
                    </a:p>
                  </a:txBody>
                  <a:tcPr marL="91461" marR="91461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  <a:endParaRPr lang="en-AU" sz="1800" dirty="0"/>
                    </a:p>
                  </a:txBody>
                  <a:tcPr marL="91461" marR="91461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{Coke}</a:t>
                      </a:r>
                      <a:endParaRPr lang="en-AU" sz="1800" dirty="0"/>
                    </a:p>
                  </a:txBody>
                  <a:tcPr marL="91461" marR="91461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  <a:endParaRPr lang="en-AU" sz="1800" dirty="0"/>
                    </a:p>
                  </a:txBody>
                  <a:tcPr marL="91461" marR="91461"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{DVD}</a:t>
                      </a:r>
                      <a:endParaRPr lang="en-AU" sz="1800" dirty="0"/>
                    </a:p>
                  </a:txBody>
                  <a:tcPr marL="91461" marR="91461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  <a:endParaRPr lang="en-AU" sz="1800" dirty="0"/>
                    </a:p>
                  </a:txBody>
                  <a:tcPr marL="91461" marR="91461"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{Egg}</a:t>
                      </a:r>
                      <a:endParaRPr lang="en-AU" sz="1800" dirty="0"/>
                    </a:p>
                  </a:txBody>
                  <a:tcPr marL="91461" marR="91461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  <a:endParaRPr lang="en-AU" sz="1800" dirty="0"/>
                    </a:p>
                  </a:txBody>
                  <a:tcPr marL="91461" marR="91461"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ight Arrow 14">
            <a:extLst>
              <a:ext uri="{FF2B5EF4-FFF2-40B4-BE49-F238E27FC236}">
                <a16:creationId xmlns:a16="http://schemas.microsoft.com/office/drawing/2014/main" id="{A2D200C6-8B6C-3255-3EF1-081937DC5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3443288"/>
            <a:ext cx="642938" cy="565150"/>
          </a:xfrm>
          <a:prstGeom prst="rightArrow">
            <a:avLst>
              <a:gd name="adj1" fmla="val 50000"/>
              <a:gd name="adj2" fmla="val 49998"/>
            </a:avLst>
          </a:prstGeom>
          <a:gradFill rotWithShape="1"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>
            <a:extLst>
              <a:ext uri="{FF2B5EF4-FFF2-40B4-BE49-F238E27FC236}">
                <a16:creationId xmlns:a16="http://schemas.microsoft.com/office/drawing/2014/main" id="{1AEC69D9-C6A2-C214-C3D7-04CAC9BB0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 sz="36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Apriori Rule Generation - Example</a:t>
            </a:r>
            <a:endParaRPr lang="en-US" altLang="en-US" sz="36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65538" name="Picture 7" descr="JCU_Logo_RGB.jpg">
            <a:extLst>
              <a:ext uri="{FF2B5EF4-FFF2-40B4-BE49-F238E27FC236}">
                <a16:creationId xmlns:a16="http://schemas.microsoft.com/office/drawing/2014/main" id="{176B8864-F97D-7EC9-431D-9E5EE219D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39" name="Line 9">
            <a:extLst>
              <a:ext uri="{FF2B5EF4-FFF2-40B4-BE49-F238E27FC236}">
                <a16:creationId xmlns:a16="http://schemas.microsoft.com/office/drawing/2014/main" id="{3C1E2BFA-4AE0-DC15-CF1E-ADB69EA0A4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0" name="Line 10">
            <a:extLst>
              <a:ext uri="{FF2B5EF4-FFF2-40B4-BE49-F238E27FC236}">
                <a16:creationId xmlns:a16="http://schemas.microsoft.com/office/drawing/2014/main" id="{14BD1336-3E77-85AF-4138-B8F7703A0C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1" name="Slide Number Placeholder 6">
            <a:extLst>
              <a:ext uri="{FF2B5EF4-FFF2-40B4-BE49-F238E27FC236}">
                <a16:creationId xmlns:a16="http://schemas.microsoft.com/office/drawing/2014/main" id="{6E21202E-5923-E891-2EF3-B6F8B724F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3C2D5A-71E2-4E40-9114-52067DF9BA8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A29859B-7A0C-F642-ACBD-F4DFEA4396C7}"/>
              </a:ext>
            </a:extLst>
          </p:cNvPr>
          <p:cNvGraphicFramePr>
            <a:graphicFrameLocks noGrp="1"/>
          </p:cNvGraphicFramePr>
          <p:nvPr/>
        </p:nvGraphicFramePr>
        <p:xfrm>
          <a:off x="309563" y="1743075"/>
          <a:ext cx="2814637" cy="17065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6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7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TID</a:t>
                      </a:r>
                      <a:endParaRPr lang="en-US" sz="1600" b="1" baseline="0" dirty="0"/>
                    </a:p>
                  </a:txBody>
                  <a:tcPr marL="91443" marR="91443" marT="45693" marB="45693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Items</a:t>
                      </a:r>
                      <a:endParaRPr lang="en-AU" sz="1600" b="1" dirty="0"/>
                    </a:p>
                  </a:txBody>
                  <a:tcPr marL="91443" marR="91443" marT="45693" marB="45693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Apple, Coke, DVD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Bread, Coke, Egg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300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Apple, Bread, Coke, Egg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400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Bread, Egg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5562" name="TextBox 12">
            <a:extLst>
              <a:ext uri="{FF2B5EF4-FFF2-40B4-BE49-F238E27FC236}">
                <a16:creationId xmlns:a16="http://schemas.microsoft.com/office/drawing/2014/main" id="{B255CD70-364D-7B6B-F354-63CCC1F10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13" y="1331913"/>
            <a:ext cx="28844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Transaction Database</a:t>
            </a:r>
            <a:endParaRPr lang="en-AU" altLang="en-US" sz="160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CDA0C8C-382E-2E5B-33E7-E662042D8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456812"/>
              </p:ext>
            </p:extLst>
          </p:nvPr>
        </p:nvGraphicFramePr>
        <p:xfrm>
          <a:off x="3781425" y="1731963"/>
          <a:ext cx="1951038" cy="2011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Itemset</a:t>
                      </a:r>
                      <a:endParaRPr lang="en-US" sz="1600" b="1" baseline="0" dirty="0"/>
                    </a:p>
                  </a:txBody>
                  <a:tcPr marL="91470" marR="91470" marT="45695" marB="45695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Support</a:t>
                      </a:r>
                      <a:endParaRPr lang="en-AU" sz="1600" b="1" dirty="0"/>
                    </a:p>
                  </a:txBody>
                  <a:tcPr marL="91470" marR="91470" marT="45695" marB="45695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{Apple}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{Bread}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{Coke}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{DVD}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AU" sz="1600" dirty="0">
                        <a:highlight>
                          <a:srgbClr val="FFFF00"/>
                        </a:highlight>
                      </a:endParaRPr>
                    </a:p>
                  </a:txBody>
                  <a:tcPr marL="91470" marR="91470" marT="45695" marB="4569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{Egg}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ight Arrow 14">
            <a:extLst>
              <a:ext uri="{FF2B5EF4-FFF2-40B4-BE49-F238E27FC236}">
                <a16:creationId xmlns:a16="http://schemas.microsoft.com/office/drawing/2014/main" id="{5EEE17BD-E77B-C6FC-9DD7-97A4E6D68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1828800"/>
            <a:ext cx="288925" cy="31115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2BAD9E7-759D-23AC-B9B5-AD512D955257}"/>
              </a:ext>
            </a:extLst>
          </p:cNvPr>
          <p:cNvGraphicFramePr>
            <a:graphicFrameLocks noGrp="1"/>
          </p:cNvGraphicFramePr>
          <p:nvPr/>
        </p:nvGraphicFramePr>
        <p:xfrm>
          <a:off x="6297613" y="1731963"/>
          <a:ext cx="1951037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Itemset</a:t>
                      </a:r>
                      <a:endParaRPr lang="en-US" sz="1600" b="1" baseline="0" dirty="0"/>
                    </a:p>
                  </a:txBody>
                  <a:tcPr marL="91470" marR="9147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Support</a:t>
                      </a:r>
                      <a:endParaRPr lang="en-AU" sz="1600" b="1" dirty="0"/>
                    </a:p>
                  </a:txBody>
                  <a:tcPr marL="91470" marR="9147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{Apple}</a:t>
                      </a:r>
                      <a:endParaRPr lang="en-AU" sz="1600" dirty="0"/>
                    </a:p>
                  </a:txBody>
                  <a:tcPr marL="91470" marR="9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70" marR="9147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{Bread}</a:t>
                      </a:r>
                      <a:endParaRPr lang="en-AU" sz="1600" dirty="0"/>
                    </a:p>
                  </a:txBody>
                  <a:tcPr marL="91470" marR="9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AU" sz="1600" dirty="0"/>
                    </a:p>
                  </a:txBody>
                  <a:tcPr marL="91470" marR="9147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{Coke}</a:t>
                      </a:r>
                      <a:endParaRPr lang="en-AU" sz="1600" dirty="0"/>
                    </a:p>
                  </a:txBody>
                  <a:tcPr marL="91470" marR="9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AU" sz="1600" dirty="0"/>
                    </a:p>
                  </a:txBody>
                  <a:tcPr marL="91470" marR="9147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{Egg}</a:t>
                      </a:r>
                      <a:endParaRPr lang="en-AU" sz="1600" dirty="0"/>
                    </a:p>
                  </a:txBody>
                  <a:tcPr marL="91470" marR="91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AU" sz="1600" dirty="0"/>
                    </a:p>
                  </a:txBody>
                  <a:tcPr marL="91470" marR="9147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Right Arrow 15">
            <a:extLst>
              <a:ext uri="{FF2B5EF4-FFF2-40B4-BE49-F238E27FC236}">
                <a16:creationId xmlns:a16="http://schemas.microsoft.com/office/drawing/2014/main" id="{4694324C-5791-1CFB-17E8-D98732416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5338" y="1828800"/>
            <a:ext cx="288925" cy="31115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8BF0B84-96AC-4662-0572-FB4F48DB0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076647"/>
              </p:ext>
            </p:extLst>
          </p:nvPr>
        </p:nvGraphicFramePr>
        <p:xfrm>
          <a:off x="6696075" y="4065588"/>
          <a:ext cx="2238375" cy="2346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2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18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Itemset</a:t>
                      </a:r>
                      <a:endParaRPr lang="en-US" sz="1600" b="1" baseline="0" dirty="0"/>
                    </a:p>
                  </a:txBody>
                  <a:tcPr marL="91439" marR="91439" marT="45676" marB="456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Support</a:t>
                      </a:r>
                      <a:endParaRPr lang="en-AU" sz="1600" b="1" dirty="0"/>
                    </a:p>
                  </a:txBody>
                  <a:tcPr marL="91439" marR="91439" marT="45676" marB="45676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Apple,Bread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AU" sz="1600" dirty="0">
                        <a:highlight>
                          <a:srgbClr val="FFFF00"/>
                        </a:highlight>
                      </a:endParaRPr>
                    </a:p>
                  </a:txBody>
                  <a:tcPr marL="91439" marR="91439" marT="45676" marB="456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Apple,Coke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Apple,Egg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AU" sz="1600" dirty="0">
                        <a:highlight>
                          <a:srgbClr val="FFFF00"/>
                        </a:highlight>
                      </a:endParaRPr>
                    </a:p>
                  </a:txBody>
                  <a:tcPr marL="91439" marR="91439" marT="45676" marB="456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Bread,Coke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1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Bread,Egg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1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Coke,Egg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Right Arrow 17">
            <a:extLst>
              <a:ext uri="{FF2B5EF4-FFF2-40B4-BE49-F238E27FC236}">
                <a16:creationId xmlns:a16="http://schemas.microsoft.com/office/drawing/2014/main" id="{6441B5FC-E605-3F63-83A3-CFB00845BEA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418387" y="3587751"/>
            <a:ext cx="288925" cy="31115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71E8CF-5628-4093-46F4-7E14AFBF7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7188" y="3665538"/>
            <a:ext cx="53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C2</a:t>
            </a:r>
            <a:endParaRPr lang="en-AU" altLang="en-US" sz="200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BE5F1B77-FC27-A7BD-073A-63920A1D2CCE}"/>
              </a:ext>
            </a:extLst>
          </p:cNvPr>
          <p:cNvSpPr>
            <a:spLocks noChangeArrowheads="1"/>
          </p:cNvSpPr>
          <p:nvPr/>
        </p:nvSpPr>
        <p:spPr bwMode="auto">
          <a:xfrm rot="-10620430">
            <a:off x="6327775" y="4379913"/>
            <a:ext cx="287338" cy="31115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BD205E5-8B47-3AAF-3C05-AC6351B6CD75}"/>
              </a:ext>
            </a:extLst>
          </p:cNvPr>
          <p:cNvGraphicFramePr>
            <a:graphicFrameLocks noGrp="1"/>
          </p:cNvGraphicFramePr>
          <p:nvPr/>
        </p:nvGraphicFramePr>
        <p:xfrm>
          <a:off x="4081463" y="4373563"/>
          <a:ext cx="2238375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2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Itemset</a:t>
                      </a:r>
                      <a:endParaRPr lang="en-US" sz="1600" b="1" baseline="0" dirty="0"/>
                    </a:p>
                  </a:txBody>
                  <a:tcPr marL="91439" marR="91439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Support</a:t>
                      </a:r>
                      <a:endParaRPr lang="en-AU" sz="1600" b="1" dirty="0"/>
                    </a:p>
                  </a:txBody>
                  <a:tcPr marL="91439" marR="91439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Apple,Coke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Bread,Coke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Bread,Egg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AU" sz="16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Coke,Egg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A9975348-0925-AFDC-5CC1-E4EEDF8F8B47}"/>
              </a:ext>
            </a:extLst>
          </p:cNvPr>
          <p:cNvSpPr txBox="1"/>
          <p:nvPr/>
        </p:nvSpPr>
        <p:spPr>
          <a:xfrm>
            <a:off x="7483475" y="1027113"/>
            <a:ext cx="1527175" cy="3397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1600" dirty="0">
                <a:solidFill>
                  <a:srgbClr val="C00000"/>
                </a:solidFill>
              </a:rPr>
              <a:t>MinSupp:50%</a:t>
            </a:r>
            <a:endParaRPr lang="en-AU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9F2865-FF60-150D-D360-314C05267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6275" y="3951288"/>
            <a:ext cx="53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F2</a:t>
            </a:r>
            <a:endParaRPr lang="en-AU" altLang="en-US" sz="200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25CAA3B9-88FE-9B18-7E76-B39122E22D88}"/>
              </a:ext>
            </a:extLst>
          </p:cNvPr>
          <p:cNvSpPr>
            <a:spLocks noChangeArrowheads="1"/>
          </p:cNvSpPr>
          <p:nvPr/>
        </p:nvSpPr>
        <p:spPr bwMode="auto">
          <a:xfrm rot="-10620430">
            <a:off x="3654425" y="4379913"/>
            <a:ext cx="287338" cy="31115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329D33A-F5B0-7D76-4BDB-62FB3D3F4AAF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4189413"/>
          <a:ext cx="2611438" cy="6699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8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Itemset</a:t>
                      </a:r>
                      <a:endParaRPr lang="en-US" sz="1600" b="1" baseline="0" dirty="0"/>
                    </a:p>
                  </a:txBody>
                  <a:tcPr marL="91456" marR="91456" marT="45566" marB="4556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Support</a:t>
                      </a:r>
                      <a:endParaRPr lang="en-AU" sz="1600" b="1" dirty="0"/>
                    </a:p>
                  </a:txBody>
                  <a:tcPr marL="91456" marR="91456" marT="45566" marB="45566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Bread,Coke,Egg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56" marR="91456" marT="45566" marB="455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56" marR="91456" marT="45566" marB="4556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1FB2E042-8BC5-9A04-BF96-2A03567A3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743325"/>
            <a:ext cx="53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C3</a:t>
            </a:r>
            <a:endParaRPr lang="en-AU" altLang="en-US" sz="200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1F561D2-19CC-93B8-FA9C-1F8DBC78C8D0}"/>
              </a:ext>
            </a:extLst>
          </p:cNvPr>
          <p:cNvGraphicFramePr>
            <a:graphicFrameLocks noGrp="1"/>
          </p:cNvGraphicFramePr>
          <p:nvPr/>
        </p:nvGraphicFramePr>
        <p:xfrm>
          <a:off x="512763" y="5686425"/>
          <a:ext cx="2611437" cy="6699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8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Itemset</a:t>
                      </a:r>
                      <a:endParaRPr lang="en-US" sz="1600" b="1" baseline="0" dirty="0"/>
                    </a:p>
                  </a:txBody>
                  <a:tcPr marL="91456" marR="91456" marT="45566" marB="4556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Support</a:t>
                      </a:r>
                      <a:endParaRPr lang="en-AU" sz="1600" b="1" dirty="0"/>
                    </a:p>
                  </a:txBody>
                  <a:tcPr marL="91456" marR="91456" marT="45566" marB="45566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Bread,Coke,Egg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56" marR="91456" marT="45566" marB="455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56" marR="91456" marT="45566" marB="4556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C2EC7FA4-CB80-1E84-0B13-5F95493D3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3" y="5238750"/>
            <a:ext cx="53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F3</a:t>
            </a:r>
            <a:endParaRPr lang="en-AU" altLang="en-US" sz="200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9C0B7DD6-F8B9-81D7-1C38-DE4BED6DBD7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503363" y="5078413"/>
            <a:ext cx="565150" cy="311150"/>
          </a:xfrm>
          <a:prstGeom prst="rightArrow">
            <a:avLst>
              <a:gd name="adj1" fmla="val 50000"/>
              <a:gd name="adj2" fmla="val 49999"/>
            </a:avLst>
          </a:prstGeom>
          <a:gradFill rotWithShape="1"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5685" name="TextBox 29">
            <a:extLst>
              <a:ext uri="{FF2B5EF4-FFF2-40B4-BE49-F238E27FC236}">
                <a16:creationId xmlns:a16="http://schemas.microsoft.com/office/drawing/2014/main" id="{48BAB0F3-2A86-CF77-D193-1119CFAEA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1331913"/>
            <a:ext cx="53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C1</a:t>
            </a:r>
            <a:endParaRPr lang="en-AU" altLang="en-US" sz="200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48EF75-2868-F67E-3FE8-CB347CC80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6200" y="1331913"/>
            <a:ext cx="53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F1</a:t>
            </a:r>
            <a:endParaRPr lang="en-AU" altLang="en-US" sz="200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A577E7-51DF-16C8-0831-4E57FCF1807C}"/>
              </a:ext>
            </a:extLst>
          </p:cNvPr>
          <p:cNvSpPr txBox="1"/>
          <p:nvPr/>
        </p:nvSpPr>
        <p:spPr>
          <a:xfrm>
            <a:off x="7483475" y="1314450"/>
            <a:ext cx="1527175" cy="3381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1600" dirty="0">
                <a:solidFill>
                  <a:srgbClr val="C00000"/>
                </a:solidFill>
              </a:rPr>
              <a:t>MinConf:90%</a:t>
            </a:r>
            <a:endParaRPr lang="en-AU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9" grpId="0"/>
      <p:bldP spid="20" grpId="0" animBg="1"/>
      <p:bldP spid="23" grpId="0"/>
      <p:bldP spid="24" grpId="0" animBg="1"/>
      <p:bldP spid="26" grpId="0"/>
      <p:bldP spid="28" grpId="0"/>
      <p:bldP spid="29" grpId="0" animBg="1"/>
      <p:bldP spid="3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1A8D51E9-D90E-E14F-79C3-D4486848D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 sz="36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Apriori Rule Generation - Example</a:t>
            </a:r>
            <a:endParaRPr lang="en-US" altLang="en-US" sz="36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67586" name="Picture 7" descr="JCU_Logo_RGB.jpg">
            <a:extLst>
              <a:ext uri="{FF2B5EF4-FFF2-40B4-BE49-F238E27FC236}">
                <a16:creationId xmlns:a16="http://schemas.microsoft.com/office/drawing/2014/main" id="{98CA07B5-EBEB-C192-20B6-F0404DC65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7" name="Line 9">
            <a:extLst>
              <a:ext uri="{FF2B5EF4-FFF2-40B4-BE49-F238E27FC236}">
                <a16:creationId xmlns:a16="http://schemas.microsoft.com/office/drawing/2014/main" id="{B46E2426-4085-A6F3-43AF-812543D3FA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825" y="10620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88" name="Line 10">
            <a:extLst>
              <a:ext uri="{FF2B5EF4-FFF2-40B4-BE49-F238E27FC236}">
                <a16:creationId xmlns:a16="http://schemas.microsoft.com/office/drawing/2014/main" id="{5C08A0B6-C658-1247-6DCA-B93DDAB852D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825" y="6451600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89" name="Slide Number Placeholder 6">
            <a:extLst>
              <a:ext uri="{FF2B5EF4-FFF2-40B4-BE49-F238E27FC236}">
                <a16:creationId xmlns:a16="http://schemas.microsoft.com/office/drawing/2014/main" id="{1884DF88-CD0D-E83B-DCF3-B57990991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75425" y="62214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14108D-B940-E142-B24F-C12FF755AA33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F0C28D7-6D80-0E54-34FC-43476B88A71A}"/>
              </a:ext>
            </a:extLst>
          </p:cNvPr>
          <p:cNvGraphicFramePr>
            <a:graphicFrameLocks noGrp="1"/>
          </p:cNvGraphicFramePr>
          <p:nvPr/>
        </p:nvGraphicFramePr>
        <p:xfrm>
          <a:off x="331788" y="1608138"/>
          <a:ext cx="2814637" cy="17065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6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7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TID</a:t>
                      </a:r>
                      <a:endParaRPr lang="en-US" sz="1600" b="1" baseline="0" dirty="0"/>
                    </a:p>
                  </a:txBody>
                  <a:tcPr marL="91443" marR="91443" marT="45693" marB="45693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Items</a:t>
                      </a:r>
                      <a:endParaRPr lang="en-AU" sz="1600" b="1" dirty="0"/>
                    </a:p>
                  </a:txBody>
                  <a:tcPr marL="91443" marR="91443" marT="45693" marB="45693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Apple, Coke, DVD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Bread, Coke, Egg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300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Apple, Bread, Coke, Egg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400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Bread, Egg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7610" name="TextBox 12">
            <a:extLst>
              <a:ext uri="{FF2B5EF4-FFF2-40B4-BE49-F238E27FC236}">
                <a16:creationId xmlns:a16="http://schemas.microsoft.com/office/drawing/2014/main" id="{46265AD8-F30E-AE2B-7D6E-3EDEB97D5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1196975"/>
            <a:ext cx="28844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Transaction Database</a:t>
            </a:r>
            <a:endParaRPr lang="en-AU" altLang="en-US" sz="160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CB19E67-007F-3644-36A9-96F27C2913DF}"/>
              </a:ext>
            </a:extLst>
          </p:cNvPr>
          <p:cNvGraphicFramePr>
            <a:graphicFrameLocks noGrp="1"/>
          </p:cNvGraphicFramePr>
          <p:nvPr/>
        </p:nvGraphicFramePr>
        <p:xfrm>
          <a:off x="3803650" y="1597025"/>
          <a:ext cx="1951038" cy="2011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Itemset</a:t>
                      </a:r>
                      <a:endParaRPr lang="en-US" sz="1600" b="1" baseline="0" dirty="0"/>
                    </a:p>
                  </a:txBody>
                  <a:tcPr marL="91470" marR="91470" marT="45695" marB="45695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Support</a:t>
                      </a:r>
                      <a:endParaRPr lang="en-AU" sz="1600" b="1" dirty="0"/>
                    </a:p>
                  </a:txBody>
                  <a:tcPr marL="91470" marR="91470" marT="45695" marB="45695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{Apple}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{Bread}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{Coke}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{DVD}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{Egg}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AU" sz="1600" dirty="0"/>
                    </a:p>
                  </a:txBody>
                  <a:tcPr marL="91470" marR="91470" marT="45695" marB="4569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ight Arrow 14">
            <a:extLst>
              <a:ext uri="{FF2B5EF4-FFF2-40B4-BE49-F238E27FC236}">
                <a16:creationId xmlns:a16="http://schemas.microsoft.com/office/drawing/2014/main" id="{CB7014DA-FE33-AD69-EE3A-7D0E96D92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788" y="1693863"/>
            <a:ext cx="288925" cy="31115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BD0D2E2-7E10-EB83-AA64-7050F5DDD15C}"/>
              </a:ext>
            </a:extLst>
          </p:cNvPr>
          <p:cNvGraphicFramePr>
            <a:graphicFrameLocks noGrp="1"/>
          </p:cNvGraphicFramePr>
          <p:nvPr/>
        </p:nvGraphicFramePr>
        <p:xfrm>
          <a:off x="6319838" y="1597025"/>
          <a:ext cx="1951037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Itemset</a:t>
                      </a:r>
                      <a:endParaRPr lang="en-US" sz="1600" b="1" baseline="0" dirty="0"/>
                    </a:p>
                  </a:txBody>
                  <a:tcPr marL="91470" marR="9147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Support</a:t>
                      </a:r>
                      <a:endParaRPr lang="en-AU" sz="1600" b="1" dirty="0"/>
                    </a:p>
                  </a:txBody>
                  <a:tcPr marL="91470" marR="9147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{Apple}</a:t>
                      </a:r>
                      <a:endParaRPr lang="en-AU" sz="1600" dirty="0"/>
                    </a:p>
                  </a:txBody>
                  <a:tcPr marL="91470" marR="9147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70" marR="9147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{Bread}</a:t>
                      </a:r>
                      <a:endParaRPr lang="en-AU" sz="1600" dirty="0"/>
                    </a:p>
                  </a:txBody>
                  <a:tcPr marL="91470" marR="9147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AU" sz="1600" dirty="0"/>
                    </a:p>
                  </a:txBody>
                  <a:tcPr marL="91470" marR="9147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{Coke}</a:t>
                      </a:r>
                      <a:endParaRPr lang="en-AU" sz="1600" dirty="0"/>
                    </a:p>
                  </a:txBody>
                  <a:tcPr marL="91470" marR="9147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AU" sz="1600" dirty="0"/>
                    </a:p>
                  </a:txBody>
                  <a:tcPr marL="91470" marR="9147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{Egg}</a:t>
                      </a:r>
                      <a:endParaRPr lang="en-AU" sz="1600" dirty="0"/>
                    </a:p>
                  </a:txBody>
                  <a:tcPr marL="91470" marR="9147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AU" sz="1600" dirty="0"/>
                    </a:p>
                  </a:txBody>
                  <a:tcPr marL="91470" marR="9147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Right Arrow 15">
            <a:extLst>
              <a:ext uri="{FF2B5EF4-FFF2-40B4-BE49-F238E27FC236}">
                <a16:creationId xmlns:a16="http://schemas.microsoft.com/office/drawing/2014/main" id="{115BE096-94EE-1BD1-4123-DA211A7B6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563" y="1693863"/>
            <a:ext cx="288925" cy="31115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C14F7D2-A485-5BB7-FC92-F9FB573E7478}"/>
              </a:ext>
            </a:extLst>
          </p:cNvPr>
          <p:cNvGraphicFramePr>
            <a:graphicFrameLocks noGrp="1"/>
          </p:cNvGraphicFramePr>
          <p:nvPr/>
        </p:nvGraphicFramePr>
        <p:xfrm>
          <a:off x="6718300" y="3930650"/>
          <a:ext cx="2238375" cy="2346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2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18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Itemset</a:t>
                      </a:r>
                      <a:endParaRPr lang="en-US" sz="1600" b="1" baseline="0" dirty="0"/>
                    </a:p>
                  </a:txBody>
                  <a:tcPr marL="91439" marR="91439" marT="45676" marB="456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Support</a:t>
                      </a:r>
                      <a:endParaRPr lang="en-AU" sz="1600" b="1" dirty="0"/>
                    </a:p>
                  </a:txBody>
                  <a:tcPr marL="91439" marR="91439" marT="45676" marB="45676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Apple,Bread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Apple,Coke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Apple,Egg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Bread,Coke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1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Bread,Egg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1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Coke,Egg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39" marR="91439" marT="45676" marB="456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Right Arrow 17">
            <a:extLst>
              <a:ext uri="{FF2B5EF4-FFF2-40B4-BE49-F238E27FC236}">
                <a16:creationId xmlns:a16="http://schemas.microsoft.com/office/drawing/2014/main" id="{38821E09-F460-0DD6-C346-DC0F0246686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441406" y="3452019"/>
            <a:ext cx="288925" cy="312738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7683" name="TextBox 18">
            <a:extLst>
              <a:ext uri="{FF2B5EF4-FFF2-40B4-BE49-F238E27FC236}">
                <a16:creationId xmlns:a16="http://schemas.microsoft.com/office/drawing/2014/main" id="{E57CC20B-C8A6-66A9-8209-100D039B4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9413" y="3530600"/>
            <a:ext cx="53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C2</a:t>
            </a:r>
            <a:endParaRPr lang="en-AU" altLang="en-US" sz="200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DFF48ACB-14E4-6A60-AB6E-1FBD4DACB103}"/>
              </a:ext>
            </a:extLst>
          </p:cNvPr>
          <p:cNvSpPr>
            <a:spLocks noChangeArrowheads="1"/>
          </p:cNvSpPr>
          <p:nvPr/>
        </p:nvSpPr>
        <p:spPr bwMode="auto">
          <a:xfrm rot="-10620430">
            <a:off x="6350000" y="4244975"/>
            <a:ext cx="287338" cy="31115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95D3D35-D8D9-BCA4-29CB-40D8EA3B6789}"/>
              </a:ext>
            </a:extLst>
          </p:cNvPr>
          <p:cNvGraphicFramePr>
            <a:graphicFrameLocks noGrp="1"/>
          </p:cNvGraphicFramePr>
          <p:nvPr/>
        </p:nvGraphicFramePr>
        <p:xfrm>
          <a:off x="4103688" y="4238625"/>
          <a:ext cx="2238375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2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Itemset</a:t>
                      </a:r>
                      <a:endParaRPr lang="en-US" sz="1600" b="1" baseline="0" dirty="0"/>
                    </a:p>
                  </a:txBody>
                  <a:tcPr marL="91439" marR="91439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Support</a:t>
                      </a:r>
                      <a:endParaRPr lang="en-AU" sz="1600" b="1" dirty="0"/>
                    </a:p>
                  </a:txBody>
                  <a:tcPr marL="91439" marR="91439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Apple,Coke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39" marR="91439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Bread,Coke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39" marR="91439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Bread,Egg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AU" sz="1600" dirty="0"/>
                    </a:p>
                  </a:txBody>
                  <a:tcPr marL="91439" marR="91439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Coke,Egg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9" marR="91439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39" marR="91439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167D20D-FA0F-076C-B992-33BA14525E8C}"/>
              </a:ext>
            </a:extLst>
          </p:cNvPr>
          <p:cNvSpPr txBox="1"/>
          <p:nvPr/>
        </p:nvSpPr>
        <p:spPr>
          <a:xfrm>
            <a:off x="7429500" y="892175"/>
            <a:ext cx="1527175" cy="3397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1600" dirty="0">
                <a:solidFill>
                  <a:srgbClr val="C00000"/>
                </a:solidFill>
              </a:rPr>
              <a:t>MinSupp:50%</a:t>
            </a:r>
            <a:endParaRPr lang="en-AU" sz="1600" dirty="0"/>
          </a:p>
        </p:txBody>
      </p:sp>
      <p:sp>
        <p:nvSpPr>
          <p:cNvPr id="67706" name="TextBox 22">
            <a:extLst>
              <a:ext uri="{FF2B5EF4-FFF2-40B4-BE49-F238E27FC236}">
                <a16:creationId xmlns:a16="http://schemas.microsoft.com/office/drawing/2014/main" id="{6F29182F-329D-7E8F-D41D-BC07F2E35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0" y="3816350"/>
            <a:ext cx="53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F2</a:t>
            </a:r>
            <a:endParaRPr lang="en-AU" altLang="en-US" sz="200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753CC6EF-0046-F154-5B54-138FAF671024}"/>
              </a:ext>
            </a:extLst>
          </p:cNvPr>
          <p:cNvSpPr>
            <a:spLocks noChangeArrowheads="1"/>
          </p:cNvSpPr>
          <p:nvPr/>
        </p:nvSpPr>
        <p:spPr bwMode="auto">
          <a:xfrm rot="-10620430">
            <a:off x="3676650" y="4244975"/>
            <a:ext cx="287338" cy="31115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AE5AD6C-0AD8-2CCD-57ED-E26DECD70FF6}"/>
              </a:ext>
            </a:extLst>
          </p:cNvPr>
          <p:cNvGraphicFramePr>
            <a:graphicFrameLocks noGrp="1"/>
          </p:cNvGraphicFramePr>
          <p:nvPr/>
        </p:nvGraphicFramePr>
        <p:xfrm>
          <a:off x="936625" y="4054475"/>
          <a:ext cx="2611438" cy="6699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8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Itemset</a:t>
                      </a:r>
                      <a:endParaRPr lang="en-US" sz="1600" b="1" baseline="0" dirty="0"/>
                    </a:p>
                  </a:txBody>
                  <a:tcPr marL="91456" marR="91456" marT="45566" marB="4556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Support</a:t>
                      </a:r>
                      <a:endParaRPr lang="en-AU" sz="1600" b="1" dirty="0"/>
                    </a:p>
                  </a:txBody>
                  <a:tcPr marL="91456" marR="91456" marT="45566" marB="45566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Bread,Coke,Egg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56" marR="91456" marT="45566" marB="455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56" marR="91456" marT="45566" marB="4556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719" name="TextBox 25">
            <a:extLst>
              <a:ext uri="{FF2B5EF4-FFF2-40B4-BE49-F238E27FC236}">
                <a16:creationId xmlns:a16="http://schemas.microsoft.com/office/drawing/2014/main" id="{1E6D28E2-1C43-418B-AE0A-125118B32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3608388"/>
            <a:ext cx="53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C3</a:t>
            </a:r>
            <a:endParaRPr lang="en-AU" altLang="en-US" sz="200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F65D96A-5650-D8C8-600F-3DEE66BE650E}"/>
              </a:ext>
            </a:extLst>
          </p:cNvPr>
          <p:cNvGraphicFramePr>
            <a:graphicFrameLocks noGrp="1"/>
          </p:cNvGraphicFramePr>
          <p:nvPr/>
        </p:nvGraphicFramePr>
        <p:xfrm>
          <a:off x="534988" y="5551488"/>
          <a:ext cx="2611437" cy="6699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8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Itemset</a:t>
                      </a:r>
                      <a:endParaRPr lang="en-US" sz="1600" b="1" baseline="0" dirty="0"/>
                    </a:p>
                  </a:txBody>
                  <a:tcPr marL="91456" marR="91456" marT="45566" marB="4556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Support</a:t>
                      </a:r>
                      <a:endParaRPr lang="en-AU" sz="1600" b="1" dirty="0"/>
                    </a:p>
                  </a:txBody>
                  <a:tcPr marL="91456" marR="91456" marT="45566" marB="45566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Bread,Coke,Egg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56" marR="91456" marT="45566" marB="4556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AU" sz="1600" dirty="0"/>
                    </a:p>
                  </a:txBody>
                  <a:tcPr marL="91456" marR="91456" marT="45566" marB="45566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731" name="TextBox 27">
            <a:extLst>
              <a:ext uri="{FF2B5EF4-FFF2-40B4-BE49-F238E27FC236}">
                <a16:creationId xmlns:a16="http://schemas.microsoft.com/office/drawing/2014/main" id="{AE9E6F9D-9B88-0A3E-6BE9-081132F3B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8" y="5103813"/>
            <a:ext cx="53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F3</a:t>
            </a:r>
            <a:endParaRPr lang="en-AU" altLang="en-US" sz="200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EF213228-D24E-10E8-4BED-CABD917A979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525588" y="4943475"/>
            <a:ext cx="565150" cy="311150"/>
          </a:xfrm>
          <a:prstGeom prst="rightArrow">
            <a:avLst>
              <a:gd name="adj1" fmla="val 50000"/>
              <a:gd name="adj2" fmla="val 49999"/>
            </a:avLst>
          </a:prstGeom>
          <a:gradFill rotWithShape="1"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7733" name="TextBox 29">
            <a:extLst>
              <a:ext uri="{FF2B5EF4-FFF2-40B4-BE49-F238E27FC236}">
                <a16:creationId xmlns:a16="http://schemas.microsoft.com/office/drawing/2014/main" id="{33E2D226-C36E-F08E-292D-52630B5DA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1925" y="1196975"/>
            <a:ext cx="53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C1</a:t>
            </a:r>
            <a:endParaRPr lang="en-AU" altLang="en-US" sz="200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7734" name="TextBox 30">
            <a:extLst>
              <a:ext uri="{FF2B5EF4-FFF2-40B4-BE49-F238E27FC236}">
                <a16:creationId xmlns:a16="http://schemas.microsoft.com/office/drawing/2014/main" id="{49A8A383-7E88-22A6-3F59-AB8835BA5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8425" y="1196975"/>
            <a:ext cx="53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F1</a:t>
            </a:r>
            <a:endParaRPr lang="en-AU" altLang="en-US" sz="200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D9C1F4B-15E5-66DE-1CE0-24A60C48E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6421438"/>
            <a:ext cx="896938" cy="280987"/>
          </a:xfrm>
          <a:prstGeom prst="rect">
            <a:avLst/>
          </a:prstGeom>
          <a:solidFill>
            <a:srgbClr val="FFC000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7736" name="TextBox 32">
            <a:extLst>
              <a:ext uri="{FF2B5EF4-FFF2-40B4-BE49-F238E27FC236}">
                <a16:creationId xmlns:a16="http://schemas.microsoft.com/office/drawing/2014/main" id="{C4696969-57FE-C295-4A00-2092AC30D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913" y="6332538"/>
            <a:ext cx="2163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Frequent Itemsets</a:t>
            </a:r>
            <a:endParaRPr lang="en-AU" altLang="en-US" sz="1800" b="1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9D45DB-343B-F493-DAA7-2F7555B52C08}"/>
              </a:ext>
            </a:extLst>
          </p:cNvPr>
          <p:cNvSpPr txBox="1"/>
          <p:nvPr/>
        </p:nvSpPr>
        <p:spPr>
          <a:xfrm>
            <a:off x="7429500" y="1231900"/>
            <a:ext cx="1527175" cy="3381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1600" dirty="0">
                <a:solidFill>
                  <a:srgbClr val="C00000"/>
                </a:solidFill>
              </a:rPr>
              <a:t>MinConf:90%</a:t>
            </a:r>
            <a:endParaRPr lang="en-AU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9760A8EF-2B71-CC64-3244-B4208CDC6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 sz="36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Apriori Rule Generation - Example</a:t>
            </a:r>
            <a:endParaRPr lang="en-US" altLang="en-US" sz="36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69634" name="Picture 7" descr="JCU_Logo_RGB.jpg">
            <a:extLst>
              <a:ext uri="{FF2B5EF4-FFF2-40B4-BE49-F238E27FC236}">
                <a16:creationId xmlns:a16="http://schemas.microsoft.com/office/drawing/2014/main" id="{8960F9FB-D62D-D911-FF8D-64A39C5F2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5" name="Line 9">
            <a:extLst>
              <a:ext uri="{FF2B5EF4-FFF2-40B4-BE49-F238E27FC236}">
                <a16:creationId xmlns:a16="http://schemas.microsoft.com/office/drawing/2014/main" id="{6A70AE82-B6F8-D269-4C1B-267DA0CBF4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825" y="10620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36" name="Line 10">
            <a:extLst>
              <a:ext uri="{FF2B5EF4-FFF2-40B4-BE49-F238E27FC236}">
                <a16:creationId xmlns:a16="http://schemas.microsoft.com/office/drawing/2014/main" id="{0AFBFE4F-4813-75AC-5ECD-47F7395B20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825" y="6451600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37" name="Slide Number Placeholder 6">
            <a:extLst>
              <a:ext uri="{FF2B5EF4-FFF2-40B4-BE49-F238E27FC236}">
                <a16:creationId xmlns:a16="http://schemas.microsoft.com/office/drawing/2014/main" id="{3AFD44E8-5D57-F9DB-88C6-114D983B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75425" y="62214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90E517-5B83-AF4E-A401-D11004F74223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D8F2158-43CC-BA30-D937-43A5A78CC5F0}"/>
              </a:ext>
            </a:extLst>
          </p:cNvPr>
          <p:cNvGraphicFramePr>
            <a:graphicFrameLocks noGrp="1"/>
          </p:cNvGraphicFramePr>
          <p:nvPr/>
        </p:nvGraphicFramePr>
        <p:xfrm>
          <a:off x="331788" y="1608138"/>
          <a:ext cx="2814637" cy="17065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6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7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TID</a:t>
                      </a:r>
                      <a:endParaRPr lang="en-US" sz="1600" b="1" baseline="0" dirty="0"/>
                    </a:p>
                  </a:txBody>
                  <a:tcPr marL="91443" marR="91443" marT="45693" marB="45693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Items</a:t>
                      </a:r>
                      <a:endParaRPr lang="en-AU" sz="1600" b="1" dirty="0"/>
                    </a:p>
                  </a:txBody>
                  <a:tcPr marL="91443" marR="91443" marT="45693" marB="45693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Apple, Coke, DVD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Bread, Coke, Egg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300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Apple, Bread, Coke, Egg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400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Bread, Egg</a:t>
                      </a:r>
                      <a:endParaRPr lang="en-AU" sz="1600" dirty="0"/>
                    </a:p>
                  </a:txBody>
                  <a:tcPr marL="91443" marR="91443" marT="45693" marB="4569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658" name="TextBox 12">
            <a:extLst>
              <a:ext uri="{FF2B5EF4-FFF2-40B4-BE49-F238E27FC236}">
                <a16:creationId xmlns:a16="http://schemas.microsoft.com/office/drawing/2014/main" id="{4869B396-FBD9-2624-5898-54665B308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1196975"/>
            <a:ext cx="28844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Transaction Database</a:t>
            </a:r>
            <a:endParaRPr lang="en-AU" altLang="en-US" sz="160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FB7312E-11AA-AE6E-2EC6-73EC932C2586}"/>
              </a:ext>
            </a:extLst>
          </p:cNvPr>
          <p:cNvGraphicFramePr>
            <a:graphicFrameLocks noGrp="1"/>
          </p:cNvGraphicFramePr>
          <p:nvPr/>
        </p:nvGraphicFramePr>
        <p:xfrm>
          <a:off x="3986213" y="1668463"/>
          <a:ext cx="1036637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1-Itemset</a:t>
                      </a:r>
                      <a:endParaRPr lang="en-US" sz="1600" b="1" baseline="0" dirty="0"/>
                    </a:p>
                  </a:txBody>
                  <a:tcPr marL="91497" marR="91497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{Apple}</a:t>
                      </a:r>
                      <a:endParaRPr lang="en-AU" sz="1600" dirty="0"/>
                    </a:p>
                  </a:txBody>
                  <a:tcPr marL="91497" marR="91497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{Bread}</a:t>
                      </a:r>
                      <a:endParaRPr lang="en-AU" sz="1600" dirty="0"/>
                    </a:p>
                  </a:txBody>
                  <a:tcPr marL="91497" marR="91497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{Coke}</a:t>
                      </a:r>
                      <a:endParaRPr lang="en-AU" sz="1600" dirty="0"/>
                    </a:p>
                  </a:txBody>
                  <a:tcPr marL="91497" marR="91497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{Egg}</a:t>
                      </a:r>
                      <a:endParaRPr lang="en-AU" sz="1600" dirty="0"/>
                    </a:p>
                  </a:txBody>
                  <a:tcPr marL="91497" marR="91497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60DFC2D-9D2E-06FE-63F7-F1888E624F55}"/>
              </a:ext>
            </a:extLst>
          </p:cNvPr>
          <p:cNvGraphicFramePr>
            <a:graphicFrameLocks noGrp="1"/>
          </p:cNvGraphicFramePr>
          <p:nvPr/>
        </p:nvGraphicFramePr>
        <p:xfrm>
          <a:off x="5213350" y="1668463"/>
          <a:ext cx="1362075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2-Itemset</a:t>
                      </a:r>
                      <a:endParaRPr lang="en-US" sz="1600" b="1" baseline="0" dirty="0"/>
                    </a:p>
                  </a:txBody>
                  <a:tcPr marL="91396" marR="91396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Apple,Coke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396" marR="91396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Bread,Coke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396" marR="91396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Bread,Egg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396" marR="91396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Coke,Egg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396" marR="91396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E13738A-4BBC-38EF-FAE2-C52338D0F102}"/>
              </a:ext>
            </a:extLst>
          </p:cNvPr>
          <p:cNvSpPr txBox="1"/>
          <p:nvPr/>
        </p:nvSpPr>
        <p:spPr>
          <a:xfrm>
            <a:off x="7507288" y="900113"/>
            <a:ext cx="1525587" cy="3397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1600" dirty="0">
                <a:solidFill>
                  <a:srgbClr val="C00000"/>
                </a:solidFill>
              </a:rPr>
              <a:t>MinSupp:50%</a:t>
            </a:r>
            <a:endParaRPr lang="en-AU" sz="1600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BA2717D-EF2B-86CE-3D7E-ABF5C91CEF86}"/>
              </a:ext>
            </a:extLst>
          </p:cNvPr>
          <p:cNvGraphicFramePr>
            <a:graphicFrameLocks noGrp="1"/>
          </p:cNvGraphicFramePr>
          <p:nvPr/>
        </p:nvGraphicFramePr>
        <p:xfrm>
          <a:off x="6704013" y="1668463"/>
          <a:ext cx="1708150" cy="6699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3-Itemset</a:t>
                      </a:r>
                      <a:endParaRPr lang="en-US" sz="1600" b="1" baseline="0" dirty="0"/>
                    </a:p>
                  </a:txBody>
                  <a:tcPr marL="91436" marR="91436" marT="45566" marB="45566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Bread,Coke,Egg</a:t>
                      </a:r>
                      <a:r>
                        <a:rPr lang="en-US" sz="1600" dirty="0"/>
                        <a:t>}</a:t>
                      </a:r>
                      <a:endParaRPr lang="en-AU" sz="1600" dirty="0"/>
                    </a:p>
                  </a:txBody>
                  <a:tcPr marL="91436" marR="91436" marT="45566" marB="45566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9696" name="TextBox 32">
            <a:extLst>
              <a:ext uri="{FF2B5EF4-FFF2-40B4-BE49-F238E27FC236}">
                <a16:creationId xmlns:a16="http://schemas.microsoft.com/office/drawing/2014/main" id="{64EB8E4E-FB9B-7545-652A-F8BF264A7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375" y="1239838"/>
            <a:ext cx="2165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Frequent Itemsets</a:t>
            </a:r>
            <a:endParaRPr lang="en-AU" altLang="en-US" sz="1800" b="1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2B7200A9-EF1F-7AB6-F67E-422CB417D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788" y="2195513"/>
            <a:ext cx="288925" cy="31115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6EF8ECD2-C1A2-6DD9-1D8B-F12741183C4F}"/>
              </a:ext>
            </a:extLst>
          </p:cNvPr>
          <p:cNvSpPr txBox="1">
            <a:spLocks/>
          </p:cNvSpPr>
          <p:nvPr/>
        </p:nvSpPr>
        <p:spPr bwMode="auto">
          <a:xfrm>
            <a:off x="334963" y="3522663"/>
            <a:ext cx="4878387" cy="306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dirty="0">
                <a:latin typeface="+mn-lt"/>
                <a:cs typeface="Arial" pitchFamily="34" charset="0"/>
              </a:rPr>
              <a:t>All possible Association Rules are:</a:t>
            </a:r>
          </a:p>
          <a:p>
            <a:pPr marL="457200" indent="-457200">
              <a:spcBef>
                <a:spcPct val="20000"/>
              </a:spcBef>
              <a:defRPr/>
            </a:pP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Apple-&gt;Coke</a:t>
            </a:r>
          </a:p>
          <a:p>
            <a:pPr marL="457200" indent="-457200">
              <a:spcBef>
                <a:spcPct val="20000"/>
              </a:spcBef>
              <a:defRPr/>
            </a:pP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Coke-&gt;Apple</a:t>
            </a:r>
          </a:p>
          <a:p>
            <a:pPr marL="457200" indent="-457200">
              <a:spcBef>
                <a:spcPct val="20000"/>
              </a:spcBef>
              <a:defRPr/>
            </a:pP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Bread-&gt;Coke</a:t>
            </a:r>
          </a:p>
          <a:p>
            <a:pPr marL="457200" indent="-457200">
              <a:spcBef>
                <a:spcPct val="20000"/>
              </a:spcBef>
              <a:defRPr/>
            </a:pP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Coke-&gt;Bread</a:t>
            </a:r>
          </a:p>
          <a:p>
            <a:pPr marL="457200" indent="-457200">
              <a:spcBef>
                <a:spcPct val="20000"/>
              </a:spcBef>
              <a:defRPr/>
            </a:pP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Bread-&gt;Egg</a:t>
            </a:r>
          </a:p>
          <a:p>
            <a:pPr marL="457200" indent="-457200">
              <a:spcBef>
                <a:spcPct val="20000"/>
              </a:spcBef>
              <a:defRPr/>
            </a:pP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Egg-&gt;Bread</a:t>
            </a:r>
            <a:endParaRPr lang="en-AU" sz="2000" dirty="0">
              <a:latin typeface="+mn-lt"/>
              <a:cs typeface="Arial" pitchFamily="34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Coke-&gt;Egg</a:t>
            </a:r>
          </a:p>
          <a:p>
            <a:pPr marL="457200" indent="-457200">
              <a:spcBef>
                <a:spcPct val="20000"/>
              </a:spcBef>
              <a:defRPr/>
            </a:pP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Egg-&gt;Coke</a:t>
            </a:r>
          </a:p>
          <a:p>
            <a:pPr marL="457200" indent="-457200">
              <a:spcBef>
                <a:spcPct val="20000"/>
              </a:spcBef>
              <a:defRPr/>
            </a:pPr>
            <a:endParaRPr lang="en-AU" dirty="0">
              <a:latin typeface="+mn-lt"/>
              <a:cs typeface="Arial" pitchFamily="34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AU" sz="3200" dirty="0">
              <a:cs typeface="Arial" pitchFamily="34" charset="0"/>
            </a:endParaRPr>
          </a:p>
          <a:p>
            <a:pPr marL="914400" lvl="1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AU" dirty="0">
              <a:cs typeface="Arial" pitchFamily="34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AU" sz="2800" dirty="0"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7761A3-58C3-8371-DFA9-424677AADB28}"/>
              </a:ext>
            </a:extLst>
          </p:cNvPr>
          <p:cNvSpPr txBox="1"/>
          <p:nvPr/>
        </p:nvSpPr>
        <p:spPr>
          <a:xfrm>
            <a:off x="7507288" y="1239838"/>
            <a:ext cx="1525587" cy="3381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1600" dirty="0">
                <a:solidFill>
                  <a:srgbClr val="C00000"/>
                </a:solidFill>
              </a:rPr>
              <a:t>MinConf:90%</a:t>
            </a:r>
            <a:endParaRPr lang="en-AU" sz="1600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183A92A9-15E7-284A-A5BB-0A1B2AFD0868}"/>
              </a:ext>
            </a:extLst>
          </p:cNvPr>
          <p:cNvSpPr txBox="1">
            <a:spLocks/>
          </p:cNvSpPr>
          <p:nvPr/>
        </p:nvSpPr>
        <p:spPr bwMode="auto">
          <a:xfrm>
            <a:off x="2409825" y="4006850"/>
            <a:ext cx="2803525" cy="273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ct val="20000"/>
              </a:spcBef>
              <a:defRPr/>
            </a:pP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Bread-&gt;{</a:t>
            </a:r>
            <a:r>
              <a:rPr lang="en-US" sz="2000" dirty="0" err="1">
                <a:solidFill>
                  <a:srgbClr val="2E3192"/>
                </a:solidFill>
                <a:latin typeface="+mn-lt"/>
                <a:cs typeface="Arial" pitchFamily="34" charset="0"/>
              </a:rPr>
              <a:t>Coke,Egg</a:t>
            </a: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}</a:t>
            </a:r>
          </a:p>
          <a:p>
            <a:pPr marL="457200" indent="-457200">
              <a:spcBef>
                <a:spcPct val="20000"/>
              </a:spcBef>
              <a:defRPr/>
            </a:pP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Coke-&gt;{</a:t>
            </a:r>
            <a:r>
              <a:rPr lang="en-US" sz="2000" dirty="0" err="1">
                <a:solidFill>
                  <a:srgbClr val="2E3192"/>
                </a:solidFill>
                <a:latin typeface="+mn-lt"/>
                <a:cs typeface="Arial" pitchFamily="34" charset="0"/>
              </a:rPr>
              <a:t>Bread,Egg</a:t>
            </a: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}</a:t>
            </a:r>
          </a:p>
          <a:p>
            <a:pPr marL="457200" indent="-457200">
              <a:spcBef>
                <a:spcPct val="20000"/>
              </a:spcBef>
              <a:defRPr/>
            </a:pP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Egg-&gt;{</a:t>
            </a:r>
            <a:r>
              <a:rPr lang="en-US" sz="2000" dirty="0" err="1">
                <a:solidFill>
                  <a:srgbClr val="2E3192"/>
                </a:solidFill>
                <a:latin typeface="+mn-lt"/>
                <a:cs typeface="Arial" pitchFamily="34" charset="0"/>
              </a:rPr>
              <a:t>Bread,Coke</a:t>
            </a: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}</a:t>
            </a:r>
          </a:p>
          <a:p>
            <a:pPr marL="457200" indent="-457200">
              <a:spcBef>
                <a:spcPct val="20000"/>
              </a:spcBef>
              <a:defRPr/>
            </a:pP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{</a:t>
            </a:r>
            <a:r>
              <a:rPr lang="en-US" sz="2000" dirty="0" err="1">
                <a:solidFill>
                  <a:srgbClr val="2E3192"/>
                </a:solidFill>
                <a:latin typeface="+mn-lt"/>
                <a:cs typeface="Arial" pitchFamily="34" charset="0"/>
              </a:rPr>
              <a:t>Coke,Egg</a:t>
            </a: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}-&gt;Bread</a:t>
            </a:r>
          </a:p>
          <a:p>
            <a:pPr marL="457200" indent="-457200">
              <a:spcBef>
                <a:spcPct val="20000"/>
              </a:spcBef>
              <a:defRPr/>
            </a:pP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{</a:t>
            </a:r>
            <a:r>
              <a:rPr lang="en-US" sz="2000" dirty="0" err="1">
                <a:solidFill>
                  <a:srgbClr val="2E3192"/>
                </a:solidFill>
                <a:latin typeface="+mn-lt"/>
                <a:cs typeface="Arial" pitchFamily="34" charset="0"/>
              </a:rPr>
              <a:t>Bread,Egg</a:t>
            </a: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}-&gt;Coke</a:t>
            </a:r>
          </a:p>
          <a:p>
            <a:pPr marL="457200" indent="-457200">
              <a:spcBef>
                <a:spcPct val="20000"/>
              </a:spcBef>
              <a:defRPr/>
            </a:pP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{</a:t>
            </a:r>
            <a:r>
              <a:rPr lang="en-US" sz="2000" dirty="0" err="1">
                <a:solidFill>
                  <a:srgbClr val="2E3192"/>
                </a:solidFill>
                <a:latin typeface="+mn-lt"/>
                <a:cs typeface="Arial" pitchFamily="34" charset="0"/>
              </a:rPr>
              <a:t>Bread,Coke</a:t>
            </a:r>
            <a:r>
              <a:rPr lang="en-US" sz="2000" dirty="0">
                <a:solidFill>
                  <a:srgbClr val="2E3192"/>
                </a:solidFill>
                <a:latin typeface="+mn-lt"/>
                <a:cs typeface="Arial" pitchFamily="34" charset="0"/>
              </a:rPr>
              <a:t>}-&gt;Egg</a:t>
            </a:r>
            <a:endParaRPr lang="en-AU" sz="2000" dirty="0">
              <a:latin typeface="+mn-lt"/>
              <a:cs typeface="Arial" pitchFamily="34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AU" sz="2000" dirty="0">
              <a:latin typeface="+mn-lt"/>
              <a:cs typeface="Arial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4D6A854-3EA5-778B-C4F4-1BB69E368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4006850"/>
            <a:ext cx="1493837" cy="32385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9855C5E-23D4-3F06-3B35-92EF003F2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5781675"/>
            <a:ext cx="1493837" cy="32385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AA17DC6-BB87-1823-DFD0-817BCBE27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938" y="5459413"/>
            <a:ext cx="1493837" cy="3222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5748ED4-8588-8542-55FE-FD23A9DE4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5137150"/>
            <a:ext cx="2073275" cy="322263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BC6A0BF-EFE8-25E8-91BB-C532D3DB1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5899150"/>
            <a:ext cx="2073275" cy="322263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447743D-33DE-10B1-B936-2BF566977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8788" y="4168775"/>
            <a:ext cx="2073275" cy="322263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AU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EB1A65-6954-199C-5E42-0AC017591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963" y="4616450"/>
            <a:ext cx="33813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Final Association Rules found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7030A0"/>
                </a:solidFill>
                <a:latin typeface="Arial" panose="020B0604020202020204" pitchFamily="34" charset="0"/>
              </a:rPr>
              <a:t>(Rules having more than minimum confidence)</a:t>
            </a:r>
            <a:endParaRPr lang="en-AU" altLang="en-US" sz="1800">
              <a:solidFill>
                <a:srgbClr val="7030A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F5781DC6-94BD-622C-D93C-346C226E8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Bottleneck of Apriori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71682" name="Picture 7" descr="JCU_Logo_RGB.jpg">
            <a:extLst>
              <a:ext uri="{FF2B5EF4-FFF2-40B4-BE49-F238E27FC236}">
                <a16:creationId xmlns:a16="http://schemas.microsoft.com/office/drawing/2014/main" id="{6DEF7046-4249-E1D4-65DD-512F161B63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3" name="Line 9">
            <a:extLst>
              <a:ext uri="{FF2B5EF4-FFF2-40B4-BE49-F238E27FC236}">
                <a16:creationId xmlns:a16="http://schemas.microsoft.com/office/drawing/2014/main" id="{2C109F7E-6A7B-8A65-CF17-95A03211F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4" name="Line 10">
            <a:extLst>
              <a:ext uri="{FF2B5EF4-FFF2-40B4-BE49-F238E27FC236}">
                <a16:creationId xmlns:a16="http://schemas.microsoft.com/office/drawing/2014/main" id="{1D59BB4C-11B9-3D5B-29E2-A9D3F7042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5" name="Slide Number Placeholder 6">
            <a:extLst>
              <a:ext uri="{FF2B5EF4-FFF2-40B4-BE49-F238E27FC236}">
                <a16:creationId xmlns:a16="http://schemas.microsoft.com/office/drawing/2014/main" id="{4AFA04EA-F3EC-2954-5141-ECA6211BA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77A7CD-ED4F-FC43-9878-42D81306164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1686" name="Rectangle 3">
            <a:extLst>
              <a:ext uri="{FF2B5EF4-FFF2-40B4-BE49-F238E27FC236}">
                <a16:creationId xmlns:a16="http://schemas.microsoft.com/office/drawing/2014/main" id="{FA209526-9CFF-A8C1-BD76-FB5C24361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57338"/>
            <a:ext cx="7888288" cy="50292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ko-KR" sz="2400">
                <a:ea typeface="굴림" panose="020B0600000101010101" pitchFamily="34" charset="-127"/>
              </a:rPr>
              <a:t>Challenges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ko-KR" sz="2400">
                <a:ea typeface="굴림" panose="020B0600000101010101" pitchFamily="34" charset="-127"/>
              </a:rPr>
              <a:t>Multiple scans of transaction database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ko-KR" sz="2400">
                <a:ea typeface="굴림" panose="020B0600000101010101" pitchFamily="34" charset="-127"/>
              </a:rPr>
              <a:t>Huge number of candidates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ko-KR" sz="2400">
                <a:ea typeface="굴림" panose="020B0600000101010101" pitchFamily="34" charset="-127"/>
              </a:rPr>
              <a:t>Tedious workload of support counting for candidates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sz="2400">
                <a:ea typeface="굴림" panose="020B0600000101010101" pitchFamily="34" charset="-127"/>
              </a:rPr>
              <a:t>Improving Apriori: general ideas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ko-KR" sz="2400">
                <a:ea typeface="굴림" panose="020B0600000101010101" pitchFamily="34" charset="-127"/>
              </a:rPr>
              <a:t>Reduce passes of transaction database scans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ko-KR" sz="2400">
                <a:ea typeface="굴림" panose="020B0600000101010101" pitchFamily="34" charset="-127"/>
              </a:rPr>
              <a:t>Shrink number of candidates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ko-KR" sz="2400">
                <a:ea typeface="굴림" panose="020B0600000101010101" pitchFamily="34" charset="-127"/>
              </a:rPr>
              <a:t>Facilitate support counting of candidates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6">
            <a:extLst>
              <a:ext uri="{FF2B5EF4-FFF2-40B4-BE49-F238E27FC236}">
                <a16:creationId xmlns:a16="http://schemas.microsoft.com/office/drawing/2014/main" id="{2B22B6A6-0D94-98A0-2F7C-93F6CE879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55750"/>
            <a:ext cx="822960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ko-KR" sz="2700" dirty="0">
                <a:solidFill>
                  <a:schemeClr val="bg1"/>
                </a:solidFill>
                <a:ea typeface="굴림" panose="020B0600000101010101" pitchFamily="34" charset="-127"/>
              </a:rPr>
              <a:t>Imagine, you are a manger of COLES. You do have a lot of potato chips in stock in your warehouse, but you do not have banana in stock. </a:t>
            </a:r>
          </a:p>
          <a:p>
            <a:pPr>
              <a:spcBef>
                <a:spcPct val="50000"/>
              </a:spcBef>
              <a:buFont typeface="Arial" panose="020B0604020202020204" pitchFamily="34" charset="0"/>
              <a:buNone/>
            </a:pPr>
            <a:endParaRPr lang="en-US" altLang="ko-KR" sz="2700" dirty="0">
              <a:solidFill>
                <a:schemeClr val="bg1"/>
              </a:solidFill>
              <a:ea typeface="굴림" panose="020B0600000101010101" pitchFamily="34" charset="-127"/>
            </a:endParaRPr>
          </a:p>
          <a:p>
            <a:pPr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ko-KR" sz="2700" dirty="0">
                <a:solidFill>
                  <a:schemeClr val="bg1"/>
                </a:solidFill>
                <a:ea typeface="굴림" panose="020B0600000101010101" pitchFamily="34" charset="-127"/>
              </a:rPr>
              <a:t>You are planning to boost the sales of potato chips and also would like to figure out what products would be affected if the store discontinues selling banana.</a:t>
            </a:r>
          </a:p>
          <a:p>
            <a:pPr>
              <a:spcBef>
                <a:spcPct val="50000"/>
              </a:spcBef>
              <a:buFont typeface="Arial" panose="020B0604020202020204" pitchFamily="34" charset="0"/>
              <a:buNone/>
            </a:pPr>
            <a:endParaRPr lang="en-US" altLang="ko-KR" sz="2700" dirty="0">
              <a:solidFill>
                <a:schemeClr val="bg1"/>
              </a:solidFill>
              <a:ea typeface="굴림" panose="020B0600000101010101" pitchFamily="34" charset="-127"/>
            </a:endParaRPr>
          </a:p>
          <a:p>
            <a:pPr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ko-KR" sz="2700" dirty="0">
                <a:solidFill>
                  <a:schemeClr val="bg1"/>
                </a:solidFill>
                <a:ea typeface="굴림" panose="020B0600000101010101" pitchFamily="34" charset="-127"/>
              </a:rPr>
              <a:t>How ARM could be used for you to answer these business questions?</a:t>
            </a:r>
          </a:p>
        </p:txBody>
      </p:sp>
      <p:sp>
        <p:nvSpPr>
          <p:cNvPr id="75779" name="Line 9">
            <a:extLst>
              <a:ext uri="{FF2B5EF4-FFF2-40B4-BE49-F238E27FC236}">
                <a16:creationId xmlns:a16="http://schemas.microsoft.com/office/drawing/2014/main" id="{06CA8DA9-7270-4DA2-A3C4-C2074DBAFE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0" name="Line 10">
            <a:extLst>
              <a:ext uri="{FF2B5EF4-FFF2-40B4-BE49-F238E27FC236}">
                <a16:creationId xmlns:a16="http://schemas.microsoft.com/office/drawing/2014/main" id="{CB15B004-68C3-ACA9-D047-F8657DE93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1" name="Slide Number Placeholder 7">
            <a:extLst>
              <a:ext uri="{FF2B5EF4-FFF2-40B4-BE49-F238E27FC236}">
                <a16:creationId xmlns:a16="http://schemas.microsoft.com/office/drawing/2014/main" id="{96E5E861-12E9-8C28-1580-34F50C016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BC4B69-F536-0C46-9D01-B6DA535BB25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5782" name="Rectangle 2">
            <a:extLst>
              <a:ext uri="{FF2B5EF4-FFF2-40B4-BE49-F238E27FC236}">
                <a16:creationId xmlns:a16="http://schemas.microsoft.com/office/drawing/2014/main" id="{482EC4F1-0A07-9A67-1073-526DA4B3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091363" cy="815975"/>
          </a:xfrm>
        </p:spPr>
        <p:txBody>
          <a:bodyPr lIns="0" tIns="0" rIns="0" bIns="0"/>
          <a:lstStyle/>
          <a:p>
            <a:pPr algn="l"/>
            <a:r>
              <a:rPr lang="en-AU" altLang="en-US" sz="4000">
                <a:solidFill>
                  <a:schemeClr val="bg1"/>
                </a:solidFill>
                <a:latin typeface="Times" pitchFamily="-84" charset="0"/>
                <a:ea typeface="ＭＳ Ｐゴシック" panose="020B0600070205080204" pitchFamily="34" charset="-128"/>
              </a:rPr>
              <a:t>Think/Pair/Share</a:t>
            </a:r>
            <a:endParaRPr lang="en-US" altLang="en-US" sz="4000">
              <a:solidFill>
                <a:schemeClr val="bg1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D85271E8-0BC9-1AEF-8D5D-3714E2D15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Outline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77826" name="Picture 7" descr="JCU_Logo_RGB.jpg">
            <a:extLst>
              <a:ext uri="{FF2B5EF4-FFF2-40B4-BE49-F238E27FC236}">
                <a16:creationId xmlns:a16="http://schemas.microsoft.com/office/drawing/2014/main" id="{63B8DD9B-00FA-8DA5-5290-72C953D55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7" name="Line 9">
            <a:extLst>
              <a:ext uri="{FF2B5EF4-FFF2-40B4-BE49-F238E27FC236}">
                <a16:creationId xmlns:a16="http://schemas.microsoft.com/office/drawing/2014/main" id="{B4E663BF-606D-A6AD-6252-C3845DA779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28" name="Line 10">
            <a:extLst>
              <a:ext uri="{FF2B5EF4-FFF2-40B4-BE49-F238E27FC236}">
                <a16:creationId xmlns:a16="http://schemas.microsoft.com/office/drawing/2014/main" id="{70D782A7-9C97-3EA8-6151-3EB871905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29" name="Content Placeholder 2">
            <a:extLst>
              <a:ext uri="{FF2B5EF4-FFF2-40B4-BE49-F238E27FC236}">
                <a16:creationId xmlns:a16="http://schemas.microsoft.com/office/drawing/2014/main" id="{8C7FC773-95B0-3613-120A-23397A22F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03363"/>
            <a:ext cx="8077200" cy="462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14400" indent="-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AU" altLang="en-US" sz="2800">
                <a:cs typeface="Arial" panose="020B0604020202020204" pitchFamily="34" charset="0"/>
              </a:rPr>
              <a:t>ARM Background</a:t>
            </a:r>
          </a:p>
          <a:p>
            <a:r>
              <a:rPr lang="en-AU" altLang="en-US" sz="2800">
                <a:cs typeface="Arial" panose="020B0604020202020204" pitchFamily="34" charset="0"/>
              </a:rPr>
              <a:t>Apriori</a:t>
            </a:r>
          </a:p>
          <a:p>
            <a:r>
              <a:rPr lang="en-AU" altLang="en-US" sz="2800" b="1">
                <a:cs typeface="Arial" panose="020B0604020202020204" pitchFamily="34" charset="0"/>
              </a:rPr>
              <a:t>FP-Tree</a:t>
            </a:r>
          </a:p>
          <a:p>
            <a:r>
              <a:rPr lang="en-AU" altLang="en-US" sz="2800">
                <a:cs typeface="Arial" panose="020B0604020202020204" pitchFamily="34" charset="0"/>
              </a:rPr>
              <a:t>Various ARM</a:t>
            </a:r>
          </a:p>
          <a:p>
            <a:r>
              <a:rPr lang="en-AU" altLang="en-US" sz="2800">
                <a:cs typeface="Arial" panose="020B0604020202020204" pitchFamily="34" charset="0"/>
              </a:rPr>
              <a:t>Constraint ARM</a:t>
            </a:r>
            <a:endParaRPr lang="en-AU" altLang="en-US" sz="2400">
              <a:cs typeface="Arial" panose="020B0604020202020204" pitchFamily="34" charset="0"/>
            </a:endParaRPr>
          </a:p>
          <a:p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AU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830" name="Slide Number Placeholder 6">
            <a:extLst>
              <a:ext uri="{FF2B5EF4-FFF2-40B4-BE49-F238E27FC236}">
                <a16:creationId xmlns:a16="http://schemas.microsoft.com/office/drawing/2014/main" id="{D4719781-754C-14E5-56C7-9A09A4A3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8165E3-D886-5A43-A7F7-2604DE505D5F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3">
            <a:extLst>
              <a:ext uri="{FF2B5EF4-FFF2-40B4-BE49-F238E27FC236}">
                <a16:creationId xmlns:a16="http://schemas.microsoft.com/office/drawing/2014/main" id="{8C5ABF95-55F6-BB54-4B64-36F311DF1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371600"/>
            <a:ext cx="7848600" cy="5283200"/>
          </a:xfrm>
        </p:spPr>
        <p:txBody>
          <a:bodyPr/>
          <a:lstStyle/>
          <a:p>
            <a:r>
              <a:rPr lang="en-US" altLang="ko-KR" sz="2400">
                <a:ea typeface="굴림" panose="020B0600000101010101" pitchFamily="34" charset="-127"/>
              </a:rPr>
              <a:t>Idea: Frequent pattern growth</a:t>
            </a:r>
          </a:p>
          <a:p>
            <a:pPr lvl="1"/>
            <a:r>
              <a:rPr lang="en-US" altLang="ko-KR" sz="2400">
                <a:ea typeface="굴림" panose="020B0600000101010101" pitchFamily="34" charset="-127"/>
              </a:rPr>
              <a:t>Recursively grow frequent patterns by pattern and database partition</a:t>
            </a:r>
          </a:p>
          <a:p>
            <a:r>
              <a:rPr lang="en-US" altLang="ko-KR" sz="2400">
                <a:ea typeface="굴림" panose="020B0600000101010101" pitchFamily="34" charset="-127"/>
              </a:rPr>
              <a:t>Method </a:t>
            </a:r>
          </a:p>
          <a:p>
            <a:pPr lvl="1"/>
            <a:r>
              <a:rPr lang="en-US" altLang="ko-KR" sz="2400">
                <a:ea typeface="굴림" panose="020B0600000101010101" pitchFamily="34" charset="-127"/>
              </a:rPr>
              <a:t>For each frequent item, construct its conditional pattern-base, and then its conditional FP-tree</a:t>
            </a:r>
          </a:p>
          <a:p>
            <a:pPr lvl="1"/>
            <a:r>
              <a:rPr lang="en-US" altLang="ko-KR" sz="2400">
                <a:ea typeface="굴림" panose="020B0600000101010101" pitchFamily="34" charset="-127"/>
              </a:rPr>
              <a:t>Repeat the process on each newly created conditional FP-tree </a:t>
            </a:r>
          </a:p>
          <a:p>
            <a:pPr lvl="1"/>
            <a:r>
              <a:rPr lang="en-US" altLang="ko-KR" sz="2400">
                <a:ea typeface="굴림" panose="020B0600000101010101" pitchFamily="34" charset="-127"/>
              </a:rPr>
              <a:t>Until the resulting FP-tree is empty, or it contains only one path—single path will generate all the combinations of its sub-paths, each of which is a frequent pattern</a:t>
            </a:r>
          </a:p>
        </p:txBody>
      </p:sp>
      <p:pic>
        <p:nvPicPr>
          <p:cNvPr id="79874" name="Picture 7" descr="JCU_Logo_RGB.jpg">
            <a:extLst>
              <a:ext uri="{FF2B5EF4-FFF2-40B4-BE49-F238E27FC236}">
                <a16:creationId xmlns:a16="http://schemas.microsoft.com/office/drawing/2014/main" id="{806610A6-235F-E34C-0306-F206ED857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5" name="Line 9">
            <a:extLst>
              <a:ext uri="{FF2B5EF4-FFF2-40B4-BE49-F238E27FC236}">
                <a16:creationId xmlns:a16="http://schemas.microsoft.com/office/drawing/2014/main" id="{C92F4BBC-E903-52B2-B1E1-FF279FE73F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76" name="Line 10">
            <a:extLst>
              <a:ext uri="{FF2B5EF4-FFF2-40B4-BE49-F238E27FC236}">
                <a16:creationId xmlns:a16="http://schemas.microsoft.com/office/drawing/2014/main" id="{35710484-16CF-29C5-6C20-23B3D1F692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77" name="Rectangle 2">
            <a:extLst>
              <a:ext uri="{FF2B5EF4-FFF2-40B4-BE49-F238E27FC236}">
                <a16:creationId xmlns:a16="http://schemas.microsoft.com/office/drawing/2014/main" id="{56C05035-6426-F477-B3AA-A5A9B5163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091363" cy="815975"/>
          </a:xfrm>
        </p:spPr>
        <p:txBody>
          <a:bodyPr lIns="0" tIns="0" rIns="0" bIns="0"/>
          <a:lstStyle/>
          <a:p>
            <a:pPr algn="l"/>
            <a:r>
              <a:rPr lang="en-AU" altLang="en-US" sz="40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FP-Tree</a:t>
            </a:r>
            <a:endParaRPr lang="en-US" altLang="en-US" sz="40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B7140-DED9-C21F-33C3-6D434DD5D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FP-Tree</a:t>
            </a:r>
          </a:p>
        </p:txBody>
      </p:sp>
      <p:pic>
        <p:nvPicPr>
          <p:cNvPr id="7" name="Content Placeholder 6" descr="A diagram of a diagram&#10;&#10;AI-generated content may be incorrect.">
            <a:extLst>
              <a:ext uri="{FF2B5EF4-FFF2-40B4-BE49-F238E27FC236}">
                <a16:creationId xmlns:a16="http://schemas.microsoft.com/office/drawing/2014/main" id="{085B2DD8-13F3-63A8-E4F6-C083DAF203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075" y="2240511"/>
            <a:ext cx="7665850" cy="368550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A793F5-BC6D-3989-30EA-58B2A10FF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07A88-1650-B992-597A-61BA14F5D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2AEF41-A01D-5746-88AF-F6C772341101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58626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3">
            <a:extLst>
              <a:ext uri="{FF2B5EF4-FFF2-40B4-BE49-F238E27FC236}">
                <a16:creationId xmlns:a16="http://schemas.microsoft.com/office/drawing/2014/main" id="{E0CBA0F6-37B0-97B0-0500-D9BC9AC9C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447800"/>
            <a:ext cx="7772400" cy="1524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ko-KR" sz="2100">
                <a:ea typeface="굴림" panose="020B0600000101010101" pitchFamily="34" charset="-127"/>
              </a:rPr>
              <a:t>Starting at the frequent item header table in the FP-tree</a:t>
            </a:r>
          </a:p>
          <a:p>
            <a:pPr>
              <a:lnSpc>
                <a:spcPct val="80000"/>
              </a:lnSpc>
            </a:pPr>
            <a:r>
              <a:rPr lang="en-US" altLang="ko-KR" sz="2100">
                <a:ea typeface="굴림" panose="020B0600000101010101" pitchFamily="34" charset="-127"/>
              </a:rPr>
              <a:t>Traverse the FP-tree by following the link of each frequent item </a:t>
            </a:r>
            <a:r>
              <a:rPr lang="en-US" altLang="ko-KR" sz="2100" i="1">
                <a:ea typeface="굴림" panose="020B0600000101010101" pitchFamily="34" charset="-127"/>
              </a:rPr>
              <a:t>p</a:t>
            </a:r>
          </a:p>
          <a:p>
            <a:pPr>
              <a:lnSpc>
                <a:spcPct val="80000"/>
              </a:lnSpc>
            </a:pPr>
            <a:r>
              <a:rPr lang="en-US" altLang="ko-KR" sz="2100">
                <a:ea typeface="굴림" panose="020B0600000101010101" pitchFamily="34" charset="-127"/>
              </a:rPr>
              <a:t>Accumulate all of </a:t>
            </a:r>
            <a:r>
              <a:rPr lang="en-US" altLang="ko-KR" sz="2100" i="1">
                <a:solidFill>
                  <a:schemeClr val="hlink"/>
                </a:solidFill>
                <a:ea typeface="굴림" panose="020B0600000101010101" pitchFamily="34" charset="-127"/>
              </a:rPr>
              <a:t>transformed prefix paths</a:t>
            </a:r>
            <a:r>
              <a:rPr lang="en-US" altLang="ko-KR" sz="2100">
                <a:ea typeface="굴림" panose="020B0600000101010101" pitchFamily="34" charset="-127"/>
              </a:rPr>
              <a:t> of item </a:t>
            </a:r>
            <a:r>
              <a:rPr lang="en-US" altLang="ko-KR" sz="2100" i="1">
                <a:ea typeface="굴림" panose="020B0600000101010101" pitchFamily="34" charset="-127"/>
              </a:rPr>
              <a:t>p </a:t>
            </a:r>
            <a:r>
              <a:rPr lang="en-US" altLang="ko-KR" sz="2100">
                <a:ea typeface="굴림" panose="020B0600000101010101" pitchFamily="34" charset="-127"/>
              </a:rPr>
              <a:t>to form </a:t>
            </a:r>
            <a:r>
              <a:rPr lang="en-US" altLang="ko-KR" sz="2100" i="1">
                <a:ea typeface="굴림" panose="020B0600000101010101" pitchFamily="34" charset="-127"/>
              </a:rPr>
              <a:t>p’</a:t>
            </a:r>
            <a:r>
              <a:rPr lang="en-US" altLang="ko-KR" sz="2100">
                <a:ea typeface="굴림" panose="020B0600000101010101" pitchFamily="34" charset="-127"/>
              </a:rPr>
              <a:t>s conditional pattern base</a:t>
            </a:r>
          </a:p>
        </p:txBody>
      </p:sp>
      <p:sp>
        <p:nvSpPr>
          <p:cNvPr id="81922" name="Rectangle 4">
            <a:extLst>
              <a:ext uri="{FF2B5EF4-FFF2-40B4-BE49-F238E27FC236}">
                <a16:creationId xmlns:a16="http://schemas.microsoft.com/office/drawing/2014/main" id="{D7B810CD-3779-A215-5517-282F03003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0" y="3667125"/>
            <a:ext cx="332740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ko-KR" sz="2000" b="1" i="1">
                <a:latin typeface="Times New Roman" panose="02020603050405020304" pitchFamily="18" charset="0"/>
                <a:ea typeface="굴림" panose="020B0600000101010101" pitchFamily="34" charset="-127"/>
              </a:rPr>
              <a:t>Conditional </a:t>
            </a:r>
            <a:r>
              <a:rPr lang="en-US" altLang="ko-KR" sz="2000" b="1">
                <a:latin typeface="Times New Roman" panose="02020603050405020304" pitchFamily="18" charset="0"/>
                <a:ea typeface="굴림" panose="020B0600000101010101" pitchFamily="34" charset="-127"/>
              </a:rPr>
              <a:t>pattern bases</a:t>
            </a:r>
          </a:p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ko-KR" sz="2000" b="1" i="1" u="sng">
                <a:latin typeface="Times New Roman" panose="02020603050405020304" pitchFamily="18" charset="0"/>
                <a:ea typeface="굴림" panose="020B0600000101010101" pitchFamily="34" charset="-127"/>
              </a:rPr>
              <a:t>item	cond. pattern base</a:t>
            </a:r>
          </a:p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ko-KR" sz="2000" b="1" i="1">
                <a:latin typeface="Times New Roman" panose="02020603050405020304" pitchFamily="18" charset="0"/>
                <a:ea typeface="굴림" panose="020B0600000101010101" pitchFamily="34" charset="-127"/>
              </a:rPr>
              <a:t>c	f:3</a:t>
            </a:r>
          </a:p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ko-KR" sz="2000" b="1" i="1">
                <a:latin typeface="Times New Roman" panose="02020603050405020304" pitchFamily="18" charset="0"/>
                <a:ea typeface="굴림" panose="020B0600000101010101" pitchFamily="34" charset="-127"/>
              </a:rPr>
              <a:t>a	fc:3</a:t>
            </a:r>
          </a:p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ko-KR" sz="2000" b="1" i="1">
                <a:latin typeface="Times New Roman" panose="02020603050405020304" pitchFamily="18" charset="0"/>
                <a:ea typeface="굴림" panose="020B0600000101010101" pitchFamily="34" charset="-127"/>
              </a:rPr>
              <a:t>b	fca:1, f:1, c:1</a:t>
            </a:r>
          </a:p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ko-KR" sz="2000" b="1" i="1">
                <a:latin typeface="Times New Roman" panose="02020603050405020304" pitchFamily="18" charset="0"/>
                <a:ea typeface="굴림" panose="020B0600000101010101" pitchFamily="34" charset="-127"/>
              </a:rPr>
              <a:t>m	fca:2, fcab:1</a:t>
            </a:r>
          </a:p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ko-KR" sz="2000" b="1" i="1">
                <a:latin typeface="Times New Roman" panose="02020603050405020304" pitchFamily="18" charset="0"/>
                <a:ea typeface="굴림" panose="020B0600000101010101" pitchFamily="34" charset="-127"/>
              </a:rPr>
              <a:t>p	fcam:2, cb:1</a:t>
            </a:r>
          </a:p>
        </p:txBody>
      </p:sp>
      <p:grpSp>
        <p:nvGrpSpPr>
          <p:cNvPr id="81923" name="Group 5">
            <a:extLst>
              <a:ext uri="{FF2B5EF4-FFF2-40B4-BE49-F238E27FC236}">
                <a16:creationId xmlns:a16="http://schemas.microsoft.com/office/drawing/2014/main" id="{960635D8-7872-03E5-ADA2-3F6E2B159192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048000"/>
            <a:ext cx="4637088" cy="3525838"/>
            <a:chOff x="2496" y="1772"/>
            <a:chExt cx="2921" cy="2226"/>
          </a:xfrm>
        </p:grpSpPr>
        <p:sp>
          <p:nvSpPr>
            <p:cNvPr id="81929" name="Text Box 6">
              <a:extLst>
                <a:ext uri="{FF2B5EF4-FFF2-40B4-BE49-F238E27FC236}">
                  <a16:creationId xmlns:a16="http://schemas.microsoft.com/office/drawing/2014/main" id="{2968601A-64E0-5156-CD05-6925B74F0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6" y="1772"/>
              <a:ext cx="278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2000">
                  <a:latin typeface="Times New Roman" panose="02020603050405020304" pitchFamily="18" charset="0"/>
                  <a:ea typeface="굴림" panose="020B0600000101010101" pitchFamily="34" charset="-127"/>
                </a:rPr>
                <a:t>{}</a:t>
              </a:r>
            </a:p>
          </p:txBody>
        </p:sp>
        <p:sp>
          <p:nvSpPr>
            <p:cNvPr id="81930" name="Text Box 7">
              <a:extLst>
                <a:ext uri="{FF2B5EF4-FFF2-40B4-BE49-F238E27FC236}">
                  <a16:creationId xmlns:a16="http://schemas.microsoft.com/office/drawing/2014/main" id="{72BB6D6D-8923-40AA-74F8-21EEA4C69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8" y="2205"/>
              <a:ext cx="301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f:4</a:t>
              </a:r>
            </a:p>
          </p:txBody>
        </p:sp>
        <p:sp>
          <p:nvSpPr>
            <p:cNvPr id="81931" name="Text Box 8">
              <a:extLst>
                <a:ext uri="{FF2B5EF4-FFF2-40B4-BE49-F238E27FC236}">
                  <a16:creationId xmlns:a16="http://schemas.microsoft.com/office/drawing/2014/main" id="{9AA5C2F0-1FF4-A8EB-28D6-CB6B11D7D8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4" y="2205"/>
              <a:ext cx="328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c:1</a:t>
              </a:r>
            </a:p>
          </p:txBody>
        </p:sp>
        <p:sp>
          <p:nvSpPr>
            <p:cNvPr id="81932" name="Text Box 9">
              <a:extLst>
                <a:ext uri="{FF2B5EF4-FFF2-40B4-BE49-F238E27FC236}">
                  <a16:creationId xmlns:a16="http://schemas.microsoft.com/office/drawing/2014/main" id="{4DE2CE2D-196D-22B9-95FD-9B2EC30B66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0" y="2588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b:1</a:t>
              </a:r>
            </a:p>
          </p:txBody>
        </p:sp>
        <p:sp>
          <p:nvSpPr>
            <p:cNvPr id="81933" name="Text Box 10">
              <a:extLst>
                <a:ext uri="{FF2B5EF4-FFF2-40B4-BE49-F238E27FC236}">
                  <a16:creationId xmlns:a16="http://schemas.microsoft.com/office/drawing/2014/main" id="{13B7547C-CD00-962E-3891-4D14CC4146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0" y="2971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p:1</a:t>
              </a:r>
            </a:p>
          </p:txBody>
        </p:sp>
        <p:cxnSp>
          <p:nvCxnSpPr>
            <p:cNvPr id="81934" name="AutoShape 11">
              <a:extLst>
                <a:ext uri="{FF2B5EF4-FFF2-40B4-BE49-F238E27FC236}">
                  <a16:creationId xmlns:a16="http://schemas.microsoft.com/office/drawing/2014/main" id="{A5C722BB-6153-FCB3-E4B3-3D6D7092BB82}"/>
                </a:ext>
              </a:extLst>
            </p:cNvPr>
            <p:cNvCxnSpPr>
              <a:cxnSpLocks noChangeShapeType="1"/>
              <a:stCxn id="81931" idx="2"/>
              <a:endCxn id="81932" idx="0"/>
            </p:cNvCxnSpPr>
            <p:nvPr/>
          </p:nvCxnSpPr>
          <p:spPr bwMode="auto">
            <a:xfrm>
              <a:off x="5248" y="2458"/>
              <a:ext cx="1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935" name="AutoShape 12">
              <a:extLst>
                <a:ext uri="{FF2B5EF4-FFF2-40B4-BE49-F238E27FC236}">
                  <a16:creationId xmlns:a16="http://schemas.microsoft.com/office/drawing/2014/main" id="{069FE373-53F1-9A7F-458C-F1EC59AAE510}"/>
                </a:ext>
              </a:extLst>
            </p:cNvPr>
            <p:cNvCxnSpPr>
              <a:cxnSpLocks noChangeShapeType="1"/>
              <a:stCxn id="81932" idx="2"/>
              <a:endCxn id="81933" idx="0"/>
            </p:cNvCxnSpPr>
            <p:nvPr/>
          </p:nvCxnSpPr>
          <p:spPr bwMode="auto">
            <a:xfrm>
              <a:off x="5249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936" name="AutoShape 13">
              <a:extLst>
                <a:ext uri="{FF2B5EF4-FFF2-40B4-BE49-F238E27FC236}">
                  <a16:creationId xmlns:a16="http://schemas.microsoft.com/office/drawing/2014/main" id="{3CCF905B-5A75-75B0-00C3-DFF1338F3D9E}"/>
                </a:ext>
              </a:extLst>
            </p:cNvPr>
            <p:cNvCxnSpPr>
              <a:cxnSpLocks noChangeShapeType="1"/>
              <a:stCxn id="81929" idx="2"/>
              <a:endCxn id="81931" idx="0"/>
            </p:cNvCxnSpPr>
            <p:nvPr/>
          </p:nvCxnSpPr>
          <p:spPr bwMode="auto">
            <a:xfrm>
              <a:off x="4935" y="2026"/>
              <a:ext cx="313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937" name="AutoShape 14">
              <a:extLst>
                <a:ext uri="{FF2B5EF4-FFF2-40B4-BE49-F238E27FC236}">
                  <a16:creationId xmlns:a16="http://schemas.microsoft.com/office/drawing/2014/main" id="{F4D4F31B-C4FF-9CF8-6704-DE5DB397DCC0}"/>
                </a:ext>
              </a:extLst>
            </p:cNvPr>
            <p:cNvCxnSpPr>
              <a:cxnSpLocks noChangeShapeType="1"/>
              <a:stCxn id="81929" idx="2"/>
              <a:endCxn id="81930" idx="0"/>
            </p:cNvCxnSpPr>
            <p:nvPr/>
          </p:nvCxnSpPr>
          <p:spPr bwMode="auto">
            <a:xfrm flipH="1">
              <a:off x="4659" y="2026"/>
              <a:ext cx="276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938" name="Text Box 15">
              <a:extLst>
                <a:ext uri="{FF2B5EF4-FFF2-40B4-BE49-F238E27FC236}">
                  <a16:creationId xmlns:a16="http://schemas.microsoft.com/office/drawing/2014/main" id="{57338BA5-6068-C1A0-1C72-9F0910A26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0" y="2588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b:1</a:t>
              </a:r>
            </a:p>
          </p:txBody>
        </p:sp>
        <p:sp>
          <p:nvSpPr>
            <p:cNvPr id="81939" name="Text Box 16">
              <a:extLst>
                <a:ext uri="{FF2B5EF4-FFF2-40B4-BE49-F238E27FC236}">
                  <a16:creationId xmlns:a16="http://schemas.microsoft.com/office/drawing/2014/main" id="{53F6ECFE-9F23-8EB8-D387-8C0B53BB2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1" y="2588"/>
              <a:ext cx="328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c:3</a:t>
              </a:r>
            </a:p>
          </p:txBody>
        </p:sp>
        <p:cxnSp>
          <p:nvCxnSpPr>
            <p:cNvPr id="81940" name="AutoShape 17">
              <a:extLst>
                <a:ext uri="{FF2B5EF4-FFF2-40B4-BE49-F238E27FC236}">
                  <a16:creationId xmlns:a16="http://schemas.microsoft.com/office/drawing/2014/main" id="{0A862CDE-3224-C5BD-2C74-FEF67AA75A7B}"/>
                </a:ext>
              </a:extLst>
            </p:cNvPr>
            <p:cNvCxnSpPr>
              <a:cxnSpLocks noChangeShapeType="1"/>
              <a:stCxn id="81930" idx="2"/>
              <a:endCxn id="81939" idx="0"/>
            </p:cNvCxnSpPr>
            <p:nvPr/>
          </p:nvCxnSpPr>
          <p:spPr bwMode="auto">
            <a:xfrm flipH="1">
              <a:off x="4485" y="2458"/>
              <a:ext cx="174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941" name="AutoShape 18">
              <a:extLst>
                <a:ext uri="{FF2B5EF4-FFF2-40B4-BE49-F238E27FC236}">
                  <a16:creationId xmlns:a16="http://schemas.microsoft.com/office/drawing/2014/main" id="{A9B404FF-4D8C-8726-F078-744CE94CE644}"/>
                </a:ext>
              </a:extLst>
            </p:cNvPr>
            <p:cNvCxnSpPr>
              <a:cxnSpLocks noChangeShapeType="1"/>
              <a:stCxn id="81930" idx="2"/>
              <a:endCxn id="81938" idx="0"/>
            </p:cNvCxnSpPr>
            <p:nvPr/>
          </p:nvCxnSpPr>
          <p:spPr bwMode="auto">
            <a:xfrm>
              <a:off x="4659" y="2458"/>
              <a:ext cx="21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942" name="Text Box 19">
              <a:extLst>
                <a:ext uri="{FF2B5EF4-FFF2-40B4-BE49-F238E27FC236}">
                  <a16:creationId xmlns:a16="http://schemas.microsoft.com/office/drawing/2014/main" id="{4E955472-0D3A-8285-FD42-C54976BCAD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6" y="2971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a:3</a:t>
              </a:r>
            </a:p>
          </p:txBody>
        </p:sp>
        <p:sp>
          <p:nvSpPr>
            <p:cNvPr id="81943" name="Text Box 20">
              <a:extLst>
                <a:ext uri="{FF2B5EF4-FFF2-40B4-BE49-F238E27FC236}">
                  <a16:creationId xmlns:a16="http://schemas.microsoft.com/office/drawing/2014/main" id="{348B0668-4033-21DA-0BEA-EC5101C0B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6" y="3356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b:1</a:t>
              </a:r>
            </a:p>
          </p:txBody>
        </p:sp>
        <p:sp>
          <p:nvSpPr>
            <p:cNvPr id="81944" name="Text Box 21">
              <a:extLst>
                <a:ext uri="{FF2B5EF4-FFF2-40B4-BE49-F238E27FC236}">
                  <a16:creationId xmlns:a16="http://schemas.microsoft.com/office/drawing/2014/main" id="{AA19D28E-1BC6-F444-C604-22BE1CEE30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0" y="3356"/>
              <a:ext cx="373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m:2</a:t>
              </a:r>
            </a:p>
          </p:txBody>
        </p:sp>
        <p:sp>
          <p:nvSpPr>
            <p:cNvPr id="81945" name="Text Box 22">
              <a:extLst>
                <a:ext uri="{FF2B5EF4-FFF2-40B4-BE49-F238E27FC236}">
                  <a16:creationId xmlns:a16="http://schemas.microsoft.com/office/drawing/2014/main" id="{4B434087-919E-3EEE-739E-31E71E2984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8" y="3739"/>
              <a:ext cx="337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p:2</a:t>
              </a:r>
            </a:p>
          </p:txBody>
        </p:sp>
        <p:cxnSp>
          <p:nvCxnSpPr>
            <p:cNvPr id="81946" name="AutoShape 23">
              <a:extLst>
                <a:ext uri="{FF2B5EF4-FFF2-40B4-BE49-F238E27FC236}">
                  <a16:creationId xmlns:a16="http://schemas.microsoft.com/office/drawing/2014/main" id="{6C05EB6D-3EFC-BD63-5E2F-F3F2809CFCEC}"/>
                </a:ext>
              </a:extLst>
            </p:cNvPr>
            <p:cNvCxnSpPr>
              <a:cxnSpLocks noChangeShapeType="1"/>
              <a:stCxn id="81939" idx="2"/>
              <a:endCxn id="81942" idx="0"/>
            </p:cNvCxnSpPr>
            <p:nvPr/>
          </p:nvCxnSpPr>
          <p:spPr bwMode="auto">
            <a:xfrm>
              <a:off x="4485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947" name="AutoShape 24">
              <a:extLst>
                <a:ext uri="{FF2B5EF4-FFF2-40B4-BE49-F238E27FC236}">
                  <a16:creationId xmlns:a16="http://schemas.microsoft.com/office/drawing/2014/main" id="{61FB0947-7772-36E3-0E65-1655EE206682}"/>
                </a:ext>
              </a:extLst>
            </p:cNvPr>
            <p:cNvCxnSpPr>
              <a:cxnSpLocks noChangeShapeType="1"/>
              <a:stCxn id="81942" idx="2"/>
              <a:endCxn id="81944" idx="0"/>
            </p:cNvCxnSpPr>
            <p:nvPr/>
          </p:nvCxnSpPr>
          <p:spPr bwMode="auto">
            <a:xfrm flipH="1">
              <a:off x="4317" y="3226"/>
              <a:ext cx="168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948" name="AutoShape 25">
              <a:extLst>
                <a:ext uri="{FF2B5EF4-FFF2-40B4-BE49-F238E27FC236}">
                  <a16:creationId xmlns:a16="http://schemas.microsoft.com/office/drawing/2014/main" id="{087524BF-5292-99F1-A39C-81ED2FF6A582}"/>
                </a:ext>
              </a:extLst>
            </p:cNvPr>
            <p:cNvCxnSpPr>
              <a:cxnSpLocks noChangeShapeType="1"/>
              <a:stCxn id="81942" idx="2"/>
              <a:endCxn id="81943" idx="0"/>
            </p:cNvCxnSpPr>
            <p:nvPr/>
          </p:nvCxnSpPr>
          <p:spPr bwMode="auto">
            <a:xfrm>
              <a:off x="4485" y="3226"/>
              <a:ext cx="24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949" name="AutoShape 26">
              <a:extLst>
                <a:ext uri="{FF2B5EF4-FFF2-40B4-BE49-F238E27FC236}">
                  <a16:creationId xmlns:a16="http://schemas.microsoft.com/office/drawing/2014/main" id="{A4805D51-E82E-41C1-EE92-90E5053098CD}"/>
                </a:ext>
              </a:extLst>
            </p:cNvPr>
            <p:cNvCxnSpPr>
              <a:cxnSpLocks noChangeShapeType="1"/>
              <a:stCxn id="81944" idx="2"/>
              <a:endCxn id="81945" idx="0"/>
            </p:cNvCxnSpPr>
            <p:nvPr/>
          </p:nvCxnSpPr>
          <p:spPr bwMode="auto">
            <a:xfrm>
              <a:off x="4317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950" name="Text Box 27">
              <a:extLst>
                <a:ext uri="{FF2B5EF4-FFF2-40B4-BE49-F238E27FC236}">
                  <a16:creationId xmlns:a16="http://schemas.microsoft.com/office/drawing/2014/main" id="{BFCFAAE5-BAC6-CB3B-240D-1E61D0422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8" y="3739"/>
              <a:ext cx="373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m:1</a:t>
              </a:r>
            </a:p>
          </p:txBody>
        </p:sp>
        <p:cxnSp>
          <p:nvCxnSpPr>
            <p:cNvPr id="81951" name="AutoShape 28">
              <a:extLst>
                <a:ext uri="{FF2B5EF4-FFF2-40B4-BE49-F238E27FC236}">
                  <a16:creationId xmlns:a16="http://schemas.microsoft.com/office/drawing/2014/main" id="{CFEB804F-1B3A-A648-12B1-94308664C9F8}"/>
                </a:ext>
              </a:extLst>
            </p:cNvPr>
            <p:cNvCxnSpPr>
              <a:cxnSpLocks noChangeShapeType="1"/>
              <a:stCxn id="81943" idx="2"/>
              <a:endCxn id="81950" idx="0"/>
            </p:cNvCxnSpPr>
            <p:nvPr/>
          </p:nvCxnSpPr>
          <p:spPr bwMode="auto">
            <a:xfrm>
              <a:off x="4725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952" name="Text Box 29">
              <a:extLst>
                <a:ext uri="{FF2B5EF4-FFF2-40B4-BE49-F238E27FC236}">
                  <a16:creationId xmlns:a16="http://schemas.microsoft.com/office/drawing/2014/main" id="{46BDAFAE-EF2C-161E-30AE-490E4D058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935"/>
              <a:ext cx="1602" cy="1627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>
                  <a:latin typeface="Times New Roman" panose="02020603050405020304" pitchFamily="18" charset="0"/>
                  <a:ea typeface="굴림" panose="020B0600000101010101" pitchFamily="34" charset="-127"/>
                </a:rPr>
                <a:t>Header Table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endParaRPr lang="en-US" altLang="ko-KR" sz="2000" b="1">
                <a:latin typeface="Times New Roman" panose="02020603050405020304" pitchFamily="18" charset="0"/>
                <a:ea typeface="굴림" panose="020B0600000101010101" pitchFamily="34" charset="-127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 i="1" u="sng">
                  <a:latin typeface="Times New Roman" panose="02020603050405020304" pitchFamily="18" charset="0"/>
                  <a:ea typeface="굴림" panose="020B0600000101010101" pitchFamily="34" charset="-127"/>
                </a:rPr>
                <a:t>Item  frequency  head 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 f	4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c	4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a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b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m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i="1">
                  <a:latin typeface="Times New Roman" panose="02020603050405020304" pitchFamily="18" charset="0"/>
                  <a:ea typeface="굴림" panose="020B0600000101010101" pitchFamily="34" charset="-127"/>
                </a:rPr>
                <a:t>p	3</a:t>
              </a:r>
              <a:endParaRPr lang="en-US" altLang="ko-KR" sz="20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81953" name="Freeform 30">
              <a:extLst>
                <a:ext uri="{FF2B5EF4-FFF2-40B4-BE49-F238E27FC236}">
                  <a16:creationId xmlns:a16="http://schemas.microsoft.com/office/drawing/2014/main" id="{390C4EB2-AB21-9ABC-68D9-79BDAAB2E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341"/>
              <a:ext cx="672" cy="240"/>
            </a:xfrm>
            <a:custGeom>
              <a:avLst/>
              <a:gdLst>
                <a:gd name="T0" fmla="*/ 0 w 672"/>
                <a:gd name="T1" fmla="*/ 240 h 240"/>
                <a:gd name="T2" fmla="*/ 288 w 672"/>
                <a:gd name="T3" fmla="*/ 192 h 240"/>
                <a:gd name="T4" fmla="*/ 432 w 672"/>
                <a:gd name="T5" fmla="*/ 48 h 240"/>
                <a:gd name="T6" fmla="*/ 672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54" name="Freeform 31">
              <a:extLst>
                <a:ext uri="{FF2B5EF4-FFF2-40B4-BE49-F238E27FC236}">
                  <a16:creationId xmlns:a16="http://schemas.microsoft.com/office/drawing/2014/main" id="{F3DEB0C7-D9BC-C06B-2A06-7F66F10E4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725"/>
              <a:ext cx="432" cy="1"/>
            </a:xfrm>
            <a:custGeom>
              <a:avLst/>
              <a:gdLst>
                <a:gd name="T0" fmla="*/ 0 w 432"/>
                <a:gd name="T1" fmla="*/ 0 h 1"/>
                <a:gd name="T2" fmla="*/ 432 w 432"/>
                <a:gd name="T3" fmla="*/ 0 h 1"/>
                <a:gd name="T4" fmla="*/ 0 60000 65536"/>
                <a:gd name="T5" fmla="*/ 0 60000 65536"/>
                <a:gd name="T6" fmla="*/ 0 w 432"/>
                <a:gd name="T7" fmla="*/ 0 h 1"/>
                <a:gd name="T8" fmla="*/ 432 w 43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32" h="1">
                  <a:moveTo>
                    <a:pt x="0" y="0"/>
                  </a:moveTo>
                  <a:cubicBezTo>
                    <a:pt x="0" y="0"/>
                    <a:pt x="216" y="0"/>
                    <a:pt x="43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55" name="Freeform 32">
              <a:extLst>
                <a:ext uri="{FF2B5EF4-FFF2-40B4-BE49-F238E27FC236}">
                  <a16:creationId xmlns:a16="http://schemas.microsoft.com/office/drawing/2014/main" id="{EC52BAC2-9B80-7FD0-2A68-9568DAFE0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" y="2341"/>
              <a:ext cx="480" cy="384"/>
            </a:xfrm>
            <a:custGeom>
              <a:avLst/>
              <a:gdLst>
                <a:gd name="T0" fmla="*/ 0 w 480"/>
                <a:gd name="T1" fmla="*/ 384 h 384"/>
                <a:gd name="T2" fmla="*/ 48 w 480"/>
                <a:gd name="T3" fmla="*/ 336 h 384"/>
                <a:gd name="T4" fmla="*/ 240 w 480"/>
                <a:gd name="T5" fmla="*/ 96 h 384"/>
                <a:gd name="T6" fmla="*/ 480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56" name="Freeform 33">
              <a:extLst>
                <a:ext uri="{FF2B5EF4-FFF2-40B4-BE49-F238E27FC236}">
                  <a16:creationId xmlns:a16="http://schemas.microsoft.com/office/drawing/2014/main" id="{E4EBABF2-A9C0-85D0-E92A-503116EDF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928"/>
              <a:ext cx="432" cy="192"/>
            </a:xfrm>
            <a:custGeom>
              <a:avLst/>
              <a:gdLst>
                <a:gd name="T0" fmla="*/ 0 w 432"/>
                <a:gd name="T1" fmla="*/ 0 h 192"/>
                <a:gd name="T2" fmla="*/ 144 w 432"/>
                <a:gd name="T3" fmla="*/ 48 h 192"/>
                <a:gd name="T4" fmla="*/ 288 w 432"/>
                <a:gd name="T5" fmla="*/ 144 h 192"/>
                <a:gd name="T6" fmla="*/ 432 w 432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57" name="Freeform 34">
              <a:extLst>
                <a:ext uri="{FF2B5EF4-FFF2-40B4-BE49-F238E27FC236}">
                  <a16:creationId xmlns:a16="http://schemas.microsoft.com/office/drawing/2014/main" id="{53390A39-94C4-67E7-10F5-F0E762702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072"/>
              <a:ext cx="720" cy="384"/>
            </a:xfrm>
            <a:custGeom>
              <a:avLst/>
              <a:gdLst>
                <a:gd name="T0" fmla="*/ 0 w 720"/>
                <a:gd name="T1" fmla="*/ 0 h 384"/>
                <a:gd name="T2" fmla="*/ 240 w 720"/>
                <a:gd name="T3" fmla="*/ 48 h 384"/>
                <a:gd name="T4" fmla="*/ 528 w 720"/>
                <a:gd name="T5" fmla="*/ 288 h 384"/>
                <a:gd name="T6" fmla="*/ 720 w 720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58" name="Freeform 35">
              <a:extLst>
                <a:ext uri="{FF2B5EF4-FFF2-40B4-BE49-F238E27FC236}">
                  <a16:creationId xmlns:a16="http://schemas.microsoft.com/office/drawing/2014/main" id="{33455624-D1AC-7179-1148-B009EAEC0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2832"/>
              <a:ext cx="56" cy="672"/>
            </a:xfrm>
            <a:custGeom>
              <a:avLst/>
              <a:gdLst>
                <a:gd name="T0" fmla="*/ 0 w 56"/>
                <a:gd name="T1" fmla="*/ 672 h 672"/>
                <a:gd name="T2" fmla="*/ 48 w 56"/>
                <a:gd name="T3" fmla="*/ 432 h 672"/>
                <a:gd name="T4" fmla="*/ 48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59" name="Line 36">
              <a:extLst>
                <a:ext uri="{FF2B5EF4-FFF2-40B4-BE49-F238E27FC236}">
                  <a16:creationId xmlns:a16="http://schemas.microsoft.com/office/drawing/2014/main" id="{32700817-8D4C-6041-06B3-4C61DDE57E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3" y="2725"/>
              <a:ext cx="9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60" name="Freeform 37">
              <a:extLst>
                <a:ext uri="{FF2B5EF4-FFF2-40B4-BE49-F238E27FC236}">
                  <a16:creationId xmlns:a16="http://schemas.microsoft.com/office/drawing/2014/main" id="{3C55B8DD-45E7-3B70-429F-E6BEC795B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264"/>
              <a:ext cx="288" cy="240"/>
            </a:xfrm>
            <a:custGeom>
              <a:avLst/>
              <a:gdLst>
                <a:gd name="T0" fmla="*/ 0 w 288"/>
                <a:gd name="T1" fmla="*/ 0 h 240"/>
                <a:gd name="T2" fmla="*/ 144 w 288"/>
                <a:gd name="T3" fmla="*/ 48 h 240"/>
                <a:gd name="T4" fmla="*/ 192 w 288"/>
                <a:gd name="T5" fmla="*/ 192 h 240"/>
                <a:gd name="T6" fmla="*/ 288 w 288"/>
                <a:gd name="T7" fmla="*/ 24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61" name="Freeform 38">
              <a:extLst>
                <a:ext uri="{FF2B5EF4-FFF2-40B4-BE49-F238E27FC236}">
                  <a16:creationId xmlns:a16="http://schemas.microsoft.com/office/drawing/2014/main" id="{C4C0E4C3-5C51-17FF-7B83-438155B74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3504"/>
              <a:ext cx="96" cy="384"/>
            </a:xfrm>
            <a:custGeom>
              <a:avLst/>
              <a:gdLst>
                <a:gd name="T0" fmla="*/ 0 w 96"/>
                <a:gd name="T1" fmla="*/ 0 h 384"/>
                <a:gd name="T2" fmla="*/ 48 w 96"/>
                <a:gd name="T3" fmla="*/ 96 h 384"/>
                <a:gd name="T4" fmla="*/ 48 w 96"/>
                <a:gd name="T5" fmla="*/ 288 h 384"/>
                <a:gd name="T6" fmla="*/ 96 w 96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62" name="Freeform 39">
              <a:extLst>
                <a:ext uri="{FF2B5EF4-FFF2-40B4-BE49-F238E27FC236}">
                  <a16:creationId xmlns:a16="http://schemas.microsoft.com/office/drawing/2014/main" id="{98C154F2-4FE0-241E-3071-0C413DE5D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456"/>
              <a:ext cx="288" cy="432"/>
            </a:xfrm>
            <a:custGeom>
              <a:avLst/>
              <a:gdLst>
                <a:gd name="T0" fmla="*/ 0 w 288"/>
                <a:gd name="T1" fmla="*/ 0 h 432"/>
                <a:gd name="T2" fmla="*/ 96 w 288"/>
                <a:gd name="T3" fmla="*/ 144 h 432"/>
                <a:gd name="T4" fmla="*/ 144 w 288"/>
                <a:gd name="T5" fmla="*/ 336 h 432"/>
                <a:gd name="T6" fmla="*/ 288 w 28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63" name="Freeform 40">
              <a:extLst>
                <a:ext uri="{FF2B5EF4-FFF2-40B4-BE49-F238E27FC236}">
                  <a16:creationId xmlns:a16="http://schemas.microsoft.com/office/drawing/2014/main" id="{13BEEACE-23F1-C71D-741C-5742234AB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3216"/>
              <a:ext cx="768" cy="672"/>
            </a:xfrm>
            <a:custGeom>
              <a:avLst/>
              <a:gdLst>
                <a:gd name="T0" fmla="*/ 0 w 768"/>
                <a:gd name="T1" fmla="*/ 672 h 672"/>
                <a:gd name="T2" fmla="*/ 96 w 768"/>
                <a:gd name="T3" fmla="*/ 528 h 672"/>
                <a:gd name="T4" fmla="*/ 528 w 768"/>
                <a:gd name="T5" fmla="*/ 384 h 672"/>
                <a:gd name="T6" fmla="*/ 768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81924" name="Picture 7" descr="JCU_Logo_RGB.jpg">
            <a:extLst>
              <a:ext uri="{FF2B5EF4-FFF2-40B4-BE49-F238E27FC236}">
                <a16:creationId xmlns:a16="http://schemas.microsoft.com/office/drawing/2014/main" id="{48DB3DC6-6D8E-8482-C715-F9F0B8E6C2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5" name="Line 9">
            <a:extLst>
              <a:ext uri="{FF2B5EF4-FFF2-40B4-BE49-F238E27FC236}">
                <a16:creationId xmlns:a16="http://schemas.microsoft.com/office/drawing/2014/main" id="{868CC8E5-2954-37C6-A973-329C90B60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26" name="Line 10">
            <a:extLst>
              <a:ext uri="{FF2B5EF4-FFF2-40B4-BE49-F238E27FC236}">
                <a16:creationId xmlns:a16="http://schemas.microsoft.com/office/drawing/2014/main" id="{1B020D2C-4B82-5C09-7BAD-D531DB88A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27" name="Rectangle 2">
            <a:extLst>
              <a:ext uri="{FF2B5EF4-FFF2-40B4-BE49-F238E27FC236}">
                <a16:creationId xmlns:a16="http://schemas.microsoft.com/office/drawing/2014/main" id="{0E3AEAF8-88BE-4BF2-262B-D7F4E0AB1393}"/>
              </a:ext>
            </a:extLst>
          </p:cNvPr>
          <p:cNvSpPr txBox="1">
            <a:spLocks/>
          </p:cNvSpPr>
          <p:nvPr/>
        </p:nvSpPr>
        <p:spPr bwMode="auto">
          <a:xfrm>
            <a:off x="609600" y="381000"/>
            <a:ext cx="7091363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4000">
                <a:solidFill>
                  <a:srgbClr val="0066B3"/>
                </a:solidFill>
                <a:latin typeface="Times" pitchFamily="-84" charset="0"/>
              </a:rPr>
              <a:t>FP-Tree</a:t>
            </a:r>
            <a:endParaRPr lang="en-US" altLang="en-US" sz="4000">
              <a:solidFill>
                <a:srgbClr val="0066B3"/>
              </a:solidFill>
              <a:latin typeface="Times" pitchFamily="-84" charset="0"/>
            </a:endParaRP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3">
            <a:extLst>
              <a:ext uri="{FF2B5EF4-FFF2-40B4-BE49-F238E27FC236}">
                <a16:creationId xmlns:a16="http://schemas.microsoft.com/office/drawing/2014/main" id="{62861444-E897-DC1A-939A-C53FFA38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371600"/>
            <a:ext cx="7670800" cy="1957388"/>
          </a:xfrm>
        </p:spPr>
        <p:txBody>
          <a:bodyPr/>
          <a:lstStyle/>
          <a:p>
            <a:r>
              <a:rPr lang="en-US" altLang="ko-KR" sz="2400">
                <a:ea typeface="굴림" panose="020B0600000101010101" pitchFamily="34" charset="-127"/>
              </a:rPr>
              <a:t>For each pattern-base</a:t>
            </a:r>
          </a:p>
          <a:p>
            <a:pPr lvl="1"/>
            <a:r>
              <a:rPr lang="en-US" altLang="ko-KR" sz="2400">
                <a:ea typeface="굴림" panose="020B0600000101010101" pitchFamily="34" charset="-127"/>
              </a:rPr>
              <a:t>Accumulate the count for each item in the base</a:t>
            </a:r>
          </a:p>
          <a:p>
            <a:pPr lvl="1"/>
            <a:r>
              <a:rPr lang="en-US" altLang="ko-KR" sz="2400">
                <a:ea typeface="굴림" panose="020B0600000101010101" pitchFamily="34" charset="-127"/>
              </a:rPr>
              <a:t>Construct the FP-tree for the frequent items of the pattern base</a:t>
            </a:r>
          </a:p>
        </p:txBody>
      </p:sp>
      <p:sp>
        <p:nvSpPr>
          <p:cNvPr id="83970" name="Rectangle 4">
            <a:extLst>
              <a:ext uri="{FF2B5EF4-FFF2-40B4-BE49-F238E27FC236}">
                <a16:creationId xmlns:a16="http://schemas.microsoft.com/office/drawing/2014/main" id="{CC47C787-D1F7-B032-62B8-AF0C3E22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429000"/>
            <a:ext cx="3276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sz="1800" b="1" i="1">
                <a:latin typeface="Times New Roman" panose="02020603050405020304" pitchFamily="18" charset="0"/>
                <a:ea typeface="굴림" panose="020B0600000101010101" pitchFamily="34" charset="-127"/>
              </a:rPr>
              <a:t>m-conditional </a:t>
            </a:r>
            <a:r>
              <a:rPr lang="en-US" altLang="ko-KR" sz="1800" b="1">
                <a:latin typeface="Times New Roman" panose="02020603050405020304" pitchFamily="18" charset="0"/>
                <a:ea typeface="굴림" panose="020B0600000101010101" pitchFamily="34" charset="-127"/>
              </a:rPr>
              <a:t>pattern base: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ko-KR" sz="1800" b="1" i="1">
                <a:latin typeface="Times New Roman" panose="02020603050405020304" pitchFamily="18" charset="0"/>
                <a:ea typeface="굴림" panose="020B0600000101010101" pitchFamily="34" charset="-127"/>
              </a:rPr>
              <a:t>fca:2, fcab:1</a:t>
            </a:r>
          </a:p>
        </p:txBody>
      </p:sp>
      <p:grpSp>
        <p:nvGrpSpPr>
          <p:cNvPr id="83971" name="Group 5">
            <a:extLst>
              <a:ext uri="{FF2B5EF4-FFF2-40B4-BE49-F238E27FC236}">
                <a16:creationId xmlns:a16="http://schemas.microsoft.com/office/drawing/2014/main" id="{0707A41A-72B2-C93C-EA06-D9BAFE9B1A05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343400"/>
            <a:ext cx="2298700" cy="2324100"/>
            <a:chOff x="3312" y="2736"/>
            <a:chExt cx="1448" cy="1464"/>
          </a:xfrm>
        </p:grpSpPr>
        <p:grpSp>
          <p:nvGrpSpPr>
            <p:cNvPr id="84014" name="Group 6">
              <a:extLst>
                <a:ext uri="{FF2B5EF4-FFF2-40B4-BE49-F238E27FC236}">
                  <a16:creationId xmlns:a16="http://schemas.microsoft.com/office/drawing/2014/main" id="{CB1E1F01-3E74-4329-BE19-BC74078A4E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736"/>
              <a:ext cx="329" cy="1297"/>
              <a:chOff x="2282" y="2456"/>
              <a:chExt cx="329" cy="1297"/>
            </a:xfrm>
          </p:grpSpPr>
          <p:sp>
            <p:nvSpPr>
              <p:cNvPr id="84016" name="Text Box 7">
                <a:extLst>
                  <a:ext uri="{FF2B5EF4-FFF2-40B4-BE49-F238E27FC236}">
                    <a16:creationId xmlns:a16="http://schemas.microsoft.com/office/drawing/2014/main" id="{A3302880-4904-47FD-8673-0E54E2E292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2" y="2456"/>
                <a:ext cx="27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ko-KR" sz="2000">
                    <a:latin typeface="Times New Roman" panose="02020603050405020304" pitchFamily="18" charset="0"/>
                    <a:ea typeface="굴림" panose="020B0600000101010101" pitchFamily="34" charset="-127"/>
                  </a:rPr>
                  <a:t>{}</a:t>
                </a:r>
              </a:p>
            </p:txBody>
          </p:sp>
          <p:sp>
            <p:nvSpPr>
              <p:cNvPr id="84017" name="Text Box 8">
                <a:extLst>
                  <a:ext uri="{FF2B5EF4-FFF2-40B4-BE49-F238E27FC236}">
                    <a16:creationId xmlns:a16="http://schemas.microsoft.com/office/drawing/2014/main" id="{3B70B3CE-D726-407B-0125-BEF2EDC6BC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0" y="2840"/>
                <a:ext cx="29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ko-KR" sz="2000" i="1">
                    <a:latin typeface="Times New Roman" panose="02020603050405020304" pitchFamily="18" charset="0"/>
                    <a:ea typeface="굴림" panose="020B0600000101010101" pitchFamily="34" charset="-127"/>
                  </a:rPr>
                  <a:t>f:3</a:t>
                </a:r>
              </a:p>
            </p:txBody>
          </p:sp>
          <p:sp>
            <p:nvSpPr>
              <p:cNvPr id="84018" name="Text Box 9">
                <a:extLst>
                  <a:ext uri="{FF2B5EF4-FFF2-40B4-BE49-F238E27FC236}">
                    <a16:creationId xmlns:a16="http://schemas.microsoft.com/office/drawing/2014/main" id="{484FD994-B536-FEC1-8AAB-045A87A292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7" y="3167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ko-KR" sz="2000" i="1">
                    <a:latin typeface="Times New Roman" panose="02020603050405020304" pitchFamily="18" charset="0"/>
                    <a:ea typeface="굴림" panose="020B0600000101010101" pitchFamily="34" charset="-127"/>
                  </a:rPr>
                  <a:t>c:3</a:t>
                </a:r>
              </a:p>
            </p:txBody>
          </p:sp>
          <p:sp>
            <p:nvSpPr>
              <p:cNvPr id="84019" name="Text Box 10">
                <a:extLst>
                  <a:ext uri="{FF2B5EF4-FFF2-40B4-BE49-F238E27FC236}">
                    <a16:creationId xmlns:a16="http://schemas.microsoft.com/office/drawing/2014/main" id="{7C35B04A-81AD-572F-FC58-BE0222546D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2" y="3503"/>
                <a:ext cx="32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ko-KR" sz="2000" i="1">
                    <a:latin typeface="Times New Roman" panose="02020603050405020304" pitchFamily="18" charset="0"/>
                    <a:ea typeface="굴림" panose="020B0600000101010101" pitchFamily="34" charset="-127"/>
                  </a:rPr>
                  <a:t>a:3</a:t>
                </a:r>
              </a:p>
            </p:txBody>
          </p:sp>
          <p:cxnSp>
            <p:nvCxnSpPr>
              <p:cNvPr id="84020" name="AutoShape 11">
                <a:extLst>
                  <a:ext uri="{FF2B5EF4-FFF2-40B4-BE49-F238E27FC236}">
                    <a16:creationId xmlns:a16="http://schemas.microsoft.com/office/drawing/2014/main" id="{917F1DC0-9CB6-C329-025C-D50442EB6D3A}"/>
                  </a:ext>
                </a:extLst>
              </p:cNvPr>
              <p:cNvCxnSpPr>
                <a:cxnSpLocks noChangeShapeType="1"/>
                <a:stCxn id="84016" idx="2"/>
                <a:endCxn id="84017" idx="0"/>
              </p:cNvCxnSpPr>
              <p:nvPr/>
            </p:nvCxnSpPr>
            <p:spPr bwMode="auto">
              <a:xfrm>
                <a:off x="2447" y="2706"/>
                <a:ext cx="0" cy="13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021" name="AutoShape 12">
                <a:extLst>
                  <a:ext uri="{FF2B5EF4-FFF2-40B4-BE49-F238E27FC236}">
                    <a16:creationId xmlns:a16="http://schemas.microsoft.com/office/drawing/2014/main" id="{F8413493-B2C7-6B98-F36F-901106BF811B}"/>
                  </a:ext>
                </a:extLst>
              </p:cNvPr>
              <p:cNvCxnSpPr>
                <a:cxnSpLocks noChangeShapeType="1"/>
                <a:stCxn id="84017" idx="2"/>
                <a:endCxn id="84018" idx="0"/>
              </p:cNvCxnSpPr>
              <p:nvPr/>
            </p:nvCxnSpPr>
            <p:spPr bwMode="auto">
              <a:xfrm>
                <a:off x="2447" y="3090"/>
                <a:ext cx="0" cy="7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022" name="AutoShape 13">
                <a:extLst>
                  <a:ext uri="{FF2B5EF4-FFF2-40B4-BE49-F238E27FC236}">
                    <a16:creationId xmlns:a16="http://schemas.microsoft.com/office/drawing/2014/main" id="{077539B0-B08E-9151-72E7-9D0580ABCEBD}"/>
                  </a:ext>
                </a:extLst>
              </p:cNvPr>
              <p:cNvCxnSpPr>
                <a:cxnSpLocks noChangeShapeType="1"/>
                <a:stCxn id="84018" idx="2"/>
                <a:endCxn id="84019" idx="0"/>
              </p:cNvCxnSpPr>
              <p:nvPr/>
            </p:nvCxnSpPr>
            <p:spPr bwMode="auto">
              <a:xfrm>
                <a:off x="2447" y="3417"/>
                <a:ext cx="0" cy="86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84015" name="Text Box 14">
              <a:extLst>
                <a:ext uri="{FF2B5EF4-FFF2-40B4-BE49-F238E27FC236}">
                  <a16:creationId xmlns:a16="http://schemas.microsoft.com/office/drawing/2014/main" id="{1798B714-FC5D-38DC-DBC9-B31FC0B860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3969"/>
              <a:ext cx="14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1800" b="1" i="1">
                  <a:latin typeface="Times New Roman" panose="02020603050405020304" pitchFamily="18" charset="0"/>
                  <a:ea typeface="굴림" panose="020B0600000101010101" pitchFamily="34" charset="-127"/>
                </a:rPr>
                <a:t>m-conditional </a:t>
              </a:r>
              <a:r>
                <a:rPr lang="en-US" altLang="ko-KR" sz="1800" b="1">
                  <a:latin typeface="Times New Roman" panose="02020603050405020304" pitchFamily="18" charset="0"/>
                  <a:ea typeface="굴림" panose="020B0600000101010101" pitchFamily="34" charset="-127"/>
                </a:rPr>
                <a:t>FP-tree</a:t>
              </a:r>
              <a:endParaRPr lang="en-US" altLang="ko-KR" sz="1800" b="1" i="1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</p:grpSp>
      <p:sp>
        <p:nvSpPr>
          <p:cNvPr id="83972" name="Rectangle 15">
            <a:extLst>
              <a:ext uri="{FF2B5EF4-FFF2-40B4-BE49-F238E27FC236}">
                <a16:creationId xmlns:a16="http://schemas.microsoft.com/office/drawing/2014/main" id="{FBD73425-1FF7-2872-DD31-0AD8FE9D3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114800"/>
            <a:ext cx="2209800" cy="17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ko-KR" sz="1800" b="1">
                <a:latin typeface="Times New Roman" panose="02020603050405020304" pitchFamily="18" charset="0"/>
                <a:ea typeface="굴림" panose="020B0600000101010101" pitchFamily="34" charset="-127"/>
              </a:rPr>
              <a:t>All frequent patterns relate to</a:t>
            </a:r>
            <a:r>
              <a:rPr lang="en-US" altLang="ko-KR" sz="1800" b="1" i="1">
                <a:latin typeface="Times New Roman" panose="02020603050405020304" pitchFamily="18" charset="0"/>
                <a:ea typeface="굴림" panose="020B0600000101010101" pitchFamily="34" charset="-127"/>
              </a:rPr>
              <a:t> m</a:t>
            </a:r>
          </a:p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ko-KR" sz="1800" b="1" i="1">
                <a:latin typeface="Times New Roman" panose="02020603050405020304" pitchFamily="18" charset="0"/>
                <a:ea typeface="굴림" panose="020B0600000101010101" pitchFamily="34" charset="-127"/>
              </a:rPr>
              <a:t>m, </a:t>
            </a:r>
          </a:p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ko-KR" sz="1800" b="1" i="1">
                <a:latin typeface="Times New Roman" panose="02020603050405020304" pitchFamily="18" charset="0"/>
                <a:ea typeface="굴림" panose="020B0600000101010101" pitchFamily="34" charset="-127"/>
              </a:rPr>
              <a:t>fm, cm, am, </a:t>
            </a:r>
          </a:p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ko-KR" sz="1800" b="1" i="1">
                <a:latin typeface="Times New Roman" panose="02020603050405020304" pitchFamily="18" charset="0"/>
                <a:ea typeface="굴림" panose="020B0600000101010101" pitchFamily="34" charset="-127"/>
              </a:rPr>
              <a:t>fcm, fam, cam, </a:t>
            </a:r>
          </a:p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ko-KR" sz="1800" b="1" i="1">
                <a:latin typeface="Times New Roman" panose="02020603050405020304" pitchFamily="18" charset="0"/>
                <a:ea typeface="굴림" panose="020B0600000101010101" pitchFamily="34" charset="-127"/>
              </a:rPr>
              <a:t>fcam</a:t>
            </a:r>
          </a:p>
        </p:txBody>
      </p:sp>
      <p:sp>
        <p:nvSpPr>
          <p:cNvPr id="83973" name="Text Box 16">
            <a:extLst>
              <a:ext uri="{FF2B5EF4-FFF2-40B4-BE49-F238E27FC236}">
                <a16:creationId xmlns:a16="http://schemas.microsoft.com/office/drawing/2014/main" id="{49D3DA76-1CB2-C415-6D50-FDD47234E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724400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ko-KR" altLang="en-US" sz="2800" b="1">
                <a:latin typeface="Times New Roman" panose="02020603050405020304" pitchFamily="18" charset="0"/>
                <a:ea typeface="굴림" panose="020B0600000101010101" pitchFamily="34" charset="-127"/>
                <a:sym typeface="Wingdings 3" pitchFamily="2" charset="2"/>
              </a:rPr>
              <a:t></a:t>
            </a:r>
            <a:endParaRPr lang="ko-KR" altLang="en-US" sz="2800" b="1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83974" name="Rectangle 17">
            <a:extLst>
              <a:ext uri="{FF2B5EF4-FFF2-40B4-BE49-F238E27FC236}">
                <a16:creationId xmlns:a16="http://schemas.microsoft.com/office/drawing/2014/main" id="{4236ABA4-9997-441B-877E-12445208B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876800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ko-KR" altLang="en-US" sz="2800" b="1">
                <a:latin typeface="Times New Roman" panose="02020603050405020304" pitchFamily="18" charset="0"/>
                <a:ea typeface="굴림" panose="020B0600000101010101" pitchFamily="34" charset="-127"/>
                <a:sym typeface="Wingdings 3" pitchFamily="2" charset="2"/>
              </a:rPr>
              <a:t></a:t>
            </a:r>
          </a:p>
        </p:txBody>
      </p:sp>
      <p:sp>
        <p:nvSpPr>
          <p:cNvPr id="83975" name="Text Box 18">
            <a:extLst>
              <a:ext uri="{FF2B5EF4-FFF2-40B4-BE49-F238E27FC236}">
                <a16:creationId xmlns:a16="http://schemas.microsoft.com/office/drawing/2014/main" id="{6CF45A16-5974-0C8C-B8AB-206603BA8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2550" y="3595688"/>
            <a:ext cx="44132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sz="2000">
                <a:latin typeface="Times New Roman" panose="02020603050405020304" pitchFamily="18" charset="0"/>
                <a:ea typeface="굴림" panose="020B0600000101010101" pitchFamily="34" charset="-127"/>
              </a:rPr>
              <a:t>{}</a:t>
            </a:r>
          </a:p>
        </p:txBody>
      </p:sp>
      <p:sp>
        <p:nvSpPr>
          <p:cNvPr id="83976" name="Text Box 19">
            <a:extLst>
              <a:ext uri="{FF2B5EF4-FFF2-40B4-BE49-F238E27FC236}">
                <a16:creationId xmlns:a16="http://schemas.microsoft.com/office/drawing/2014/main" id="{CFBAA4F8-A9BA-8E53-AE8F-6C7A3CEFB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0588" y="4140200"/>
            <a:ext cx="47783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sz="2000" i="1">
                <a:solidFill>
                  <a:schemeClr val="hlink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f:4</a:t>
            </a:r>
          </a:p>
        </p:txBody>
      </p:sp>
      <p:sp>
        <p:nvSpPr>
          <p:cNvPr id="83977" name="Text Box 20">
            <a:extLst>
              <a:ext uri="{FF2B5EF4-FFF2-40B4-BE49-F238E27FC236}">
                <a16:creationId xmlns:a16="http://schemas.microsoft.com/office/drawing/2014/main" id="{2190944A-A993-6C48-2A19-CC369B37B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1338" y="4140200"/>
            <a:ext cx="5207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sz="2000" i="1">
                <a:latin typeface="Times New Roman" panose="02020603050405020304" pitchFamily="18" charset="0"/>
                <a:ea typeface="굴림" panose="020B0600000101010101" pitchFamily="34" charset="-127"/>
              </a:rPr>
              <a:t>c:1</a:t>
            </a:r>
          </a:p>
        </p:txBody>
      </p:sp>
      <p:sp>
        <p:nvSpPr>
          <p:cNvPr id="83978" name="Text Box 21">
            <a:extLst>
              <a:ext uri="{FF2B5EF4-FFF2-40B4-BE49-F238E27FC236}">
                <a16:creationId xmlns:a16="http://schemas.microsoft.com/office/drawing/2014/main" id="{995B5DFC-F5C0-5105-A907-101DA3730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6228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sz="2000" i="1">
                <a:latin typeface="Times New Roman" panose="02020603050405020304" pitchFamily="18" charset="0"/>
                <a:ea typeface="굴림" panose="020B0600000101010101" pitchFamily="34" charset="-127"/>
              </a:rPr>
              <a:t>b:1</a:t>
            </a:r>
          </a:p>
        </p:txBody>
      </p:sp>
      <p:sp>
        <p:nvSpPr>
          <p:cNvPr id="83979" name="Text Box 22">
            <a:extLst>
              <a:ext uri="{FF2B5EF4-FFF2-40B4-BE49-F238E27FC236}">
                <a16:creationId xmlns:a16="http://schemas.microsoft.com/office/drawing/2014/main" id="{56CB59A5-0C04-5BA4-A87F-C14D5D027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5105400"/>
            <a:ext cx="533400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sz="2000" i="1">
                <a:latin typeface="Times New Roman" panose="02020603050405020304" pitchFamily="18" charset="0"/>
                <a:ea typeface="굴림" panose="020B0600000101010101" pitchFamily="34" charset="-127"/>
              </a:rPr>
              <a:t>p:1</a:t>
            </a:r>
          </a:p>
        </p:txBody>
      </p:sp>
      <p:cxnSp>
        <p:nvCxnSpPr>
          <p:cNvPr id="83980" name="AutoShape 23">
            <a:extLst>
              <a:ext uri="{FF2B5EF4-FFF2-40B4-BE49-F238E27FC236}">
                <a16:creationId xmlns:a16="http://schemas.microsoft.com/office/drawing/2014/main" id="{0A1375CE-CFB0-4071-DA4D-5873EB671DE6}"/>
              </a:ext>
            </a:extLst>
          </p:cNvPr>
          <p:cNvCxnSpPr>
            <a:cxnSpLocks noChangeShapeType="1"/>
            <a:stCxn id="83977" idx="2"/>
            <a:endCxn id="83978" idx="0"/>
          </p:cNvCxnSpPr>
          <p:nvPr/>
        </p:nvCxnSpPr>
        <p:spPr bwMode="auto">
          <a:xfrm>
            <a:off x="4613275" y="4459288"/>
            <a:ext cx="1588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81" name="AutoShape 24">
            <a:extLst>
              <a:ext uri="{FF2B5EF4-FFF2-40B4-BE49-F238E27FC236}">
                <a16:creationId xmlns:a16="http://schemas.microsoft.com/office/drawing/2014/main" id="{2DB2139E-5322-FB72-9FF5-AC5F9A427B40}"/>
              </a:ext>
            </a:extLst>
          </p:cNvPr>
          <p:cNvCxnSpPr>
            <a:cxnSpLocks noChangeShapeType="1"/>
            <a:stCxn id="83978" idx="2"/>
            <a:endCxn id="83979" idx="0"/>
          </p:cNvCxnSpPr>
          <p:nvPr/>
        </p:nvCxnSpPr>
        <p:spPr bwMode="auto">
          <a:xfrm>
            <a:off x="4614863" y="4941888"/>
            <a:ext cx="0" cy="169862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82" name="AutoShape 25">
            <a:extLst>
              <a:ext uri="{FF2B5EF4-FFF2-40B4-BE49-F238E27FC236}">
                <a16:creationId xmlns:a16="http://schemas.microsoft.com/office/drawing/2014/main" id="{3F0B8AAF-B925-311C-DE3C-479DA0EC21AC}"/>
              </a:ext>
            </a:extLst>
          </p:cNvPr>
          <p:cNvCxnSpPr>
            <a:cxnSpLocks noChangeShapeType="1"/>
            <a:stCxn id="83975" idx="2"/>
            <a:endCxn id="83977" idx="0"/>
          </p:cNvCxnSpPr>
          <p:nvPr/>
        </p:nvCxnSpPr>
        <p:spPr bwMode="auto">
          <a:xfrm>
            <a:off x="4113213" y="3914775"/>
            <a:ext cx="500062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83" name="AutoShape 26">
            <a:extLst>
              <a:ext uri="{FF2B5EF4-FFF2-40B4-BE49-F238E27FC236}">
                <a16:creationId xmlns:a16="http://schemas.microsoft.com/office/drawing/2014/main" id="{FF628209-CE51-84F2-6243-7BD6CBDA2876}"/>
              </a:ext>
            </a:extLst>
          </p:cNvPr>
          <p:cNvCxnSpPr>
            <a:cxnSpLocks noChangeShapeType="1"/>
            <a:stCxn id="83975" idx="2"/>
            <a:endCxn id="83976" idx="0"/>
          </p:cNvCxnSpPr>
          <p:nvPr/>
        </p:nvCxnSpPr>
        <p:spPr bwMode="auto">
          <a:xfrm flipH="1">
            <a:off x="3671888" y="3914775"/>
            <a:ext cx="441325" cy="230188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984" name="Text Box 27">
            <a:extLst>
              <a:ext uri="{FF2B5EF4-FFF2-40B4-BE49-F238E27FC236}">
                <a16:creationId xmlns:a16="http://schemas.microsoft.com/office/drawing/2014/main" id="{E52E7AB2-6484-259F-EBDE-005A86AD2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5" y="4622800"/>
            <a:ext cx="534988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sz="2000" i="1">
                <a:latin typeface="Times New Roman" panose="02020603050405020304" pitchFamily="18" charset="0"/>
                <a:ea typeface="굴림" panose="020B0600000101010101" pitchFamily="34" charset="-127"/>
              </a:rPr>
              <a:t>b:1</a:t>
            </a:r>
          </a:p>
        </p:txBody>
      </p:sp>
      <p:sp>
        <p:nvSpPr>
          <p:cNvPr id="83985" name="Text Box 28">
            <a:extLst>
              <a:ext uri="{FF2B5EF4-FFF2-40B4-BE49-F238E27FC236}">
                <a16:creationId xmlns:a16="http://schemas.microsoft.com/office/drawing/2014/main" id="{B7B7E180-E6DF-A570-D959-E46169B76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3725" y="4622800"/>
            <a:ext cx="519113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sz="2000" i="1">
                <a:solidFill>
                  <a:schemeClr val="hlink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c:3</a:t>
            </a:r>
          </a:p>
        </p:txBody>
      </p:sp>
      <p:cxnSp>
        <p:nvCxnSpPr>
          <p:cNvPr id="83986" name="AutoShape 29">
            <a:extLst>
              <a:ext uri="{FF2B5EF4-FFF2-40B4-BE49-F238E27FC236}">
                <a16:creationId xmlns:a16="http://schemas.microsoft.com/office/drawing/2014/main" id="{C7CACB92-BDC8-EA5D-0571-A791BBF4D0C9}"/>
              </a:ext>
            </a:extLst>
          </p:cNvPr>
          <p:cNvCxnSpPr>
            <a:cxnSpLocks noChangeShapeType="1"/>
            <a:stCxn id="83976" idx="2"/>
            <a:endCxn id="83985" idx="0"/>
          </p:cNvCxnSpPr>
          <p:nvPr/>
        </p:nvCxnSpPr>
        <p:spPr bwMode="auto">
          <a:xfrm flipH="1">
            <a:off x="3394075" y="4459288"/>
            <a:ext cx="277813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87" name="AutoShape 30">
            <a:extLst>
              <a:ext uri="{FF2B5EF4-FFF2-40B4-BE49-F238E27FC236}">
                <a16:creationId xmlns:a16="http://schemas.microsoft.com/office/drawing/2014/main" id="{13002F2D-50A7-A055-1592-1D5F1DC4A869}"/>
              </a:ext>
            </a:extLst>
          </p:cNvPr>
          <p:cNvCxnSpPr>
            <a:cxnSpLocks noChangeShapeType="1"/>
            <a:stCxn id="83976" idx="2"/>
            <a:endCxn id="83984" idx="0"/>
          </p:cNvCxnSpPr>
          <p:nvPr/>
        </p:nvCxnSpPr>
        <p:spPr bwMode="auto">
          <a:xfrm>
            <a:off x="3671888" y="4459288"/>
            <a:ext cx="334962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988" name="Text Box 31">
            <a:extLst>
              <a:ext uri="{FF2B5EF4-FFF2-40B4-BE49-F238E27FC236}">
                <a16:creationId xmlns:a16="http://schemas.microsoft.com/office/drawing/2014/main" id="{C5FE64BE-C117-41BF-2A99-BFB967927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105400"/>
            <a:ext cx="53498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sz="2000" i="1">
                <a:solidFill>
                  <a:schemeClr val="hlink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a:3</a:t>
            </a:r>
          </a:p>
        </p:txBody>
      </p:sp>
      <p:sp>
        <p:nvSpPr>
          <p:cNvPr id="83989" name="Text Box 32">
            <a:extLst>
              <a:ext uri="{FF2B5EF4-FFF2-40B4-BE49-F238E27FC236}">
                <a16:creationId xmlns:a16="http://schemas.microsoft.com/office/drawing/2014/main" id="{4C1B64A4-EF79-C172-F130-7FAD2B3C2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5588000"/>
            <a:ext cx="534987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sz="2000" i="1">
                <a:solidFill>
                  <a:schemeClr val="hlink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b:1</a:t>
            </a:r>
          </a:p>
        </p:txBody>
      </p:sp>
      <p:sp>
        <p:nvSpPr>
          <p:cNvPr id="83990" name="Text Box 33">
            <a:extLst>
              <a:ext uri="{FF2B5EF4-FFF2-40B4-BE49-F238E27FC236}">
                <a16:creationId xmlns:a16="http://schemas.microsoft.com/office/drawing/2014/main" id="{7D477E59-7E8D-F432-B88F-DB5038303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2575" y="5588000"/>
            <a:ext cx="592138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sz="2000" i="1">
                <a:solidFill>
                  <a:schemeClr val="hlink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m:2</a:t>
            </a:r>
          </a:p>
        </p:txBody>
      </p:sp>
      <p:sp>
        <p:nvSpPr>
          <p:cNvPr id="83991" name="Text Box 34">
            <a:extLst>
              <a:ext uri="{FF2B5EF4-FFF2-40B4-BE49-F238E27FC236}">
                <a16:creationId xmlns:a16="http://schemas.microsoft.com/office/drawing/2014/main" id="{E42C6FB3-8827-60B4-E7FE-455D7C3F9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3" y="6072188"/>
            <a:ext cx="536575" cy="409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sz="2000" i="1">
                <a:latin typeface="Times New Roman" panose="02020603050405020304" pitchFamily="18" charset="0"/>
                <a:ea typeface="굴림" panose="020B0600000101010101" pitchFamily="34" charset="-127"/>
              </a:rPr>
              <a:t>p:2</a:t>
            </a:r>
          </a:p>
        </p:txBody>
      </p:sp>
      <p:cxnSp>
        <p:nvCxnSpPr>
          <p:cNvPr id="83992" name="AutoShape 35">
            <a:extLst>
              <a:ext uri="{FF2B5EF4-FFF2-40B4-BE49-F238E27FC236}">
                <a16:creationId xmlns:a16="http://schemas.microsoft.com/office/drawing/2014/main" id="{2B53318B-997B-9D72-725B-F5BB4946DE76}"/>
              </a:ext>
            </a:extLst>
          </p:cNvPr>
          <p:cNvCxnSpPr>
            <a:cxnSpLocks noChangeShapeType="1"/>
            <a:stCxn id="83985" idx="2"/>
            <a:endCxn id="83988" idx="0"/>
          </p:cNvCxnSpPr>
          <p:nvPr/>
        </p:nvCxnSpPr>
        <p:spPr bwMode="auto">
          <a:xfrm>
            <a:off x="3394075" y="4941888"/>
            <a:ext cx="0" cy="169862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93" name="AutoShape 36">
            <a:extLst>
              <a:ext uri="{FF2B5EF4-FFF2-40B4-BE49-F238E27FC236}">
                <a16:creationId xmlns:a16="http://schemas.microsoft.com/office/drawing/2014/main" id="{69648C7C-D7BF-D045-8282-7295015D6F70}"/>
              </a:ext>
            </a:extLst>
          </p:cNvPr>
          <p:cNvCxnSpPr>
            <a:cxnSpLocks noChangeShapeType="1"/>
            <a:stCxn id="83988" idx="2"/>
            <a:endCxn id="83990" idx="0"/>
          </p:cNvCxnSpPr>
          <p:nvPr/>
        </p:nvCxnSpPr>
        <p:spPr bwMode="auto">
          <a:xfrm flipH="1">
            <a:off x="3124200" y="5426075"/>
            <a:ext cx="269875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94" name="AutoShape 37">
            <a:extLst>
              <a:ext uri="{FF2B5EF4-FFF2-40B4-BE49-F238E27FC236}">
                <a16:creationId xmlns:a16="http://schemas.microsoft.com/office/drawing/2014/main" id="{95B2F820-A572-5007-5549-508C9B7CECC2}"/>
              </a:ext>
            </a:extLst>
          </p:cNvPr>
          <p:cNvCxnSpPr>
            <a:cxnSpLocks noChangeShapeType="1"/>
            <a:stCxn id="83988" idx="2"/>
            <a:endCxn id="83989" idx="0"/>
          </p:cNvCxnSpPr>
          <p:nvPr/>
        </p:nvCxnSpPr>
        <p:spPr bwMode="auto">
          <a:xfrm>
            <a:off x="3394075" y="5426075"/>
            <a:ext cx="382588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95" name="AutoShape 38">
            <a:extLst>
              <a:ext uri="{FF2B5EF4-FFF2-40B4-BE49-F238E27FC236}">
                <a16:creationId xmlns:a16="http://schemas.microsoft.com/office/drawing/2014/main" id="{DFF2A54C-87E1-AEED-30C6-5D13D3132569}"/>
              </a:ext>
            </a:extLst>
          </p:cNvPr>
          <p:cNvCxnSpPr>
            <a:cxnSpLocks noChangeShapeType="1"/>
            <a:stCxn id="83990" idx="2"/>
            <a:endCxn id="83991" idx="0"/>
          </p:cNvCxnSpPr>
          <p:nvPr/>
        </p:nvCxnSpPr>
        <p:spPr bwMode="auto">
          <a:xfrm>
            <a:off x="3124200" y="5908675"/>
            <a:ext cx="0" cy="16827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996" name="Text Box 39">
            <a:extLst>
              <a:ext uri="{FF2B5EF4-FFF2-40B4-BE49-F238E27FC236}">
                <a16:creationId xmlns:a16="http://schemas.microsoft.com/office/drawing/2014/main" id="{0C144E66-3BEC-C121-BAAB-5E094BD7A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8213" y="6072188"/>
            <a:ext cx="593725" cy="409575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sz="2000" i="1">
                <a:solidFill>
                  <a:schemeClr val="hlink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m:1</a:t>
            </a:r>
          </a:p>
        </p:txBody>
      </p:sp>
      <p:cxnSp>
        <p:nvCxnSpPr>
          <p:cNvPr id="83997" name="AutoShape 40">
            <a:extLst>
              <a:ext uri="{FF2B5EF4-FFF2-40B4-BE49-F238E27FC236}">
                <a16:creationId xmlns:a16="http://schemas.microsoft.com/office/drawing/2014/main" id="{1129EF9A-D465-B97C-6219-F161BD51EF30}"/>
              </a:ext>
            </a:extLst>
          </p:cNvPr>
          <p:cNvCxnSpPr>
            <a:cxnSpLocks noChangeShapeType="1"/>
            <a:stCxn id="83989" idx="2"/>
            <a:endCxn id="83996" idx="0"/>
          </p:cNvCxnSpPr>
          <p:nvPr/>
        </p:nvCxnSpPr>
        <p:spPr bwMode="auto">
          <a:xfrm>
            <a:off x="3776663" y="5908675"/>
            <a:ext cx="0" cy="168275"/>
          </a:xfrm>
          <a:prstGeom prst="straightConnector1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998" name="Text Box 41">
            <a:extLst>
              <a:ext uri="{FF2B5EF4-FFF2-40B4-BE49-F238E27FC236}">
                <a16:creationId xmlns:a16="http://schemas.microsoft.com/office/drawing/2014/main" id="{200716B4-F948-A1CA-05C3-25AE6D297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3824288"/>
            <a:ext cx="2543175" cy="23018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2000" b="1">
                <a:latin typeface="Times New Roman" panose="02020603050405020304" pitchFamily="18" charset="0"/>
                <a:ea typeface="굴림" panose="020B0600000101010101" pitchFamily="34" charset="-127"/>
              </a:rPr>
              <a:t>Header Table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2000" b="1" i="1" u="sng">
                <a:latin typeface="Times New Roman" panose="02020603050405020304" pitchFamily="18" charset="0"/>
                <a:ea typeface="굴림" panose="020B0600000101010101" pitchFamily="34" charset="-127"/>
              </a:rPr>
              <a:t>Item  frequency  head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2000" i="1">
                <a:latin typeface="Times New Roman" panose="02020603050405020304" pitchFamily="18" charset="0"/>
                <a:ea typeface="굴림" panose="020B0600000101010101" pitchFamily="34" charset="-127"/>
              </a:rPr>
              <a:t> f	4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2000" i="1">
                <a:latin typeface="Times New Roman" panose="02020603050405020304" pitchFamily="18" charset="0"/>
                <a:ea typeface="굴림" panose="020B0600000101010101" pitchFamily="34" charset="-127"/>
              </a:rPr>
              <a:t>c	4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2000" i="1">
                <a:latin typeface="Times New Roman" panose="02020603050405020304" pitchFamily="18" charset="0"/>
                <a:ea typeface="굴림" panose="020B0600000101010101" pitchFamily="34" charset="-127"/>
              </a:rPr>
              <a:t>a	3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2000" i="1">
                <a:latin typeface="Times New Roman" panose="02020603050405020304" pitchFamily="18" charset="0"/>
                <a:ea typeface="굴림" panose="020B0600000101010101" pitchFamily="34" charset="-127"/>
              </a:rPr>
              <a:t>b	3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2000" i="1">
                <a:latin typeface="Times New Roman" panose="02020603050405020304" pitchFamily="18" charset="0"/>
                <a:ea typeface="굴림" panose="020B0600000101010101" pitchFamily="34" charset="-127"/>
              </a:rPr>
              <a:t>m	3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2000" i="1">
                <a:latin typeface="Times New Roman" panose="02020603050405020304" pitchFamily="18" charset="0"/>
                <a:ea typeface="굴림" panose="020B0600000101010101" pitchFamily="34" charset="-127"/>
              </a:rPr>
              <a:t>p	3</a:t>
            </a:r>
            <a:endParaRPr lang="en-US" altLang="ko-KR" sz="2000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83999" name="Freeform 42">
            <a:extLst>
              <a:ext uri="{FF2B5EF4-FFF2-40B4-BE49-F238E27FC236}">
                <a16:creationId xmlns:a16="http://schemas.microsoft.com/office/drawing/2014/main" id="{D41D9A6C-34EB-C6F1-F003-E7149355BBD7}"/>
              </a:ext>
            </a:extLst>
          </p:cNvPr>
          <p:cNvSpPr>
            <a:spLocks/>
          </p:cNvSpPr>
          <p:nvPr/>
        </p:nvSpPr>
        <p:spPr bwMode="auto">
          <a:xfrm>
            <a:off x="2424113" y="4311650"/>
            <a:ext cx="1074737" cy="301625"/>
          </a:xfrm>
          <a:custGeom>
            <a:avLst/>
            <a:gdLst>
              <a:gd name="T0" fmla="*/ 0 w 672"/>
              <a:gd name="T1" fmla="*/ 2147483646 h 240"/>
              <a:gd name="T2" fmla="*/ 2147483646 w 672"/>
              <a:gd name="T3" fmla="*/ 2147483646 h 240"/>
              <a:gd name="T4" fmla="*/ 2147483646 w 672"/>
              <a:gd name="T5" fmla="*/ 2147483646 h 240"/>
              <a:gd name="T6" fmla="*/ 2147483646 w 672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240"/>
              <a:gd name="T14" fmla="*/ 672 w 67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240">
                <a:moveTo>
                  <a:pt x="0" y="240"/>
                </a:moveTo>
                <a:cubicBezTo>
                  <a:pt x="108" y="232"/>
                  <a:pt x="216" y="224"/>
                  <a:pt x="288" y="192"/>
                </a:cubicBezTo>
                <a:cubicBezTo>
                  <a:pt x="360" y="160"/>
                  <a:pt x="368" y="80"/>
                  <a:pt x="432" y="48"/>
                </a:cubicBezTo>
                <a:cubicBezTo>
                  <a:pt x="496" y="16"/>
                  <a:pt x="584" y="8"/>
                  <a:pt x="67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00" name="Freeform 43">
            <a:extLst>
              <a:ext uri="{FF2B5EF4-FFF2-40B4-BE49-F238E27FC236}">
                <a16:creationId xmlns:a16="http://schemas.microsoft.com/office/drawing/2014/main" id="{1614CEA5-9DBD-4F3A-2725-545E2220040B}"/>
              </a:ext>
            </a:extLst>
          </p:cNvPr>
          <p:cNvSpPr>
            <a:spLocks/>
          </p:cNvSpPr>
          <p:nvPr/>
        </p:nvSpPr>
        <p:spPr bwMode="auto">
          <a:xfrm>
            <a:off x="2424113" y="4795838"/>
            <a:ext cx="690562" cy="0"/>
          </a:xfrm>
          <a:custGeom>
            <a:avLst/>
            <a:gdLst>
              <a:gd name="T0" fmla="*/ 0 w 432"/>
              <a:gd name="T1" fmla="*/ 0 h 1"/>
              <a:gd name="T2" fmla="*/ 2147483646 w 432"/>
              <a:gd name="T3" fmla="*/ 0 h 1"/>
              <a:gd name="T4" fmla="*/ 0 60000 65536"/>
              <a:gd name="T5" fmla="*/ 0 60000 65536"/>
              <a:gd name="T6" fmla="*/ 0 w 432"/>
              <a:gd name="T7" fmla="*/ 0 h 1"/>
              <a:gd name="T8" fmla="*/ 432 w 432"/>
              <a:gd name="T9" fmla="*/ 0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2" h="1">
                <a:moveTo>
                  <a:pt x="0" y="0"/>
                </a:moveTo>
                <a:cubicBezTo>
                  <a:pt x="0" y="0"/>
                  <a:pt x="216" y="0"/>
                  <a:pt x="43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01" name="Freeform 44">
            <a:extLst>
              <a:ext uri="{FF2B5EF4-FFF2-40B4-BE49-F238E27FC236}">
                <a16:creationId xmlns:a16="http://schemas.microsoft.com/office/drawing/2014/main" id="{081230F2-83CA-CD97-80BA-AE4BF5129C1A}"/>
              </a:ext>
            </a:extLst>
          </p:cNvPr>
          <p:cNvSpPr>
            <a:spLocks/>
          </p:cNvSpPr>
          <p:nvPr/>
        </p:nvSpPr>
        <p:spPr bwMode="auto">
          <a:xfrm>
            <a:off x="3575050" y="4311650"/>
            <a:ext cx="768350" cy="484188"/>
          </a:xfrm>
          <a:custGeom>
            <a:avLst/>
            <a:gdLst>
              <a:gd name="T0" fmla="*/ 0 w 480"/>
              <a:gd name="T1" fmla="*/ 2147483646 h 384"/>
              <a:gd name="T2" fmla="*/ 2147483646 w 480"/>
              <a:gd name="T3" fmla="*/ 2147483646 h 384"/>
              <a:gd name="T4" fmla="*/ 2147483646 w 480"/>
              <a:gd name="T5" fmla="*/ 2147483646 h 384"/>
              <a:gd name="T6" fmla="*/ 2147483646 w 480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384"/>
              <a:gd name="T14" fmla="*/ 480 w 48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384">
                <a:moveTo>
                  <a:pt x="0" y="384"/>
                </a:moveTo>
                <a:cubicBezTo>
                  <a:pt x="4" y="384"/>
                  <a:pt x="8" y="384"/>
                  <a:pt x="48" y="336"/>
                </a:cubicBezTo>
                <a:cubicBezTo>
                  <a:pt x="88" y="288"/>
                  <a:pt x="168" y="152"/>
                  <a:pt x="240" y="96"/>
                </a:cubicBezTo>
                <a:cubicBezTo>
                  <a:pt x="312" y="40"/>
                  <a:pt x="396" y="20"/>
                  <a:pt x="480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02" name="Freeform 45">
            <a:extLst>
              <a:ext uri="{FF2B5EF4-FFF2-40B4-BE49-F238E27FC236}">
                <a16:creationId xmlns:a16="http://schemas.microsoft.com/office/drawing/2014/main" id="{FD8A2E4F-49B4-691C-BAE5-6E5FC43E9380}"/>
              </a:ext>
            </a:extLst>
          </p:cNvPr>
          <p:cNvSpPr>
            <a:spLocks/>
          </p:cNvSpPr>
          <p:nvPr/>
        </p:nvSpPr>
        <p:spPr bwMode="auto">
          <a:xfrm>
            <a:off x="2424113" y="5051425"/>
            <a:ext cx="690562" cy="241300"/>
          </a:xfrm>
          <a:custGeom>
            <a:avLst/>
            <a:gdLst>
              <a:gd name="T0" fmla="*/ 0 w 432"/>
              <a:gd name="T1" fmla="*/ 0 h 192"/>
              <a:gd name="T2" fmla="*/ 2147483646 w 432"/>
              <a:gd name="T3" fmla="*/ 2147483646 h 192"/>
              <a:gd name="T4" fmla="*/ 2147483646 w 432"/>
              <a:gd name="T5" fmla="*/ 2147483646 h 192"/>
              <a:gd name="T6" fmla="*/ 2147483646 w 432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03" name="Freeform 46">
            <a:extLst>
              <a:ext uri="{FF2B5EF4-FFF2-40B4-BE49-F238E27FC236}">
                <a16:creationId xmlns:a16="http://schemas.microsoft.com/office/drawing/2014/main" id="{7C4E1C64-6803-7CC9-6025-72B771CB575D}"/>
              </a:ext>
            </a:extLst>
          </p:cNvPr>
          <p:cNvSpPr>
            <a:spLocks/>
          </p:cNvSpPr>
          <p:nvPr/>
        </p:nvSpPr>
        <p:spPr bwMode="auto">
          <a:xfrm>
            <a:off x="2439988" y="5232400"/>
            <a:ext cx="1149350" cy="482600"/>
          </a:xfrm>
          <a:custGeom>
            <a:avLst/>
            <a:gdLst>
              <a:gd name="T0" fmla="*/ 0 w 720"/>
              <a:gd name="T1" fmla="*/ 0 h 384"/>
              <a:gd name="T2" fmla="*/ 2147483646 w 720"/>
              <a:gd name="T3" fmla="*/ 2147483646 h 384"/>
              <a:gd name="T4" fmla="*/ 2147483646 w 720"/>
              <a:gd name="T5" fmla="*/ 2147483646 h 384"/>
              <a:gd name="T6" fmla="*/ 2147483646 w 720"/>
              <a:gd name="T7" fmla="*/ 2147483646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384"/>
              <a:gd name="T14" fmla="*/ 720 w 720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384">
                <a:moveTo>
                  <a:pt x="0" y="0"/>
                </a:moveTo>
                <a:cubicBezTo>
                  <a:pt x="76" y="0"/>
                  <a:pt x="152" y="0"/>
                  <a:pt x="240" y="48"/>
                </a:cubicBezTo>
                <a:cubicBezTo>
                  <a:pt x="328" y="96"/>
                  <a:pt x="448" y="232"/>
                  <a:pt x="528" y="288"/>
                </a:cubicBezTo>
                <a:cubicBezTo>
                  <a:pt x="608" y="344"/>
                  <a:pt x="664" y="364"/>
                  <a:pt x="720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04" name="Freeform 47">
            <a:extLst>
              <a:ext uri="{FF2B5EF4-FFF2-40B4-BE49-F238E27FC236}">
                <a16:creationId xmlns:a16="http://schemas.microsoft.com/office/drawing/2014/main" id="{01FE0EA6-EA17-346B-CFB4-C693CCB8C1AC}"/>
              </a:ext>
            </a:extLst>
          </p:cNvPr>
          <p:cNvSpPr>
            <a:spLocks/>
          </p:cNvSpPr>
          <p:nvPr/>
        </p:nvSpPr>
        <p:spPr bwMode="auto">
          <a:xfrm>
            <a:off x="3973513" y="4929188"/>
            <a:ext cx="90487" cy="846137"/>
          </a:xfrm>
          <a:custGeom>
            <a:avLst/>
            <a:gdLst>
              <a:gd name="T0" fmla="*/ 0 w 56"/>
              <a:gd name="T1" fmla="*/ 2147483646 h 672"/>
              <a:gd name="T2" fmla="*/ 2147483646 w 56"/>
              <a:gd name="T3" fmla="*/ 2147483646 h 672"/>
              <a:gd name="T4" fmla="*/ 2147483646 w 56"/>
              <a:gd name="T5" fmla="*/ 0 h 672"/>
              <a:gd name="T6" fmla="*/ 0 60000 65536"/>
              <a:gd name="T7" fmla="*/ 0 60000 65536"/>
              <a:gd name="T8" fmla="*/ 0 60000 65536"/>
              <a:gd name="T9" fmla="*/ 0 w 56"/>
              <a:gd name="T10" fmla="*/ 0 h 672"/>
              <a:gd name="T11" fmla="*/ 56 w 56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672">
                <a:moveTo>
                  <a:pt x="0" y="672"/>
                </a:moveTo>
                <a:cubicBezTo>
                  <a:pt x="20" y="608"/>
                  <a:pt x="40" y="544"/>
                  <a:pt x="48" y="432"/>
                </a:cubicBezTo>
                <a:cubicBezTo>
                  <a:pt x="56" y="320"/>
                  <a:pt x="52" y="160"/>
                  <a:pt x="4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05" name="Line 48">
            <a:extLst>
              <a:ext uri="{FF2B5EF4-FFF2-40B4-BE49-F238E27FC236}">
                <a16:creationId xmlns:a16="http://schemas.microsoft.com/office/drawing/2014/main" id="{ECE2C7A0-F6D4-3E80-841F-CAB1B0EADD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9413" y="4795838"/>
            <a:ext cx="153987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06" name="Freeform 49">
            <a:extLst>
              <a:ext uri="{FF2B5EF4-FFF2-40B4-BE49-F238E27FC236}">
                <a16:creationId xmlns:a16="http://schemas.microsoft.com/office/drawing/2014/main" id="{D67F17EE-6546-B4B4-1F09-A0E8BC595B13}"/>
              </a:ext>
            </a:extLst>
          </p:cNvPr>
          <p:cNvSpPr>
            <a:spLocks/>
          </p:cNvSpPr>
          <p:nvPr/>
        </p:nvSpPr>
        <p:spPr bwMode="auto">
          <a:xfrm>
            <a:off x="2439988" y="5473700"/>
            <a:ext cx="460375" cy="301625"/>
          </a:xfrm>
          <a:custGeom>
            <a:avLst/>
            <a:gdLst>
              <a:gd name="T0" fmla="*/ 0 w 288"/>
              <a:gd name="T1" fmla="*/ 0 h 240"/>
              <a:gd name="T2" fmla="*/ 2147483646 w 288"/>
              <a:gd name="T3" fmla="*/ 2147483646 h 240"/>
              <a:gd name="T4" fmla="*/ 2147483646 w 288"/>
              <a:gd name="T5" fmla="*/ 2147483646 h 240"/>
              <a:gd name="T6" fmla="*/ 2147483646 w 288"/>
              <a:gd name="T7" fmla="*/ 2147483646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240"/>
              <a:gd name="T14" fmla="*/ 288 w 288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240">
                <a:moveTo>
                  <a:pt x="0" y="0"/>
                </a:moveTo>
                <a:cubicBezTo>
                  <a:pt x="56" y="8"/>
                  <a:pt x="112" y="16"/>
                  <a:pt x="144" y="48"/>
                </a:cubicBezTo>
                <a:cubicBezTo>
                  <a:pt x="176" y="80"/>
                  <a:pt x="168" y="160"/>
                  <a:pt x="192" y="192"/>
                </a:cubicBezTo>
                <a:cubicBezTo>
                  <a:pt x="216" y="224"/>
                  <a:pt x="252" y="232"/>
                  <a:pt x="288" y="24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07" name="Freeform 50">
            <a:extLst>
              <a:ext uri="{FF2B5EF4-FFF2-40B4-BE49-F238E27FC236}">
                <a16:creationId xmlns:a16="http://schemas.microsoft.com/office/drawing/2014/main" id="{EE96E3F1-94EA-053F-85A9-A70E6D0EDD93}"/>
              </a:ext>
            </a:extLst>
          </p:cNvPr>
          <p:cNvSpPr>
            <a:spLocks/>
          </p:cNvSpPr>
          <p:nvPr/>
        </p:nvSpPr>
        <p:spPr bwMode="auto">
          <a:xfrm>
            <a:off x="3359150" y="5775325"/>
            <a:ext cx="153988" cy="484188"/>
          </a:xfrm>
          <a:custGeom>
            <a:avLst/>
            <a:gdLst>
              <a:gd name="T0" fmla="*/ 0 w 96"/>
              <a:gd name="T1" fmla="*/ 0 h 384"/>
              <a:gd name="T2" fmla="*/ 2147483646 w 96"/>
              <a:gd name="T3" fmla="*/ 2147483646 h 384"/>
              <a:gd name="T4" fmla="*/ 2147483646 w 96"/>
              <a:gd name="T5" fmla="*/ 2147483646 h 384"/>
              <a:gd name="T6" fmla="*/ 2147483646 w 96"/>
              <a:gd name="T7" fmla="*/ 2147483646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384"/>
              <a:gd name="T14" fmla="*/ 96 w 96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384">
                <a:moveTo>
                  <a:pt x="0" y="0"/>
                </a:moveTo>
                <a:cubicBezTo>
                  <a:pt x="20" y="24"/>
                  <a:pt x="40" y="48"/>
                  <a:pt x="48" y="96"/>
                </a:cubicBezTo>
                <a:cubicBezTo>
                  <a:pt x="56" y="144"/>
                  <a:pt x="40" y="240"/>
                  <a:pt x="48" y="288"/>
                </a:cubicBezTo>
                <a:cubicBezTo>
                  <a:pt x="56" y="336"/>
                  <a:pt x="76" y="360"/>
                  <a:pt x="96" y="384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08" name="Freeform 51">
            <a:extLst>
              <a:ext uri="{FF2B5EF4-FFF2-40B4-BE49-F238E27FC236}">
                <a16:creationId xmlns:a16="http://schemas.microsoft.com/office/drawing/2014/main" id="{83B7F910-5057-DA93-140E-6B8345BCE35D}"/>
              </a:ext>
            </a:extLst>
          </p:cNvPr>
          <p:cNvSpPr>
            <a:spLocks/>
          </p:cNvSpPr>
          <p:nvPr/>
        </p:nvSpPr>
        <p:spPr bwMode="auto">
          <a:xfrm>
            <a:off x="2439988" y="5715000"/>
            <a:ext cx="460375" cy="544513"/>
          </a:xfrm>
          <a:custGeom>
            <a:avLst/>
            <a:gdLst>
              <a:gd name="T0" fmla="*/ 0 w 288"/>
              <a:gd name="T1" fmla="*/ 0 h 432"/>
              <a:gd name="T2" fmla="*/ 2147483646 w 288"/>
              <a:gd name="T3" fmla="*/ 2147483646 h 432"/>
              <a:gd name="T4" fmla="*/ 2147483646 w 288"/>
              <a:gd name="T5" fmla="*/ 2147483646 h 432"/>
              <a:gd name="T6" fmla="*/ 2147483646 w 288"/>
              <a:gd name="T7" fmla="*/ 2147483646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432"/>
              <a:gd name="T14" fmla="*/ 288 w 288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432">
                <a:moveTo>
                  <a:pt x="0" y="0"/>
                </a:moveTo>
                <a:cubicBezTo>
                  <a:pt x="36" y="44"/>
                  <a:pt x="72" y="88"/>
                  <a:pt x="96" y="144"/>
                </a:cubicBezTo>
                <a:cubicBezTo>
                  <a:pt x="120" y="200"/>
                  <a:pt x="112" y="288"/>
                  <a:pt x="144" y="336"/>
                </a:cubicBezTo>
                <a:cubicBezTo>
                  <a:pt x="176" y="384"/>
                  <a:pt x="232" y="408"/>
                  <a:pt x="288" y="43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09" name="Freeform 52">
            <a:extLst>
              <a:ext uri="{FF2B5EF4-FFF2-40B4-BE49-F238E27FC236}">
                <a16:creationId xmlns:a16="http://schemas.microsoft.com/office/drawing/2014/main" id="{C6903520-69FF-937F-69F8-D7D658A3C35C}"/>
              </a:ext>
            </a:extLst>
          </p:cNvPr>
          <p:cNvSpPr>
            <a:spLocks/>
          </p:cNvSpPr>
          <p:nvPr/>
        </p:nvSpPr>
        <p:spPr bwMode="auto">
          <a:xfrm>
            <a:off x="3359150" y="5413375"/>
            <a:ext cx="1228725" cy="846138"/>
          </a:xfrm>
          <a:custGeom>
            <a:avLst/>
            <a:gdLst>
              <a:gd name="T0" fmla="*/ 0 w 768"/>
              <a:gd name="T1" fmla="*/ 2147483646 h 672"/>
              <a:gd name="T2" fmla="*/ 2147483646 w 768"/>
              <a:gd name="T3" fmla="*/ 2147483646 h 672"/>
              <a:gd name="T4" fmla="*/ 2147483646 w 768"/>
              <a:gd name="T5" fmla="*/ 2147483646 h 672"/>
              <a:gd name="T6" fmla="*/ 2147483646 w 768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672"/>
              <a:gd name="T14" fmla="*/ 768 w 768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672">
                <a:moveTo>
                  <a:pt x="0" y="672"/>
                </a:moveTo>
                <a:cubicBezTo>
                  <a:pt x="4" y="624"/>
                  <a:pt x="8" y="576"/>
                  <a:pt x="96" y="528"/>
                </a:cubicBezTo>
                <a:cubicBezTo>
                  <a:pt x="184" y="480"/>
                  <a:pt x="416" y="472"/>
                  <a:pt x="528" y="384"/>
                </a:cubicBezTo>
                <a:cubicBezTo>
                  <a:pt x="640" y="296"/>
                  <a:pt x="704" y="148"/>
                  <a:pt x="768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4010" name="Picture 7" descr="JCU_Logo_RGB.jpg">
            <a:extLst>
              <a:ext uri="{FF2B5EF4-FFF2-40B4-BE49-F238E27FC236}">
                <a16:creationId xmlns:a16="http://schemas.microsoft.com/office/drawing/2014/main" id="{C85C9888-06CA-AFFD-CD85-60FFA6634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011" name="Line 9">
            <a:extLst>
              <a:ext uri="{FF2B5EF4-FFF2-40B4-BE49-F238E27FC236}">
                <a16:creationId xmlns:a16="http://schemas.microsoft.com/office/drawing/2014/main" id="{642DDBC2-2DB1-5E4D-0520-76349A277E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12" name="Line 10">
            <a:extLst>
              <a:ext uri="{FF2B5EF4-FFF2-40B4-BE49-F238E27FC236}">
                <a16:creationId xmlns:a16="http://schemas.microsoft.com/office/drawing/2014/main" id="{EF5E5573-4EA8-2902-585B-B2BF9E4A38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13" name="Rectangle 2">
            <a:extLst>
              <a:ext uri="{FF2B5EF4-FFF2-40B4-BE49-F238E27FC236}">
                <a16:creationId xmlns:a16="http://schemas.microsoft.com/office/drawing/2014/main" id="{6A5D4CE5-C0A4-2142-91C3-54185A28C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091363" cy="815975"/>
          </a:xfrm>
        </p:spPr>
        <p:txBody>
          <a:bodyPr lIns="0" tIns="0" rIns="0" bIns="0"/>
          <a:lstStyle/>
          <a:p>
            <a:pPr algn="l"/>
            <a:r>
              <a:rPr lang="en-AU" altLang="en-US" sz="40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FP-Tree</a:t>
            </a:r>
            <a:endParaRPr lang="en-US" altLang="en-US" sz="40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17" name="Object 2">
            <a:extLst>
              <a:ext uri="{FF2B5EF4-FFF2-40B4-BE49-F238E27FC236}">
                <a16:creationId xmlns:a16="http://schemas.microsoft.com/office/drawing/2014/main" id="{AF6284D2-2265-E5AC-E887-69D6E1EC87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1981200"/>
          <a:ext cx="7620000" cy="455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597400" imgH="3289300" progId="Excel.Chart.8">
                  <p:embed/>
                </p:oleObj>
              </mc:Choice>
              <mc:Fallback>
                <p:oleObj name="Chart" r:id="rId3" imgW="4597400" imgH="3289300" progId="Excel.Chart.8">
                  <p:embed/>
                  <p:pic>
                    <p:nvPicPr>
                      <p:cNvPr id="86017" name="Object 2">
                        <a:extLst>
                          <a:ext uri="{FF2B5EF4-FFF2-40B4-BE49-F238E27FC236}">
                            <a16:creationId xmlns:a16="http://schemas.microsoft.com/office/drawing/2014/main" id="{AF6284D2-2265-E5AC-E887-69D6E1EC87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981200"/>
                        <a:ext cx="7620000" cy="455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18" name="Text Box 4">
            <a:extLst>
              <a:ext uri="{FF2B5EF4-FFF2-40B4-BE49-F238E27FC236}">
                <a16:creationId xmlns:a16="http://schemas.microsoft.com/office/drawing/2014/main" id="{A135B924-9FFA-1095-A3AB-E934D0C2B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981200"/>
            <a:ext cx="289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Data set T25I20D10K</a:t>
            </a:r>
          </a:p>
        </p:txBody>
      </p:sp>
      <p:pic>
        <p:nvPicPr>
          <p:cNvPr id="86019" name="Picture 7" descr="JCU_Logo_RGB.jpg">
            <a:extLst>
              <a:ext uri="{FF2B5EF4-FFF2-40B4-BE49-F238E27FC236}">
                <a16:creationId xmlns:a16="http://schemas.microsoft.com/office/drawing/2014/main" id="{83D2AB3F-3D6E-48A1-A353-D57D5E67AA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0" name="Line 9">
            <a:extLst>
              <a:ext uri="{FF2B5EF4-FFF2-40B4-BE49-F238E27FC236}">
                <a16:creationId xmlns:a16="http://schemas.microsoft.com/office/drawing/2014/main" id="{A4F12A09-03A8-F433-3786-C03BA6721A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1" name="Line 10">
            <a:extLst>
              <a:ext uri="{FF2B5EF4-FFF2-40B4-BE49-F238E27FC236}">
                <a16:creationId xmlns:a16="http://schemas.microsoft.com/office/drawing/2014/main" id="{DE2A2D30-89D8-F69C-8C2E-F9019457FB1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2" name="Rectangle 2">
            <a:extLst>
              <a:ext uri="{FF2B5EF4-FFF2-40B4-BE49-F238E27FC236}">
                <a16:creationId xmlns:a16="http://schemas.microsoft.com/office/drawing/2014/main" id="{55272E02-2C83-F6CC-18D6-236BE63C9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091363" cy="815975"/>
          </a:xfrm>
        </p:spPr>
        <p:txBody>
          <a:bodyPr lIns="0" tIns="0" rIns="0" bIns="0"/>
          <a:lstStyle/>
          <a:p>
            <a:pPr algn="l"/>
            <a:r>
              <a:rPr lang="en-AU" altLang="en-US" sz="40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Aprior vs. FP-tree</a:t>
            </a:r>
            <a:endParaRPr lang="en-US" altLang="en-US" sz="40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>
            <a:extLst>
              <a:ext uri="{FF2B5EF4-FFF2-40B4-BE49-F238E27FC236}">
                <a16:creationId xmlns:a16="http://schemas.microsoft.com/office/drawing/2014/main" id="{242D2114-F74F-6A72-DB90-49BADE0B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75" y="381000"/>
            <a:ext cx="7383463" cy="815975"/>
          </a:xfrm>
        </p:spPr>
        <p:txBody>
          <a:bodyPr lIns="0" tIns="0" rIns="0" bIns="0"/>
          <a:lstStyle/>
          <a:p>
            <a:pPr algn="l"/>
            <a:r>
              <a:rPr lang="en-AU" altLang="en-US" sz="40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Problem: Too Many Patterns</a:t>
            </a:r>
            <a:endParaRPr lang="en-US" altLang="en-US" sz="40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88066" name="Picture 7" descr="JCU_Logo_RGB.jpg">
            <a:extLst>
              <a:ext uri="{FF2B5EF4-FFF2-40B4-BE49-F238E27FC236}">
                <a16:creationId xmlns:a16="http://schemas.microsoft.com/office/drawing/2014/main" id="{E68FB93F-F7F1-37DE-0AF8-CF09C20E7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Line 9">
            <a:extLst>
              <a:ext uri="{FF2B5EF4-FFF2-40B4-BE49-F238E27FC236}">
                <a16:creationId xmlns:a16="http://schemas.microsoft.com/office/drawing/2014/main" id="{F05E73AC-6186-E1EB-185E-8DEF37F7C0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068" name="Line 10">
            <a:extLst>
              <a:ext uri="{FF2B5EF4-FFF2-40B4-BE49-F238E27FC236}">
                <a16:creationId xmlns:a16="http://schemas.microsoft.com/office/drawing/2014/main" id="{3A7EF159-B6E6-36AA-57FF-B0B330F127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069" name="Slide Number Placeholder 7">
            <a:extLst>
              <a:ext uri="{FF2B5EF4-FFF2-40B4-BE49-F238E27FC236}">
                <a16:creationId xmlns:a16="http://schemas.microsoft.com/office/drawing/2014/main" id="{A0C78F2B-75D8-A139-8353-2EC2E2E1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F26FC4-9AB5-4944-9EDE-BD6B5AC0AFE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88070" name="Rectangle 3">
            <a:extLst>
              <a:ext uri="{FF2B5EF4-FFF2-40B4-BE49-F238E27FC236}">
                <a16:creationId xmlns:a16="http://schemas.microsoft.com/office/drawing/2014/main" id="{A17E05DB-96EE-51E8-FE4B-40CCD2D3F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314450"/>
            <a:ext cx="8610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600">
                <a:ea typeface="굴림" panose="020B0600000101010101" pitchFamily="34" charset="-127"/>
              </a:rPr>
              <a:t>Any sub-patterns of a frequent pattern is also a frequent pattern.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ko-KR" sz="2000">
                <a:ea typeface="굴림" panose="020B0600000101010101" pitchFamily="34" charset="-127"/>
              </a:rPr>
              <a:t>-     If {A, B, C} is a frequent set, {A}, {B}, {C}, {A,B}, {A,C},{B,C}, {A,B,C} are also frequent sets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600">
                <a:ea typeface="굴림" panose="020B0600000101010101" pitchFamily="34" charset="-127"/>
              </a:rPr>
              <a:t>A long pattern contains a combinatorially large number of sub-patterns.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600">
                <a:ea typeface="굴림" panose="020B0600000101010101" pitchFamily="34" charset="-127"/>
              </a:rPr>
              <a:t>For example, the set {a</a:t>
            </a:r>
            <a:r>
              <a:rPr lang="en-US" altLang="ko-KR" sz="2600" baseline="-25000">
                <a:ea typeface="굴림" panose="020B0600000101010101" pitchFamily="34" charset="-127"/>
              </a:rPr>
              <a:t>1</a:t>
            </a:r>
            <a:r>
              <a:rPr lang="en-US" altLang="ko-KR" sz="2600">
                <a:ea typeface="굴림" panose="020B0600000101010101" pitchFamily="34" charset="-127"/>
              </a:rPr>
              <a:t>, …, a</a:t>
            </a:r>
            <a:r>
              <a:rPr lang="en-US" altLang="ko-KR" sz="2600" baseline="-25000">
                <a:ea typeface="굴림" panose="020B0600000101010101" pitchFamily="34" charset="-127"/>
              </a:rPr>
              <a:t>100</a:t>
            </a:r>
            <a:r>
              <a:rPr lang="en-US" altLang="ko-KR" sz="2600">
                <a:ea typeface="굴림" panose="020B0600000101010101" pitchFamily="34" charset="-127"/>
              </a:rPr>
              <a:t>} </a:t>
            </a:r>
            <a:r>
              <a:rPr lang="en-US" altLang="ko-KR" sz="2600">
                <a:ea typeface="굴림" panose="020B0600000101010101" pitchFamily="34" charset="-127"/>
                <a:sym typeface="Wingdings" pitchFamily="2" charset="2"/>
              </a:rPr>
              <a:t>contains this many possible sub-sets: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endParaRPr lang="en-US" altLang="ko-KR" sz="2600">
              <a:ea typeface="굴림" panose="020B0600000101010101" pitchFamily="34" charset="-127"/>
              <a:sym typeface="Wingdings" pitchFamily="2" charset="2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endParaRPr lang="en-US" altLang="ko-KR" sz="2600">
              <a:ea typeface="굴림" panose="020B0600000101010101" pitchFamily="34" charset="-127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600">
                <a:ea typeface="굴림" panose="020B0600000101010101" pitchFamily="34" charset="-127"/>
              </a:rPr>
              <a:t>Solution: </a:t>
            </a:r>
            <a:r>
              <a:rPr lang="en-US" altLang="ko-KR" sz="2600" i="1">
                <a:ea typeface="굴림" panose="020B0600000101010101" pitchFamily="34" charset="-127"/>
              </a:rPr>
              <a:t>Mine only </a:t>
            </a:r>
            <a:r>
              <a:rPr lang="en-US" altLang="ko-KR" sz="2600" i="1">
                <a:solidFill>
                  <a:schemeClr val="hlink"/>
                </a:solidFill>
                <a:ea typeface="굴림" panose="020B0600000101010101" pitchFamily="34" charset="-127"/>
              </a:rPr>
              <a:t>closed patterns</a:t>
            </a:r>
            <a:r>
              <a:rPr lang="en-US" altLang="ko-KR" sz="2600" i="1">
                <a:ea typeface="굴림" panose="020B0600000101010101" pitchFamily="34" charset="-127"/>
              </a:rPr>
              <a:t> or </a:t>
            </a:r>
            <a:r>
              <a:rPr lang="en-US" altLang="ko-KR" sz="2600" i="1">
                <a:solidFill>
                  <a:srgbClr val="FF0000"/>
                </a:solidFill>
                <a:ea typeface="굴림" panose="020B0600000101010101" pitchFamily="34" charset="-127"/>
              </a:rPr>
              <a:t>max patterns </a:t>
            </a:r>
            <a:r>
              <a:rPr lang="en-US" altLang="ko-KR" sz="2600" i="1">
                <a:ea typeface="굴림" panose="020B0600000101010101" pitchFamily="34" charset="-127"/>
              </a:rPr>
              <a:t>instead.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ko-KR" sz="2600" i="1">
                <a:ea typeface="굴림" panose="020B0600000101010101" pitchFamily="34" charset="-127"/>
                <a:sym typeface="Wingdings" pitchFamily="2" charset="2"/>
              </a:rPr>
              <a:t>      </a:t>
            </a:r>
            <a:r>
              <a:rPr lang="en-US" altLang="ko-KR" sz="2600">
                <a:ea typeface="굴림" panose="020B0600000101010101" pitchFamily="34" charset="-127"/>
              </a:rPr>
              <a:t>This reduces the number of possibilities.</a:t>
            </a:r>
            <a:endParaRPr lang="en-US" altLang="ko-KR" sz="2600" i="1">
              <a:ea typeface="굴림" panose="020B0600000101010101" pitchFamily="34" charset="-127"/>
            </a:endParaRPr>
          </a:p>
        </p:txBody>
      </p:sp>
      <p:graphicFrame>
        <p:nvGraphicFramePr>
          <p:cNvPr id="88071" name="Object 2">
            <a:extLst>
              <a:ext uri="{FF2B5EF4-FFF2-40B4-BE49-F238E27FC236}">
                <a16:creationId xmlns:a16="http://schemas.microsoft.com/office/drawing/2014/main" id="{944877E4-BEFA-011A-8013-12417F2802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4538" y="4625975"/>
          <a:ext cx="51054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342000" imgH="10528300" progId="Equation.3">
                  <p:embed/>
                </p:oleObj>
              </mc:Choice>
              <mc:Fallback>
                <p:oleObj name="Equation" r:id="rId4" imgW="69342000" imgH="10528300" progId="Equation.3">
                  <p:embed/>
                  <p:pic>
                    <p:nvPicPr>
                      <p:cNvPr id="88071" name="Object 2">
                        <a:extLst>
                          <a:ext uri="{FF2B5EF4-FFF2-40B4-BE49-F238E27FC236}">
                            <a16:creationId xmlns:a16="http://schemas.microsoft.com/office/drawing/2014/main" id="{944877E4-BEFA-011A-8013-12417F2802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538" y="4625975"/>
                        <a:ext cx="5105400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87037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3" name="Picture 7" descr="JCU_Logo_RGB.jpg">
            <a:extLst>
              <a:ext uri="{FF2B5EF4-FFF2-40B4-BE49-F238E27FC236}">
                <a16:creationId xmlns:a16="http://schemas.microsoft.com/office/drawing/2014/main" id="{3BD531AA-0032-826F-1B86-8DAAD7C01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4" name="Line 9">
            <a:extLst>
              <a:ext uri="{FF2B5EF4-FFF2-40B4-BE49-F238E27FC236}">
                <a16:creationId xmlns:a16="http://schemas.microsoft.com/office/drawing/2014/main" id="{00203B12-5D8E-19B7-9FAD-A844CA1DFD5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A9782A41-A35D-F30D-EC9C-3A98BDE1D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14488"/>
            <a:ext cx="8686800" cy="516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ko-KR" sz="2400">
                <a:ea typeface="굴림" panose="020B0600000101010101" pitchFamily="34" charset="-127"/>
              </a:rPr>
              <a:t>An itemset X</a:t>
            </a:r>
            <a:r>
              <a:rPr lang="en-US" altLang="ko-KR" sz="2400">
                <a:solidFill>
                  <a:schemeClr val="hlink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2400">
                <a:ea typeface="굴림" panose="020B0600000101010101" pitchFamily="34" charset="-127"/>
              </a:rPr>
              <a:t>is </a:t>
            </a:r>
            <a:r>
              <a:rPr lang="en-US" altLang="ko-KR" sz="2400">
                <a:solidFill>
                  <a:schemeClr val="hlink"/>
                </a:solidFill>
                <a:ea typeface="굴림" panose="020B0600000101010101" pitchFamily="34" charset="-127"/>
              </a:rPr>
              <a:t>closed </a:t>
            </a:r>
            <a:r>
              <a:rPr lang="en-US" altLang="ko-KR" sz="2400">
                <a:ea typeface="굴림" panose="020B0600000101010101" pitchFamily="34" charset="-127"/>
              </a:rPr>
              <a:t>if:</a:t>
            </a: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en-US" altLang="ko-KR" sz="2400">
                <a:ea typeface="굴림" panose="020B0600000101010101" pitchFamily="34" charset="-127"/>
              </a:rPr>
              <a:t>X is </a:t>
            </a:r>
            <a:r>
              <a:rPr lang="en-US" altLang="ko-KR" sz="2400" i="1">
                <a:ea typeface="굴림" panose="020B0600000101010101" pitchFamily="34" charset="-127"/>
              </a:rPr>
              <a:t>frequent</a:t>
            </a:r>
            <a:r>
              <a:rPr lang="en-US" altLang="ko-KR" sz="2400">
                <a:ea typeface="굴림" panose="020B0600000101010101" pitchFamily="34" charset="-127"/>
              </a:rPr>
              <a:t>  (has enough support) and </a:t>
            </a: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en-US" altLang="ko-KR" sz="2400">
                <a:ea typeface="굴림" panose="020B0600000101010101" pitchFamily="34" charset="-127"/>
              </a:rPr>
              <a:t>There exists </a:t>
            </a:r>
            <a:r>
              <a:rPr lang="en-US" altLang="ko-KR" sz="2400" i="1">
                <a:ea typeface="굴림" panose="020B0600000101010101" pitchFamily="34" charset="-127"/>
              </a:rPr>
              <a:t>no super-pattern</a:t>
            </a:r>
            <a:r>
              <a:rPr lang="en-US" altLang="ko-KR" sz="2400">
                <a:ea typeface="굴림" panose="020B0600000101010101" pitchFamily="34" charset="-127"/>
              </a:rPr>
              <a:t> Y </a:t>
            </a:r>
            <a:r>
              <a:rPr lang="en-US" altLang="ko-KR" sz="2400">
                <a:ea typeface="굴림" panose="020B0600000101010101" pitchFamily="34" charset="-127"/>
                <a:sym typeface="Symbol" pitchFamily="2" charset="2"/>
              </a:rPr>
              <a:t></a:t>
            </a:r>
            <a:r>
              <a:rPr lang="en-US" altLang="ko-KR" sz="2400">
                <a:ea typeface="굴림" panose="020B0600000101010101" pitchFamily="34" charset="-127"/>
              </a:rPr>
              <a:t> X, </a:t>
            </a:r>
            <a:r>
              <a:rPr lang="en-US" altLang="ko-KR" sz="2400" i="1" u="sng">
                <a:solidFill>
                  <a:srgbClr val="C00000"/>
                </a:solidFill>
                <a:ea typeface="굴림" panose="020B0600000101010101" pitchFamily="34" charset="-127"/>
              </a:rPr>
              <a:t>with the same support</a:t>
            </a:r>
            <a:r>
              <a:rPr lang="en-US" altLang="ko-KR" sz="2400" u="sng">
                <a:solidFill>
                  <a:srgbClr val="C00000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2400">
                <a:ea typeface="굴림" panose="020B0600000101010101" pitchFamily="34" charset="-127"/>
              </a:rPr>
              <a:t>as X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sz="2400">
                <a:ea typeface="굴림" panose="020B0600000101010101" pitchFamily="34" charset="-127"/>
              </a:rPr>
              <a:t>Example of 2 itemsets: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ko-KR" sz="2400">
                <a:ea typeface="굴림" panose="020B0600000101010101" pitchFamily="34" charset="-127"/>
              </a:rPr>
              <a:t>X: 50% of people buy milk and coffee.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ko-KR" sz="2400">
                <a:ea typeface="굴림" panose="020B0600000101010101" pitchFamily="34" charset="-127"/>
              </a:rPr>
              <a:t>Y: 50% of people buy milk, coffee, sugar.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ko-KR" sz="2400">
                <a:ea typeface="굴림" panose="020B0600000101010101" pitchFamily="34" charset="-127"/>
              </a:rPr>
              <a:t>Here, Y contains X, written Y </a:t>
            </a:r>
            <a:r>
              <a:rPr lang="en-US" altLang="ko-KR" sz="2400">
                <a:ea typeface="굴림" panose="020B0600000101010101" pitchFamily="34" charset="-127"/>
                <a:sym typeface="Symbol" pitchFamily="2" charset="2"/>
              </a:rPr>
              <a:t></a:t>
            </a:r>
            <a:r>
              <a:rPr lang="en-US" altLang="ko-KR" sz="2400">
                <a:ea typeface="굴림" panose="020B0600000101010101" pitchFamily="34" charset="-127"/>
              </a:rPr>
              <a:t> X (similar to Y &gt; X) as Y has more items. Y has the same support as X.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ko-KR" sz="2400">
                <a:ea typeface="굴림" panose="020B0600000101010101" pitchFamily="34" charset="-127"/>
              </a:rPr>
              <a:t>Thus X is not a closed pattern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sz="2400">
                <a:ea typeface="굴림" panose="020B0600000101010101" pitchFamily="34" charset="-127"/>
              </a:rPr>
              <a:t>Closed pattern is a lossless compression of frequent patterns (reducing the number of patterns and rules)</a:t>
            </a:r>
          </a:p>
          <a:p>
            <a:pPr lvl="1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endParaRPr lang="en-US" altLang="ko-KR" sz="2400">
              <a:ea typeface="굴림" panose="020B0600000101010101" pitchFamily="34" charset="-127"/>
            </a:endParaRPr>
          </a:p>
        </p:txBody>
      </p:sp>
      <p:sp>
        <p:nvSpPr>
          <p:cNvPr id="90116" name="Rectangle 2">
            <a:extLst>
              <a:ext uri="{FF2B5EF4-FFF2-40B4-BE49-F238E27FC236}">
                <a16:creationId xmlns:a16="http://schemas.microsoft.com/office/drawing/2014/main" id="{B19219C8-A8F7-877C-3299-D0E01B61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285038" cy="815975"/>
          </a:xfrm>
        </p:spPr>
        <p:txBody>
          <a:bodyPr lIns="0" tIns="0" rIns="0" bIns="0"/>
          <a:lstStyle/>
          <a:p>
            <a:pPr algn="l"/>
            <a:r>
              <a:rPr lang="en-AU" altLang="en-US" sz="40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Closed Patterns</a:t>
            </a:r>
            <a:endParaRPr lang="en-US" altLang="en-US" sz="40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sp>
        <p:nvSpPr>
          <p:cNvPr id="90117" name="Line 10">
            <a:extLst>
              <a:ext uri="{FF2B5EF4-FFF2-40B4-BE49-F238E27FC236}">
                <a16:creationId xmlns:a16="http://schemas.microsoft.com/office/drawing/2014/main" id="{8A011A2A-C60D-13E8-9D59-571B94132A6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18" name="Slide Number Placeholder 6">
            <a:extLst>
              <a:ext uri="{FF2B5EF4-FFF2-40B4-BE49-F238E27FC236}">
                <a16:creationId xmlns:a16="http://schemas.microsoft.com/office/drawing/2014/main" id="{81051D67-88F2-8FE9-6F4F-7A3AC37BB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70D2C5-27CA-9849-8E4C-F5F3C1B86678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0033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3">
            <a:extLst>
              <a:ext uri="{FF2B5EF4-FFF2-40B4-BE49-F238E27FC236}">
                <a16:creationId xmlns:a16="http://schemas.microsoft.com/office/drawing/2014/main" id="{0CEA5A91-E86C-E746-A7E6-58035C97F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447800"/>
            <a:ext cx="7964488" cy="51054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sz="2400">
                <a:ea typeface="굴림" panose="020B0600000101010101" pitchFamily="34" charset="-127"/>
              </a:rPr>
              <a:t>Flist: list of all frequent items in support ascending order</a:t>
            </a:r>
          </a:p>
          <a:p>
            <a:pPr lvl="1">
              <a:lnSpc>
                <a:spcPct val="120000"/>
              </a:lnSpc>
            </a:pPr>
            <a:r>
              <a:rPr lang="en-US" altLang="ko-KR" sz="2400">
                <a:ea typeface="굴림" panose="020B0600000101010101" pitchFamily="34" charset="-127"/>
              </a:rPr>
              <a:t>Flist: d-a-f-e-c</a:t>
            </a:r>
          </a:p>
          <a:p>
            <a:pPr>
              <a:lnSpc>
                <a:spcPct val="120000"/>
              </a:lnSpc>
            </a:pPr>
            <a:r>
              <a:rPr lang="en-US" altLang="ko-KR" sz="2400">
                <a:ea typeface="굴림" panose="020B0600000101010101" pitchFamily="34" charset="-127"/>
              </a:rPr>
              <a:t>Divide search space</a:t>
            </a:r>
          </a:p>
          <a:p>
            <a:pPr lvl="1">
              <a:lnSpc>
                <a:spcPct val="120000"/>
              </a:lnSpc>
            </a:pPr>
            <a:r>
              <a:rPr lang="en-US" altLang="ko-KR" sz="2400">
                <a:ea typeface="굴림" panose="020B0600000101010101" pitchFamily="34" charset="-127"/>
              </a:rPr>
              <a:t>Patterns having d</a:t>
            </a:r>
          </a:p>
          <a:p>
            <a:pPr lvl="1">
              <a:lnSpc>
                <a:spcPct val="120000"/>
              </a:lnSpc>
            </a:pPr>
            <a:r>
              <a:rPr lang="en-US" altLang="ko-KR" sz="2400">
                <a:ea typeface="굴림" panose="020B0600000101010101" pitchFamily="34" charset="-127"/>
              </a:rPr>
              <a:t>Patterns having d but no a, etc.</a:t>
            </a:r>
          </a:p>
          <a:p>
            <a:pPr>
              <a:lnSpc>
                <a:spcPct val="120000"/>
              </a:lnSpc>
            </a:pPr>
            <a:r>
              <a:rPr lang="en-US" altLang="ko-KR" sz="2400">
                <a:ea typeface="굴림" panose="020B0600000101010101" pitchFamily="34" charset="-127"/>
              </a:rPr>
              <a:t>Find frequent closed pattern recursively</a:t>
            </a:r>
          </a:p>
          <a:p>
            <a:pPr lvl="1">
              <a:lnSpc>
                <a:spcPct val="120000"/>
              </a:lnSpc>
            </a:pPr>
            <a:r>
              <a:rPr lang="en-US" altLang="ko-KR" sz="2400">
                <a:ea typeface="굴림" panose="020B0600000101010101" pitchFamily="34" charset="-127"/>
              </a:rPr>
              <a:t>Every transaction having d also has cfa </a:t>
            </a:r>
            <a:r>
              <a:rPr lang="en-US" altLang="ko-KR" sz="2400">
                <a:ea typeface="굴림" panose="020B0600000101010101" pitchFamily="34" charset="-127"/>
                <a:sym typeface="Wingdings" pitchFamily="2" charset="2"/>
              </a:rPr>
              <a:t> cfad is a frequent closed pattern</a:t>
            </a:r>
          </a:p>
        </p:txBody>
      </p:sp>
      <p:graphicFrame>
        <p:nvGraphicFramePr>
          <p:cNvPr id="1396740" name="Group 4">
            <a:extLst>
              <a:ext uri="{FF2B5EF4-FFF2-40B4-BE49-F238E27FC236}">
                <a16:creationId xmlns:a16="http://schemas.microsoft.com/office/drawing/2014/main" id="{2C64583B-59C7-9B62-05DD-5C0AB38D0C31}"/>
              </a:ext>
            </a:extLst>
          </p:cNvPr>
          <p:cNvGraphicFramePr>
            <a:graphicFrameLocks noGrp="1"/>
          </p:cNvGraphicFramePr>
          <p:nvPr/>
        </p:nvGraphicFramePr>
        <p:xfrm>
          <a:off x="7086600" y="2609850"/>
          <a:ext cx="1905000" cy="1719264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d, e, f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c, e, f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d, f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c, e, f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2185" name="Text Box 27">
            <a:extLst>
              <a:ext uri="{FF2B5EF4-FFF2-40B4-BE49-F238E27FC236}">
                <a16:creationId xmlns:a16="http://schemas.microsoft.com/office/drawing/2014/main" id="{6EAAA936-E1E0-4140-2060-BD27C5172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057400"/>
            <a:ext cx="14462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>
                <a:latin typeface="Tahoma" panose="020B0604030504040204" pitchFamily="34" charset="0"/>
                <a:ea typeface="굴림" panose="020B0600000101010101" pitchFamily="34" charset="-127"/>
              </a:rPr>
              <a:t>Min_sup=2</a:t>
            </a:r>
          </a:p>
        </p:txBody>
      </p:sp>
      <p:pic>
        <p:nvPicPr>
          <p:cNvPr id="92186" name="Picture 7" descr="JCU_Logo_RGB.jpg">
            <a:extLst>
              <a:ext uri="{FF2B5EF4-FFF2-40B4-BE49-F238E27FC236}">
                <a16:creationId xmlns:a16="http://schemas.microsoft.com/office/drawing/2014/main" id="{44B71CC7-002B-A1A1-5B30-D409956DB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7" name="Line 9">
            <a:extLst>
              <a:ext uri="{FF2B5EF4-FFF2-40B4-BE49-F238E27FC236}">
                <a16:creationId xmlns:a16="http://schemas.microsoft.com/office/drawing/2014/main" id="{1AC240CD-A72A-99E3-D04A-C923910A68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8" name="Rectangle 2">
            <a:extLst>
              <a:ext uri="{FF2B5EF4-FFF2-40B4-BE49-F238E27FC236}">
                <a16:creationId xmlns:a16="http://schemas.microsoft.com/office/drawing/2014/main" id="{58CD7667-559A-89EE-4909-38D678E354F6}"/>
              </a:ext>
            </a:extLst>
          </p:cNvPr>
          <p:cNvSpPr txBox="1">
            <a:spLocks/>
          </p:cNvSpPr>
          <p:nvPr/>
        </p:nvSpPr>
        <p:spPr bwMode="auto">
          <a:xfrm>
            <a:off x="609600" y="381000"/>
            <a:ext cx="728503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4000">
                <a:solidFill>
                  <a:srgbClr val="0066B3"/>
                </a:solidFill>
                <a:latin typeface="Times" pitchFamily="-84" charset="0"/>
              </a:rPr>
              <a:t>Mining Closed Patterns</a:t>
            </a:r>
            <a:endParaRPr lang="en-US" altLang="en-US" sz="4000">
              <a:solidFill>
                <a:srgbClr val="0066B3"/>
              </a:solidFill>
              <a:latin typeface="Times" pitchFamily="-84" charset="0"/>
            </a:endParaRPr>
          </a:p>
        </p:txBody>
      </p:sp>
      <p:sp>
        <p:nvSpPr>
          <p:cNvPr id="92189" name="Line 10">
            <a:extLst>
              <a:ext uri="{FF2B5EF4-FFF2-40B4-BE49-F238E27FC236}">
                <a16:creationId xmlns:a16="http://schemas.microsoft.com/office/drawing/2014/main" id="{3DA19CC2-BEC2-2CFD-30DE-82ADF4EBAEA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04459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>
            <a:extLst>
              <a:ext uri="{FF2B5EF4-FFF2-40B4-BE49-F238E27FC236}">
                <a16:creationId xmlns:a16="http://schemas.microsoft.com/office/drawing/2014/main" id="{1EC7E1AF-4A83-A192-B94C-B0310EF9A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285038" cy="815975"/>
          </a:xfrm>
        </p:spPr>
        <p:txBody>
          <a:bodyPr lIns="0" tIns="0" rIns="0" bIns="0"/>
          <a:lstStyle/>
          <a:p>
            <a:pPr algn="l"/>
            <a:r>
              <a:rPr lang="en-AU" altLang="en-US" sz="4000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Max Patterns</a:t>
            </a:r>
            <a:endParaRPr lang="en-US" altLang="en-US" sz="4000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94210" name="Picture 7" descr="JCU_Logo_RGB.jpg">
            <a:extLst>
              <a:ext uri="{FF2B5EF4-FFF2-40B4-BE49-F238E27FC236}">
                <a16:creationId xmlns:a16="http://schemas.microsoft.com/office/drawing/2014/main" id="{05EABBC6-44F5-AAC4-8D9C-041D6A19B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1" name="Line 9">
            <a:extLst>
              <a:ext uri="{FF2B5EF4-FFF2-40B4-BE49-F238E27FC236}">
                <a16:creationId xmlns:a16="http://schemas.microsoft.com/office/drawing/2014/main" id="{4060B0A8-004C-F8F1-3C50-DDE05B80FE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12" name="Line 10">
            <a:extLst>
              <a:ext uri="{FF2B5EF4-FFF2-40B4-BE49-F238E27FC236}">
                <a16:creationId xmlns:a16="http://schemas.microsoft.com/office/drawing/2014/main" id="{AAA3E330-C496-A843-7641-9570917B55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13" name="Slide Number Placeholder 6">
            <a:extLst>
              <a:ext uri="{FF2B5EF4-FFF2-40B4-BE49-F238E27FC236}">
                <a16:creationId xmlns:a16="http://schemas.microsoft.com/office/drawing/2014/main" id="{B3B1C66B-1785-815A-D0C0-29F8D722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21AEC2-5BE6-7248-8167-346176C2477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94214" name="Rectangle 3">
            <a:extLst>
              <a:ext uri="{FF2B5EF4-FFF2-40B4-BE49-F238E27FC236}">
                <a16:creationId xmlns:a16="http://schemas.microsoft.com/office/drawing/2014/main" id="{C661AC05-C33E-4392-96ED-20B8385BE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14488"/>
            <a:ext cx="8686800" cy="516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2573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ko-KR" sz="2400">
                <a:ea typeface="굴림" panose="020B0600000101010101" pitchFamily="34" charset="-127"/>
              </a:rPr>
              <a:t>An itemset X</a:t>
            </a:r>
            <a:r>
              <a:rPr lang="en-US" altLang="ko-KR" sz="2400">
                <a:solidFill>
                  <a:schemeClr val="hlink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2400">
                <a:ea typeface="굴림" panose="020B0600000101010101" pitchFamily="34" charset="-127"/>
              </a:rPr>
              <a:t>is </a:t>
            </a:r>
            <a:r>
              <a:rPr lang="en-US" altLang="ko-KR" sz="2400">
                <a:solidFill>
                  <a:schemeClr val="hlink"/>
                </a:solidFill>
                <a:ea typeface="굴림" panose="020B0600000101010101" pitchFamily="34" charset="-127"/>
              </a:rPr>
              <a:t>a max pattern </a:t>
            </a:r>
            <a:r>
              <a:rPr lang="en-US" altLang="ko-KR" sz="2400">
                <a:ea typeface="굴림" panose="020B0600000101010101" pitchFamily="34" charset="-127"/>
              </a:rPr>
              <a:t>if X is frequent and there exists no frequent super-pattern Y </a:t>
            </a:r>
            <a:r>
              <a:rPr lang="he-IL" altLang="en-US" sz="2400">
                <a:latin typeface="Arial" panose="020B0604020202020204" pitchFamily="34" charset="0"/>
                <a:ea typeface="굴림" panose="020B0600000101010101" pitchFamily="34" charset="-127"/>
              </a:rPr>
              <a:t>כ</a:t>
            </a: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 X.</a:t>
            </a:r>
          </a:p>
          <a:p>
            <a:pPr eaLnBrk="1" hangingPunct="1">
              <a:lnSpc>
                <a:spcPct val="110000"/>
              </a:lnSpc>
            </a:pPr>
            <a:r>
              <a:rPr lang="en-AU" altLang="ko-KR" sz="2400">
                <a:ea typeface="굴림" panose="020B0600000101010101" pitchFamily="34" charset="-127"/>
              </a:rPr>
              <a:t>Mining max-patterns</a:t>
            </a:r>
          </a:p>
          <a:p>
            <a:pPr lvl="1"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AU" altLang="ko-KR" sz="2400">
                <a:ea typeface="굴림" panose="020B0600000101010101" pitchFamily="34" charset="-127"/>
              </a:rPr>
              <a:t>1</a:t>
            </a:r>
            <a:r>
              <a:rPr lang="en-AU" altLang="ko-KR" sz="2400" baseline="30000">
                <a:ea typeface="굴림" panose="020B0600000101010101" pitchFamily="34" charset="-127"/>
              </a:rPr>
              <a:t>st</a:t>
            </a:r>
            <a:r>
              <a:rPr lang="en-AU" altLang="ko-KR" sz="2400">
                <a:ea typeface="굴림" panose="020B0600000101010101" pitchFamily="34" charset="-127"/>
              </a:rPr>
              <a:t> scan: find frequent items</a:t>
            </a:r>
          </a:p>
          <a:p>
            <a:pPr lvl="2" eaLnBrk="1" hangingPunct="1">
              <a:lnSpc>
                <a:spcPct val="110000"/>
              </a:lnSpc>
            </a:pPr>
            <a:r>
              <a:rPr lang="en-AU" altLang="ko-KR" sz="2000">
                <a:ea typeface="굴림" panose="020B0600000101010101" pitchFamily="34" charset="-127"/>
              </a:rPr>
              <a:t>A,B,C,D,E</a:t>
            </a:r>
          </a:p>
          <a:p>
            <a:pPr lvl="1"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AU" altLang="ko-KR" sz="2400">
                <a:ea typeface="굴림" panose="020B0600000101010101" pitchFamily="34" charset="-127"/>
              </a:rPr>
              <a:t>2</a:t>
            </a:r>
            <a:r>
              <a:rPr lang="en-AU" altLang="ko-KR" sz="2400" baseline="30000">
                <a:ea typeface="굴림" panose="020B0600000101010101" pitchFamily="34" charset="-127"/>
              </a:rPr>
              <a:t>nd</a:t>
            </a:r>
            <a:r>
              <a:rPr lang="en-AU" altLang="ko-KR" sz="2400">
                <a:ea typeface="굴림" panose="020B0600000101010101" pitchFamily="34" charset="-127"/>
              </a:rPr>
              <a:t> scan: find support for</a:t>
            </a:r>
          </a:p>
          <a:p>
            <a:pPr lvl="2" eaLnBrk="1" hangingPunct="1">
              <a:lnSpc>
                <a:spcPct val="110000"/>
              </a:lnSpc>
            </a:pPr>
            <a:r>
              <a:rPr lang="en-AU" altLang="ko-KR" sz="2000">
                <a:ea typeface="굴림" panose="020B0600000101010101" pitchFamily="34" charset="-127"/>
              </a:rPr>
              <a:t>AB, AC, AD, AE: </a:t>
            </a:r>
            <a:r>
              <a:rPr lang="en-AU" altLang="ko-KR" sz="2000">
                <a:solidFill>
                  <a:srgbClr val="FF0000"/>
                </a:solidFill>
                <a:ea typeface="굴림" panose="020B0600000101010101" pitchFamily="34" charset="-127"/>
              </a:rPr>
              <a:t>ABCDE</a:t>
            </a:r>
          </a:p>
          <a:p>
            <a:pPr lvl="2" eaLnBrk="1" hangingPunct="1">
              <a:lnSpc>
                <a:spcPct val="110000"/>
              </a:lnSpc>
            </a:pPr>
            <a:r>
              <a:rPr lang="en-AU" altLang="ko-KR" sz="2000">
                <a:ea typeface="굴림" panose="020B0600000101010101" pitchFamily="34" charset="-127"/>
              </a:rPr>
              <a:t>BC,BD,BE: </a:t>
            </a:r>
            <a:r>
              <a:rPr lang="en-AU" altLang="ko-KR" sz="2000">
                <a:solidFill>
                  <a:srgbClr val="FF0000"/>
                </a:solidFill>
                <a:ea typeface="굴림" panose="020B0600000101010101" pitchFamily="34" charset="-127"/>
              </a:rPr>
              <a:t>BCDE</a:t>
            </a:r>
          </a:p>
          <a:p>
            <a:pPr lvl="2" eaLnBrk="1" hangingPunct="1">
              <a:lnSpc>
                <a:spcPct val="110000"/>
              </a:lnSpc>
            </a:pPr>
            <a:r>
              <a:rPr lang="en-AU" altLang="ko-KR" sz="2000">
                <a:ea typeface="굴림" panose="020B0600000101010101" pitchFamily="34" charset="-127"/>
              </a:rPr>
              <a:t>CD,CE: </a:t>
            </a:r>
            <a:r>
              <a:rPr lang="en-AU" altLang="ko-KR" sz="2000">
                <a:solidFill>
                  <a:srgbClr val="FF0000"/>
                </a:solidFill>
                <a:ea typeface="굴림" panose="020B0600000101010101" pitchFamily="34" charset="-127"/>
              </a:rPr>
              <a:t>CDE</a:t>
            </a:r>
          </a:p>
          <a:p>
            <a:pPr lvl="2" eaLnBrk="1" hangingPunct="1">
              <a:lnSpc>
                <a:spcPct val="110000"/>
              </a:lnSpc>
            </a:pPr>
            <a:r>
              <a:rPr lang="en-AU" altLang="ko-KR" sz="2000">
                <a:ea typeface="굴림" panose="020B0600000101010101" pitchFamily="34" charset="-127"/>
              </a:rPr>
              <a:t>DE:</a:t>
            </a:r>
            <a:endParaRPr lang="en-US" altLang="ko-KR">
              <a:ea typeface="굴림" panose="020B0600000101010101" pitchFamily="34" charset="-127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ko-KR" sz="2000">
                <a:ea typeface="굴림" panose="020B0600000101010101" pitchFamily="34" charset="-127"/>
              </a:rPr>
              <a:t>Since BCDE is a max-pattern, no need to check BCD, BDE, CDE in later scan</a:t>
            </a:r>
          </a:p>
        </p:txBody>
      </p:sp>
      <p:sp>
        <p:nvSpPr>
          <p:cNvPr id="94215" name="Text Box 21">
            <a:extLst>
              <a:ext uri="{FF2B5EF4-FFF2-40B4-BE49-F238E27FC236}">
                <a16:creationId xmlns:a16="http://schemas.microsoft.com/office/drawing/2014/main" id="{6A021CE3-945C-A0AF-1B95-F43843618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45038"/>
            <a:ext cx="24257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ko-KR" sz="2800">
                <a:solidFill>
                  <a:schemeClr val="folHlink"/>
                </a:solidFill>
                <a:latin typeface="Tahoma" panose="020B0604030504040204" pitchFamily="34" charset="0"/>
                <a:ea typeface="굴림" panose="020B0600000101010101" pitchFamily="34" charset="-127"/>
              </a:rPr>
              <a:t>Potential max-patterns</a:t>
            </a:r>
          </a:p>
        </p:txBody>
      </p:sp>
      <p:sp>
        <p:nvSpPr>
          <p:cNvPr id="94216" name="Line 22">
            <a:extLst>
              <a:ext uri="{FF2B5EF4-FFF2-40B4-BE49-F238E27FC236}">
                <a16:creationId xmlns:a16="http://schemas.microsoft.com/office/drawing/2014/main" id="{581D39A7-86DF-3D1E-2F95-C4E209ED51E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72000" y="4592638"/>
            <a:ext cx="1676400" cy="381000"/>
          </a:xfrm>
          <a:prstGeom prst="line">
            <a:avLst/>
          </a:prstGeom>
          <a:noFill/>
          <a:ln w="28575">
            <a:solidFill>
              <a:schemeClr val="fol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4217" name="Line 23">
            <a:extLst>
              <a:ext uri="{FF2B5EF4-FFF2-40B4-BE49-F238E27FC236}">
                <a16:creationId xmlns:a16="http://schemas.microsoft.com/office/drawing/2014/main" id="{5A47B351-C221-8F43-3232-EB5D1AB72D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10000" y="5049838"/>
            <a:ext cx="2362200" cy="76200"/>
          </a:xfrm>
          <a:prstGeom prst="line">
            <a:avLst/>
          </a:prstGeom>
          <a:noFill/>
          <a:ln w="28575">
            <a:solidFill>
              <a:schemeClr val="fol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14" name="Group 4">
            <a:extLst>
              <a:ext uri="{FF2B5EF4-FFF2-40B4-BE49-F238E27FC236}">
                <a16:creationId xmlns:a16="http://schemas.microsoft.com/office/drawing/2014/main" id="{37583899-AD8F-DC44-5797-51C7F00CAEAD}"/>
              </a:ext>
            </a:extLst>
          </p:cNvPr>
          <p:cNvGraphicFramePr>
            <a:graphicFrameLocks noGrp="1"/>
          </p:cNvGraphicFramePr>
          <p:nvPr/>
        </p:nvGraphicFramePr>
        <p:xfrm>
          <a:off x="6097588" y="2511425"/>
          <a:ext cx="2286000" cy="1463676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A,B,C,D,E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B,C,D,E,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A,C,D,F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82239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CF1C74E1-129F-56D4-2FB6-241BD0CB2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chemeClr val="bg1"/>
                </a:solidFill>
                <a:latin typeface="Times" pitchFamily="-84" charset="0"/>
                <a:ea typeface="ＭＳ Ｐゴシック" panose="020B0600070205080204" pitchFamily="34" charset="-128"/>
              </a:rPr>
              <a:t>Think/Pair/Share</a:t>
            </a:r>
            <a:endParaRPr lang="en-US" altLang="en-US">
              <a:solidFill>
                <a:schemeClr val="bg1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sp>
        <p:nvSpPr>
          <p:cNvPr id="96259" name="Line 9">
            <a:extLst>
              <a:ext uri="{FF2B5EF4-FFF2-40B4-BE49-F238E27FC236}">
                <a16:creationId xmlns:a16="http://schemas.microsoft.com/office/drawing/2014/main" id="{44416104-7810-0416-DAEB-A867AAB7C8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60" name="Line 10">
            <a:extLst>
              <a:ext uri="{FF2B5EF4-FFF2-40B4-BE49-F238E27FC236}">
                <a16:creationId xmlns:a16="http://schemas.microsoft.com/office/drawing/2014/main" id="{89DB6F94-309E-ACAD-4DE8-7DA86A75D9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61" name="Slide Number Placeholder 6">
            <a:extLst>
              <a:ext uri="{FF2B5EF4-FFF2-40B4-BE49-F238E27FC236}">
                <a16:creationId xmlns:a16="http://schemas.microsoft.com/office/drawing/2014/main" id="{B8909555-8B6F-7721-9C65-82ABB4F6C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A061BF-93DB-DA41-A064-E4285F032DED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96262" name="Rectangle 3">
            <a:extLst>
              <a:ext uri="{FF2B5EF4-FFF2-40B4-BE49-F238E27FC236}">
                <a16:creationId xmlns:a16="http://schemas.microsoft.com/office/drawing/2014/main" id="{FC871400-037F-79ED-61FC-65815BFB1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375" y="1427163"/>
            <a:ext cx="7024688" cy="461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en-US" sz="2800">
                <a:solidFill>
                  <a:schemeClr val="bg1"/>
                </a:solidFill>
              </a:rPr>
              <a:t>Exercise.  DB = {&lt;a</a:t>
            </a:r>
            <a:r>
              <a:rPr lang="en-US" altLang="en-US" sz="2800" baseline="-25000">
                <a:solidFill>
                  <a:schemeClr val="bg1"/>
                </a:solidFill>
              </a:rPr>
              <a:t>1</a:t>
            </a:r>
            <a:r>
              <a:rPr lang="en-US" altLang="en-US" sz="2800">
                <a:solidFill>
                  <a:schemeClr val="bg1"/>
                </a:solidFill>
              </a:rPr>
              <a:t>, …, a</a:t>
            </a:r>
            <a:r>
              <a:rPr lang="en-US" altLang="en-US" sz="2800" baseline="-25000">
                <a:solidFill>
                  <a:schemeClr val="bg1"/>
                </a:solidFill>
              </a:rPr>
              <a:t>100</a:t>
            </a:r>
            <a:r>
              <a:rPr lang="en-US" altLang="en-US" sz="2800">
                <a:solidFill>
                  <a:schemeClr val="bg1"/>
                </a:solidFill>
              </a:rPr>
              <a:t>&gt;, &lt; a</a:t>
            </a:r>
            <a:r>
              <a:rPr lang="en-US" altLang="en-US" sz="2800" baseline="-25000">
                <a:solidFill>
                  <a:schemeClr val="bg1"/>
                </a:solidFill>
              </a:rPr>
              <a:t>1</a:t>
            </a:r>
            <a:r>
              <a:rPr lang="en-US" altLang="en-US" sz="2800">
                <a:solidFill>
                  <a:schemeClr val="bg1"/>
                </a:solidFill>
              </a:rPr>
              <a:t>, …, a</a:t>
            </a:r>
            <a:r>
              <a:rPr lang="en-US" altLang="en-US" sz="2800" baseline="-25000">
                <a:solidFill>
                  <a:schemeClr val="bg1"/>
                </a:solidFill>
              </a:rPr>
              <a:t>50</a:t>
            </a:r>
            <a:r>
              <a:rPr lang="en-US" altLang="en-US" sz="2800">
                <a:solidFill>
                  <a:schemeClr val="bg1"/>
                </a:solidFill>
              </a:rPr>
              <a:t>&gt;} </a:t>
            </a:r>
            <a:endParaRPr lang="en-US" altLang="en-US" sz="2800">
              <a:solidFill>
                <a:schemeClr val="bg1"/>
              </a:solidFill>
              <a:sym typeface="Wingdings" pitchFamily="2" charset="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en-US">
                <a:solidFill>
                  <a:schemeClr val="bg1"/>
                </a:solidFill>
              </a:rPr>
              <a:t>Min_sup = 1.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800">
                <a:solidFill>
                  <a:schemeClr val="bg1"/>
                </a:solidFill>
              </a:rPr>
              <a:t>What is the set of closed itemset?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>
                <a:solidFill>
                  <a:schemeClr val="bg1"/>
                </a:solidFill>
              </a:rPr>
              <a:t>&lt;a</a:t>
            </a:r>
            <a:r>
              <a:rPr lang="en-US" altLang="en-US" baseline="-25000">
                <a:solidFill>
                  <a:schemeClr val="bg1"/>
                </a:solidFill>
              </a:rPr>
              <a:t>1</a:t>
            </a:r>
            <a:r>
              <a:rPr lang="en-US" altLang="en-US">
                <a:solidFill>
                  <a:schemeClr val="bg1"/>
                </a:solidFill>
              </a:rPr>
              <a:t>, …, a</a:t>
            </a:r>
            <a:r>
              <a:rPr lang="en-US" altLang="en-US" baseline="-25000">
                <a:solidFill>
                  <a:schemeClr val="bg1"/>
                </a:solidFill>
              </a:rPr>
              <a:t>100</a:t>
            </a:r>
            <a:r>
              <a:rPr lang="en-US" altLang="en-US">
                <a:solidFill>
                  <a:schemeClr val="bg1"/>
                </a:solidFill>
              </a:rPr>
              <a:t>&gt;: 1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>
                <a:solidFill>
                  <a:schemeClr val="bg1"/>
                </a:solidFill>
              </a:rPr>
              <a:t>&lt; a</a:t>
            </a:r>
            <a:r>
              <a:rPr lang="en-US" altLang="en-US" baseline="-25000">
                <a:solidFill>
                  <a:schemeClr val="bg1"/>
                </a:solidFill>
              </a:rPr>
              <a:t>1</a:t>
            </a:r>
            <a:r>
              <a:rPr lang="en-US" altLang="en-US">
                <a:solidFill>
                  <a:schemeClr val="bg1"/>
                </a:solidFill>
              </a:rPr>
              <a:t>, …, a</a:t>
            </a:r>
            <a:r>
              <a:rPr lang="en-US" altLang="en-US" baseline="-25000">
                <a:solidFill>
                  <a:schemeClr val="bg1"/>
                </a:solidFill>
              </a:rPr>
              <a:t>50</a:t>
            </a:r>
            <a:r>
              <a:rPr lang="en-US" altLang="en-US">
                <a:solidFill>
                  <a:schemeClr val="bg1"/>
                </a:solidFill>
              </a:rPr>
              <a:t>&gt;: 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800">
                <a:solidFill>
                  <a:schemeClr val="bg1"/>
                </a:solidFill>
              </a:rPr>
              <a:t>What is the set of max-pattern?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>
                <a:solidFill>
                  <a:schemeClr val="bg1"/>
                </a:solidFill>
              </a:rPr>
              <a:t>&lt;a</a:t>
            </a:r>
            <a:r>
              <a:rPr lang="en-US" altLang="en-US" baseline="-25000">
                <a:solidFill>
                  <a:schemeClr val="bg1"/>
                </a:solidFill>
              </a:rPr>
              <a:t>1</a:t>
            </a:r>
            <a:r>
              <a:rPr lang="en-US" altLang="en-US">
                <a:solidFill>
                  <a:schemeClr val="bg1"/>
                </a:solidFill>
              </a:rPr>
              <a:t>, …, a</a:t>
            </a:r>
            <a:r>
              <a:rPr lang="en-US" altLang="en-US" baseline="-25000">
                <a:solidFill>
                  <a:schemeClr val="bg1"/>
                </a:solidFill>
              </a:rPr>
              <a:t>100</a:t>
            </a:r>
            <a:r>
              <a:rPr lang="en-US" altLang="en-US">
                <a:solidFill>
                  <a:schemeClr val="bg1"/>
                </a:solidFill>
              </a:rPr>
              <a:t>&gt;: 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800">
                <a:solidFill>
                  <a:schemeClr val="bg1"/>
                </a:solidFill>
              </a:rPr>
              <a:t>What is the set of all patterns?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>
                <a:solidFill>
                  <a:schemeClr val="bg1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7251989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>
            <a:extLst>
              <a:ext uri="{FF2B5EF4-FFF2-40B4-BE49-F238E27FC236}">
                <a16:creationId xmlns:a16="http://schemas.microsoft.com/office/drawing/2014/main" id="{0DEAE8B3-D42B-1066-533C-28534307B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Outline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98306" name="Picture 7" descr="JCU_Logo_RGB.jpg">
            <a:extLst>
              <a:ext uri="{FF2B5EF4-FFF2-40B4-BE49-F238E27FC236}">
                <a16:creationId xmlns:a16="http://schemas.microsoft.com/office/drawing/2014/main" id="{ACC047D0-8A24-E4C2-EDC6-66447A48A1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07" name="Line 9">
            <a:extLst>
              <a:ext uri="{FF2B5EF4-FFF2-40B4-BE49-F238E27FC236}">
                <a16:creationId xmlns:a16="http://schemas.microsoft.com/office/drawing/2014/main" id="{CF793179-A50B-6519-AF2D-1C8ABF86E8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08" name="Line 10">
            <a:extLst>
              <a:ext uri="{FF2B5EF4-FFF2-40B4-BE49-F238E27FC236}">
                <a16:creationId xmlns:a16="http://schemas.microsoft.com/office/drawing/2014/main" id="{E57FF842-65F9-C0BD-59AF-531F01ABE1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09" name="Content Placeholder 2">
            <a:extLst>
              <a:ext uri="{FF2B5EF4-FFF2-40B4-BE49-F238E27FC236}">
                <a16:creationId xmlns:a16="http://schemas.microsoft.com/office/drawing/2014/main" id="{8C1CD88D-A137-F2F2-20D1-50D15431D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03363"/>
            <a:ext cx="8077200" cy="462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14400" indent="-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AU" altLang="en-US" sz="2800">
                <a:cs typeface="Arial" panose="020B0604020202020204" pitchFamily="34" charset="0"/>
              </a:rPr>
              <a:t>ARM Background</a:t>
            </a:r>
          </a:p>
          <a:p>
            <a:r>
              <a:rPr lang="en-AU" altLang="en-US" sz="2800">
                <a:cs typeface="Arial" panose="020B0604020202020204" pitchFamily="34" charset="0"/>
              </a:rPr>
              <a:t>Apriori</a:t>
            </a:r>
          </a:p>
          <a:p>
            <a:r>
              <a:rPr lang="en-AU" altLang="en-US" sz="2800">
                <a:cs typeface="Arial" panose="020B0604020202020204" pitchFamily="34" charset="0"/>
              </a:rPr>
              <a:t>FP-Tree</a:t>
            </a:r>
          </a:p>
          <a:p>
            <a:r>
              <a:rPr lang="en-AU" altLang="en-US" sz="2800" b="1">
                <a:cs typeface="Arial" panose="020B0604020202020204" pitchFamily="34" charset="0"/>
              </a:rPr>
              <a:t>Various ARM</a:t>
            </a:r>
          </a:p>
          <a:p>
            <a:r>
              <a:rPr lang="en-AU" altLang="en-US" sz="2800">
                <a:cs typeface="Arial" panose="020B0604020202020204" pitchFamily="34" charset="0"/>
              </a:rPr>
              <a:t>Constraint ARM</a:t>
            </a:r>
            <a:endParaRPr lang="en-AU" altLang="en-US" sz="2400">
              <a:cs typeface="Arial" panose="020B0604020202020204" pitchFamily="34" charset="0"/>
            </a:endParaRPr>
          </a:p>
          <a:p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AU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310" name="Slide Number Placeholder 6">
            <a:extLst>
              <a:ext uri="{FF2B5EF4-FFF2-40B4-BE49-F238E27FC236}">
                <a16:creationId xmlns:a16="http://schemas.microsoft.com/office/drawing/2014/main" id="{CD837F7C-7CF2-CBBF-522A-9DD9AC78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B438CF-F0C1-FE40-8ED8-4D6DB17ADE6D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1479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>
            <a:extLst>
              <a:ext uri="{FF2B5EF4-FFF2-40B4-BE49-F238E27FC236}">
                <a16:creationId xmlns:a16="http://schemas.microsoft.com/office/drawing/2014/main" id="{775A8890-A54C-10DF-87BB-CA1813419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ARM Issues in Practice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100354" name="Picture 7" descr="JCU_Logo_RGB.jpg">
            <a:extLst>
              <a:ext uri="{FF2B5EF4-FFF2-40B4-BE49-F238E27FC236}">
                <a16:creationId xmlns:a16="http://schemas.microsoft.com/office/drawing/2014/main" id="{933D1645-FC0A-DF54-088F-B568C51E32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5" name="Line 9">
            <a:extLst>
              <a:ext uri="{FF2B5EF4-FFF2-40B4-BE49-F238E27FC236}">
                <a16:creationId xmlns:a16="http://schemas.microsoft.com/office/drawing/2014/main" id="{899BF12C-2779-171B-3BC6-5CB16B782A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356" name="Line 10">
            <a:extLst>
              <a:ext uri="{FF2B5EF4-FFF2-40B4-BE49-F238E27FC236}">
                <a16:creationId xmlns:a16="http://schemas.microsoft.com/office/drawing/2014/main" id="{C9FC03A4-E745-C981-D2BC-D6C19CAA1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357" name="Slide Number Placeholder 6">
            <a:extLst>
              <a:ext uri="{FF2B5EF4-FFF2-40B4-BE49-F238E27FC236}">
                <a16:creationId xmlns:a16="http://schemas.microsoft.com/office/drawing/2014/main" id="{73546DE6-A16D-16FE-3844-5B774F20C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7DB608-5122-AF42-806B-A8B7BB634A9A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0358" name="Rectangle 3">
            <a:extLst>
              <a:ext uri="{FF2B5EF4-FFF2-40B4-BE49-F238E27FC236}">
                <a16:creationId xmlns:a16="http://schemas.microsoft.com/office/drawing/2014/main" id="{8BBB4CEA-0A31-9F08-3A3D-D2A6D2281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57338"/>
            <a:ext cx="8164513" cy="50292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ko-KR" sz="2600" b="1">
                <a:ea typeface="굴림" panose="020B0600000101010101" pitchFamily="34" charset="-127"/>
              </a:rPr>
              <a:t>Possible ways of improving performance of the algorithms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ko-KR" sz="2400" b="1">
              <a:ea typeface="굴림" panose="020B0600000101010101" pitchFamily="34" charset="-127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>
                <a:ea typeface="굴림" panose="020B0600000101010101" pitchFamily="34" charset="-127"/>
              </a:rPr>
              <a:t>Implementation techniques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FontTx/>
              <a:buChar char="-"/>
            </a:pPr>
            <a:r>
              <a:rPr lang="en-US" altLang="ko-KR" sz="2000">
                <a:ea typeface="굴림" panose="020B0600000101010101" pitchFamily="34" charset="-127"/>
              </a:rPr>
              <a:t>Use of good data structures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FontTx/>
              <a:buChar char="-"/>
            </a:pPr>
            <a:r>
              <a:rPr lang="en-US" altLang="ko-KR" sz="2000">
                <a:ea typeface="굴림" panose="020B0600000101010101" pitchFamily="34" charset="-127"/>
              </a:rPr>
              <a:t>Fast implementation of basic operations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>
                <a:ea typeface="굴림" panose="020B0600000101010101" pitchFamily="34" charset="-127"/>
              </a:rPr>
              <a:t>Algorithm improvement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FontTx/>
              <a:buChar char="-"/>
            </a:pPr>
            <a:r>
              <a:rPr lang="en-US" altLang="ko-KR" sz="2000">
                <a:ea typeface="굴림" panose="020B0600000101010101" pitchFamily="34" charset="-127"/>
              </a:rPr>
              <a:t>Finding algorithms that are more efficient </a:t>
            </a:r>
            <a:endParaRPr lang="en-US" altLang="ko-KR" sz="2400">
              <a:ea typeface="굴림" panose="020B0600000101010101" pitchFamily="34" charset="-127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>
                <a:ea typeface="굴림" panose="020B0600000101010101" pitchFamily="34" charset="-127"/>
              </a:rPr>
              <a:t>Use of parallel processing</a:t>
            </a:r>
            <a:endParaRPr lang="en-US" altLang="ko-KR" sz="2000">
              <a:ea typeface="굴림" panose="020B0600000101010101" pitchFamily="34" charset="-127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>
                <a:ea typeface="굴림" panose="020B0600000101010101" pitchFamily="34" charset="-127"/>
              </a:rPr>
              <a:t>Sampling the transaction databases</a:t>
            </a:r>
            <a:endParaRPr lang="en-US" altLang="ko-KR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61685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>
            <a:extLst>
              <a:ext uri="{FF2B5EF4-FFF2-40B4-BE49-F238E27FC236}">
                <a16:creationId xmlns:a16="http://schemas.microsoft.com/office/drawing/2014/main" id="{86FB3AAF-0566-6C11-626D-DC11AE84F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ARM Issues in Practice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102402" name="Picture 7" descr="JCU_Logo_RGB.jpg">
            <a:extLst>
              <a:ext uri="{FF2B5EF4-FFF2-40B4-BE49-F238E27FC236}">
                <a16:creationId xmlns:a16="http://schemas.microsoft.com/office/drawing/2014/main" id="{6F7779C5-1B98-54E4-651E-3B3DC95E72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3" name="Line 9">
            <a:extLst>
              <a:ext uri="{FF2B5EF4-FFF2-40B4-BE49-F238E27FC236}">
                <a16:creationId xmlns:a16="http://schemas.microsoft.com/office/drawing/2014/main" id="{E03F0437-D368-C0A1-88A3-9D8518DFCA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04" name="Line 10">
            <a:extLst>
              <a:ext uri="{FF2B5EF4-FFF2-40B4-BE49-F238E27FC236}">
                <a16:creationId xmlns:a16="http://schemas.microsoft.com/office/drawing/2014/main" id="{171BD2DB-A5DA-422F-CF18-DACD781552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05" name="Slide Number Placeholder 6">
            <a:extLst>
              <a:ext uri="{FF2B5EF4-FFF2-40B4-BE49-F238E27FC236}">
                <a16:creationId xmlns:a16="http://schemas.microsoft.com/office/drawing/2014/main" id="{ED8C4CEC-D19B-9E1E-8AB6-24C74EB7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B84197-D264-3A4E-8623-A4445519EBB6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2406" name="Rectangle 3">
            <a:extLst>
              <a:ext uri="{FF2B5EF4-FFF2-40B4-BE49-F238E27FC236}">
                <a16:creationId xmlns:a16="http://schemas.microsoft.com/office/drawing/2014/main" id="{4859146A-BC49-E394-FB29-DFA21129B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1913"/>
            <a:ext cx="8164513" cy="5389562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ko-KR" sz="2600" b="1">
                <a:ea typeface="굴림" panose="020B0600000101010101" pitchFamily="34" charset="-127"/>
              </a:rPr>
              <a:t>Interactive Discovery</a:t>
            </a:r>
            <a:endParaRPr lang="en-US" altLang="ko-KR" sz="2400" b="1">
              <a:ea typeface="굴림" panose="020B0600000101010101" pitchFamily="34" charset="-127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ko-KR" sz="2400">
                <a:ea typeface="굴림" panose="020B0600000101010101" pitchFamily="34" charset="-127"/>
              </a:rPr>
              <a:t>In ARM, the user plays an important role in the process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>
                <a:ea typeface="굴림" panose="020B0600000101010101" pitchFamily="34" charset="-127"/>
                <a:sym typeface="Wingdings" pitchFamily="2" charset="2"/>
              </a:rPr>
              <a:t>The user is responsible for setting the initial minimum support and confidence thresholds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>
                <a:ea typeface="굴림" panose="020B0600000101010101" pitchFamily="34" charset="-127"/>
                <a:sym typeface="Wingdings" pitchFamily="2" charset="2"/>
              </a:rPr>
              <a:t>During the discovery, the user may decide to further fine-tune the thresholds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>
                <a:ea typeface="굴림" panose="020B0600000101010101" pitchFamily="34" charset="-127"/>
                <a:sym typeface="Wingdings" pitchFamily="2" charset="2"/>
              </a:rPr>
              <a:t>The user can specify what items are to appear on either or both sides of the resulting rules. (for different purposes)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ko-KR" sz="2000">
                <a:ea typeface="굴림" panose="020B0600000101010101" pitchFamily="34" charset="-127"/>
                <a:sym typeface="Wingdings" pitchFamily="2" charset="2"/>
              </a:rPr>
              <a:t>(e.g.)  {X} -&gt; {nappies}  or {nappies} -&gt; {X}  or {Bear} -&gt; {nappies}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ko-KR" sz="2400">
                <a:ea typeface="굴림" panose="020B0600000101010101" pitchFamily="34" charset="-127"/>
                <a:sym typeface="Wingdings" pitchFamily="2" charset="2"/>
              </a:rPr>
              <a:t>The user can exploit a category hierarchy of some kind among items.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ko-KR" sz="2000">
                <a:ea typeface="굴림" panose="020B0600000101010101" pitchFamily="34" charset="-127"/>
                <a:sym typeface="Wingdings" pitchFamily="2" charset="2"/>
              </a:rPr>
              <a:t>(e.g.) Instead of “Bread  Coke”, “Bakery products” -&gt; “Soft drinks”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altLang="ko-KR" sz="2000">
              <a:ea typeface="굴림" panose="020B0600000101010101" pitchFamily="34" charset="-127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endParaRPr lang="en-US" altLang="ko-KR"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2335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3">
            <a:extLst>
              <a:ext uri="{FF2B5EF4-FFF2-40B4-BE49-F238E27FC236}">
                <a16:creationId xmlns:a16="http://schemas.microsoft.com/office/drawing/2014/main" id="{1A6575BB-9775-AFDC-3270-14939BEE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373188"/>
            <a:ext cx="7924800" cy="5105400"/>
          </a:xfrm>
        </p:spPr>
        <p:txBody>
          <a:bodyPr/>
          <a:lstStyle/>
          <a:p>
            <a:pPr>
              <a:lnSpc>
                <a:spcPct val="170000"/>
              </a:lnSpc>
            </a:pPr>
            <a:r>
              <a:rPr lang="en-US" altLang="ko-KR">
                <a:ea typeface="굴림" panose="020B0600000101010101" pitchFamily="34" charset="-127"/>
              </a:rPr>
              <a:t>Mining multilevel association</a:t>
            </a:r>
          </a:p>
          <a:p>
            <a:pPr>
              <a:lnSpc>
                <a:spcPct val="170000"/>
              </a:lnSpc>
            </a:pPr>
            <a:r>
              <a:rPr lang="en-US" altLang="ko-KR">
                <a:ea typeface="굴림" panose="020B0600000101010101" pitchFamily="34" charset="-127"/>
              </a:rPr>
              <a:t>Mining quantitative association </a:t>
            </a:r>
          </a:p>
          <a:p>
            <a:pPr>
              <a:lnSpc>
                <a:spcPct val="170000"/>
              </a:lnSpc>
            </a:pPr>
            <a:r>
              <a:rPr lang="en-US" altLang="ko-KR">
                <a:ea typeface="굴림" panose="020B0600000101010101" pitchFamily="34" charset="-127"/>
              </a:rPr>
              <a:t>Mining interesting correlation patterns</a:t>
            </a:r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F3677B08-044C-F2E6-16A8-D69EF63882F1}"/>
              </a:ext>
            </a:extLst>
          </p:cNvPr>
          <p:cNvSpPr txBox="1">
            <a:spLocks/>
          </p:cNvSpPr>
          <p:nvPr/>
        </p:nvSpPr>
        <p:spPr bwMode="auto">
          <a:xfrm>
            <a:off x="533400" y="468313"/>
            <a:ext cx="666273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4400">
                <a:solidFill>
                  <a:srgbClr val="0066B3"/>
                </a:solidFill>
                <a:latin typeface="Times" pitchFamily="-84" charset="0"/>
              </a:rPr>
              <a:t>Various Association Rules</a:t>
            </a:r>
            <a:endParaRPr lang="en-US" altLang="en-US" sz="4400">
              <a:solidFill>
                <a:srgbClr val="0066B3"/>
              </a:solidFill>
              <a:latin typeface="Times" pitchFamily="-84" charset="0"/>
            </a:endParaRPr>
          </a:p>
        </p:txBody>
      </p:sp>
      <p:pic>
        <p:nvPicPr>
          <p:cNvPr id="104451" name="Picture 7" descr="JCU_Logo_RGB.jpg">
            <a:extLst>
              <a:ext uri="{FF2B5EF4-FFF2-40B4-BE49-F238E27FC236}">
                <a16:creationId xmlns:a16="http://schemas.microsoft.com/office/drawing/2014/main" id="{F0538188-2FAB-28C9-8BB9-0C1D876C4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2" name="Line 9">
            <a:extLst>
              <a:ext uri="{FF2B5EF4-FFF2-40B4-BE49-F238E27FC236}">
                <a16:creationId xmlns:a16="http://schemas.microsoft.com/office/drawing/2014/main" id="{6FD75FD2-8E0B-C376-4438-EEB8C8F7B4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3" name="Line 10">
            <a:extLst>
              <a:ext uri="{FF2B5EF4-FFF2-40B4-BE49-F238E27FC236}">
                <a16:creationId xmlns:a16="http://schemas.microsoft.com/office/drawing/2014/main" id="{3EB07755-04CA-52CD-CDE0-3399E57EA5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4" name="Slide Number Placeholder 6">
            <a:extLst>
              <a:ext uri="{FF2B5EF4-FFF2-40B4-BE49-F238E27FC236}">
                <a16:creationId xmlns:a16="http://schemas.microsoft.com/office/drawing/2014/main" id="{85C3913B-2204-9287-B4BF-D0DBCB593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FF7C24-2C9D-C24B-BE08-761B39854F22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207431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3">
            <a:extLst>
              <a:ext uri="{FF2B5EF4-FFF2-40B4-BE49-F238E27FC236}">
                <a16:creationId xmlns:a16="http://schemas.microsoft.com/office/drawing/2014/main" id="{22144446-AA4E-A147-087D-516592C7D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371600"/>
            <a:ext cx="7848600" cy="2362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2400">
                <a:ea typeface="굴림" panose="020B0600000101010101" pitchFamily="34" charset="-127"/>
              </a:rPr>
              <a:t>Items often form hierarchies</a:t>
            </a:r>
          </a:p>
          <a:p>
            <a:pPr>
              <a:lnSpc>
                <a:spcPct val="90000"/>
              </a:lnSpc>
            </a:pPr>
            <a:r>
              <a:rPr lang="en-US" altLang="ko-KR" sz="2400">
                <a:ea typeface="굴림" panose="020B0600000101010101" pitchFamily="34" charset="-127"/>
              </a:rPr>
              <a:t>Flexible support settings </a:t>
            </a:r>
          </a:p>
          <a:p>
            <a:pPr lvl="1">
              <a:lnSpc>
                <a:spcPct val="90000"/>
              </a:lnSpc>
            </a:pPr>
            <a:r>
              <a:rPr lang="en-US" altLang="ko-KR" sz="2400">
                <a:ea typeface="굴림" panose="020B0600000101010101" pitchFamily="34" charset="-127"/>
              </a:rPr>
              <a:t>Items at the lower level are expected to have lower support</a:t>
            </a:r>
          </a:p>
        </p:txBody>
      </p:sp>
      <p:grpSp>
        <p:nvGrpSpPr>
          <p:cNvPr id="106498" name="Group 4">
            <a:extLst>
              <a:ext uri="{FF2B5EF4-FFF2-40B4-BE49-F238E27FC236}">
                <a16:creationId xmlns:a16="http://schemas.microsoft.com/office/drawing/2014/main" id="{83334960-60A8-3F30-87CB-7B3A33D6C727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962400"/>
            <a:ext cx="7253288" cy="2249488"/>
            <a:chOff x="384" y="1392"/>
            <a:chExt cx="4569" cy="1230"/>
          </a:xfrm>
        </p:grpSpPr>
        <p:sp>
          <p:nvSpPr>
            <p:cNvPr id="106504" name="Rectangle 5">
              <a:extLst>
                <a:ext uri="{FF2B5EF4-FFF2-40B4-BE49-F238E27FC236}">
                  <a16:creationId xmlns:a16="http://schemas.microsoft.com/office/drawing/2014/main" id="{6B334AA5-2D70-55CC-E550-CEEC0875A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392"/>
              <a:ext cx="15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ko-KR" sz="2000">
                  <a:solidFill>
                    <a:schemeClr val="hlink"/>
                  </a:solidFill>
                  <a:latin typeface="Tahoma" panose="020B0604030504040204" pitchFamily="34" charset="0"/>
                  <a:ea typeface="굴림" panose="020B0600000101010101" pitchFamily="34" charset="-127"/>
                </a:rPr>
                <a:t>uniform support</a:t>
              </a:r>
              <a:endParaRPr lang="en-US" altLang="ko-KR" sz="1800">
                <a:solidFill>
                  <a:schemeClr val="hlink"/>
                </a:solidFill>
                <a:latin typeface="Tahoma" panose="020B0604030504040204" pitchFamily="34" charset="0"/>
                <a:ea typeface="굴림" panose="020B0600000101010101" pitchFamily="34" charset="-127"/>
              </a:endParaRPr>
            </a:p>
          </p:txBody>
        </p:sp>
        <p:sp>
          <p:nvSpPr>
            <p:cNvPr id="106505" name="Text Box 6">
              <a:extLst>
                <a:ext uri="{FF2B5EF4-FFF2-40B4-BE49-F238E27FC236}">
                  <a16:creationId xmlns:a16="http://schemas.microsoft.com/office/drawing/2014/main" id="{EDC4DA7D-51DD-9B01-36B5-858D53C66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776"/>
              <a:ext cx="1200" cy="31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n-US" altLang="ko-KR" sz="1800" b="1">
                  <a:latin typeface="Times New Roman" panose="02020603050405020304" pitchFamily="18" charset="0"/>
                  <a:ea typeface="굴림" panose="020B0600000101010101" pitchFamily="34" charset="-127"/>
                </a:rPr>
                <a:t>Milk</a:t>
              </a:r>
            </a:p>
            <a:p>
              <a:pPr algn="ctr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n-US" altLang="ko-KR" sz="1800" b="1">
                  <a:latin typeface="Times New Roman" panose="02020603050405020304" pitchFamily="18" charset="0"/>
                  <a:ea typeface="굴림" panose="020B0600000101010101" pitchFamily="34" charset="-127"/>
                </a:rPr>
                <a:t>[support = 10%]</a:t>
              </a:r>
            </a:p>
          </p:txBody>
        </p:sp>
        <p:sp>
          <p:nvSpPr>
            <p:cNvPr id="106506" name="Text Box 7">
              <a:extLst>
                <a:ext uri="{FF2B5EF4-FFF2-40B4-BE49-F238E27FC236}">
                  <a16:creationId xmlns:a16="http://schemas.microsoft.com/office/drawing/2014/main" id="{00BC6BBD-9594-FDE2-2F35-D3DE585C8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304"/>
              <a:ext cx="1152" cy="31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n-US" altLang="ko-KR" sz="1800" b="1">
                  <a:latin typeface="Times New Roman" panose="02020603050405020304" pitchFamily="18" charset="0"/>
                  <a:ea typeface="굴림" panose="020B0600000101010101" pitchFamily="34" charset="-127"/>
                </a:rPr>
                <a:t>2% Milk </a:t>
              </a:r>
            </a:p>
            <a:p>
              <a:pPr algn="ctr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n-US" altLang="ko-KR" sz="1800" b="1">
                  <a:latin typeface="Times New Roman" panose="02020603050405020304" pitchFamily="18" charset="0"/>
                  <a:ea typeface="굴림" panose="020B0600000101010101" pitchFamily="34" charset="-127"/>
                </a:rPr>
                <a:t>[support = 6%]</a:t>
              </a:r>
            </a:p>
          </p:txBody>
        </p:sp>
        <p:sp>
          <p:nvSpPr>
            <p:cNvPr id="60427" name="Text Box 8">
              <a:extLst>
                <a:ext uri="{FF2B5EF4-FFF2-40B4-BE49-F238E27FC236}">
                  <a16:creationId xmlns:a16="http://schemas.microsoft.com/office/drawing/2014/main" id="{A27EB52C-B736-033F-80FD-44A21FDA8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304"/>
              <a:ext cx="1104" cy="315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60000"/>
                </a:lnSpc>
                <a:spcBef>
                  <a:spcPct val="50000"/>
                </a:spcBef>
                <a:defRPr/>
              </a:pPr>
              <a:r>
                <a:rPr lang="en-US" sz="1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itchFamily="18" charset="0"/>
                  <a:ea typeface="+mn-ea"/>
                </a:rPr>
                <a:t>Skim Milk </a:t>
              </a:r>
            </a:p>
            <a:p>
              <a:pPr algn="ctr">
                <a:lnSpc>
                  <a:spcPct val="60000"/>
                </a:lnSpc>
                <a:spcBef>
                  <a:spcPct val="50000"/>
                </a:spcBef>
                <a:defRPr/>
              </a:pPr>
              <a:r>
                <a:rPr lang="en-US" sz="1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itchFamily="18" charset="0"/>
                  <a:ea typeface="+mn-ea"/>
                </a:rPr>
                <a:t>[support = 4%]</a:t>
              </a:r>
            </a:p>
          </p:txBody>
        </p:sp>
        <p:sp>
          <p:nvSpPr>
            <p:cNvPr id="106508" name="Text Box 9">
              <a:extLst>
                <a:ext uri="{FF2B5EF4-FFF2-40B4-BE49-F238E27FC236}">
                  <a16:creationId xmlns:a16="http://schemas.microsoft.com/office/drawing/2014/main" id="{3EFCF7AC-CEE0-81D6-917F-E9264383C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680"/>
              <a:ext cx="915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1600" b="1">
                  <a:solidFill>
                    <a:schemeClr val="hlink"/>
                  </a:solidFill>
                  <a:latin typeface="Times New Roman" panose="02020603050405020304" pitchFamily="18" charset="0"/>
                  <a:ea typeface="굴림" panose="020B0600000101010101" pitchFamily="34" charset="-127"/>
                </a:rPr>
                <a:t>Level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1600" b="1">
                  <a:solidFill>
                    <a:schemeClr val="hlink"/>
                  </a:solidFill>
                  <a:latin typeface="Times New Roman" panose="02020603050405020304" pitchFamily="18" charset="0"/>
                  <a:ea typeface="굴림" panose="020B0600000101010101" pitchFamily="34" charset="-127"/>
                </a:rPr>
                <a:t>min_sup = 5%</a:t>
              </a:r>
            </a:p>
          </p:txBody>
        </p:sp>
        <p:sp>
          <p:nvSpPr>
            <p:cNvPr id="106509" name="Text Box 10">
              <a:extLst>
                <a:ext uri="{FF2B5EF4-FFF2-40B4-BE49-F238E27FC236}">
                  <a16:creationId xmlns:a16="http://schemas.microsoft.com/office/drawing/2014/main" id="{B03A0B21-2D6B-D546-E770-8EE760C3F1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304"/>
              <a:ext cx="915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1600" b="1">
                  <a:solidFill>
                    <a:schemeClr val="hlink"/>
                  </a:solidFill>
                  <a:latin typeface="Times New Roman" panose="02020603050405020304" pitchFamily="18" charset="0"/>
                  <a:ea typeface="굴림" panose="020B0600000101010101" pitchFamily="34" charset="-127"/>
                </a:rPr>
                <a:t>Level 2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1600" b="1">
                  <a:solidFill>
                    <a:schemeClr val="hlink"/>
                  </a:solidFill>
                  <a:latin typeface="Times New Roman" panose="02020603050405020304" pitchFamily="18" charset="0"/>
                  <a:ea typeface="굴림" panose="020B0600000101010101" pitchFamily="34" charset="-127"/>
                </a:rPr>
                <a:t>min_sup = 5%</a:t>
              </a:r>
            </a:p>
          </p:txBody>
        </p:sp>
        <p:sp>
          <p:nvSpPr>
            <p:cNvPr id="106510" name="Text Box 11">
              <a:extLst>
                <a:ext uri="{FF2B5EF4-FFF2-40B4-BE49-F238E27FC236}">
                  <a16:creationId xmlns:a16="http://schemas.microsoft.com/office/drawing/2014/main" id="{BE49701B-E824-0A6F-A1A5-6F6E3AC1F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776"/>
              <a:ext cx="81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solidFill>
                    <a:schemeClr val="folHlink"/>
                  </a:solidFill>
                  <a:latin typeface="Times New Roman" panose="02020603050405020304" pitchFamily="18" charset="0"/>
                  <a:ea typeface="굴림" panose="020B0600000101010101" pitchFamily="34" charset="-127"/>
                </a:rPr>
                <a:t>Level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solidFill>
                    <a:schemeClr val="folHlink"/>
                  </a:solidFill>
                  <a:latin typeface="Times New Roman" panose="02020603050405020304" pitchFamily="18" charset="0"/>
                  <a:ea typeface="굴림" panose="020B0600000101010101" pitchFamily="34" charset="-127"/>
                </a:rPr>
                <a:t>min_sup = 5%</a:t>
              </a:r>
            </a:p>
          </p:txBody>
        </p:sp>
        <p:sp>
          <p:nvSpPr>
            <p:cNvPr id="106511" name="Text Box 12">
              <a:extLst>
                <a:ext uri="{FF2B5EF4-FFF2-40B4-BE49-F238E27FC236}">
                  <a16:creationId xmlns:a16="http://schemas.microsoft.com/office/drawing/2014/main" id="{DF593F6A-2DBC-3D9C-39CD-B82CEA92B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304"/>
              <a:ext cx="81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solidFill>
                    <a:schemeClr val="folHlink"/>
                  </a:solidFill>
                  <a:latin typeface="Times New Roman" panose="02020603050405020304" pitchFamily="18" charset="0"/>
                  <a:ea typeface="굴림" panose="020B0600000101010101" pitchFamily="34" charset="-127"/>
                </a:rPr>
                <a:t>Level 2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solidFill>
                    <a:schemeClr val="folHlink"/>
                  </a:solidFill>
                  <a:latin typeface="Times New Roman" panose="02020603050405020304" pitchFamily="18" charset="0"/>
                  <a:ea typeface="굴림" panose="020B0600000101010101" pitchFamily="34" charset="-127"/>
                </a:rPr>
                <a:t>min_sup = 3%</a:t>
              </a:r>
            </a:p>
          </p:txBody>
        </p:sp>
        <p:sp>
          <p:nvSpPr>
            <p:cNvPr id="106512" name="Rectangle 13">
              <a:extLst>
                <a:ext uri="{FF2B5EF4-FFF2-40B4-BE49-F238E27FC236}">
                  <a16:creationId xmlns:a16="http://schemas.microsoft.com/office/drawing/2014/main" id="{15B0C728-90C6-3203-EB7B-B8C9DA2AE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92"/>
              <a:ext cx="14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800">
                  <a:solidFill>
                    <a:schemeClr val="folHlink"/>
                  </a:solidFill>
                  <a:latin typeface="Tahoma" panose="020B0604030504040204" pitchFamily="34" charset="0"/>
                  <a:ea typeface="굴림" panose="020B0600000101010101" pitchFamily="34" charset="-127"/>
                </a:rPr>
                <a:t>reduced support</a:t>
              </a:r>
            </a:p>
          </p:txBody>
        </p:sp>
        <p:cxnSp>
          <p:nvCxnSpPr>
            <p:cNvPr id="106513" name="AutoShape 14">
              <a:extLst>
                <a:ext uri="{FF2B5EF4-FFF2-40B4-BE49-F238E27FC236}">
                  <a16:creationId xmlns:a16="http://schemas.microsoft.com/office/drawing/2014/main" id="{81D22116-AFFD-03C1-4DCA-3C35E6C2485D}"/>
                </a:ext>
              </a:extLst>
            </p:cNvPr>
            <p:cNvCxnSpPr>
              <a:cxnSpLocks noChangeShapeType="1"/>
              <a:stCxn id="106505" idx="2"/>
              <a:endCxn id="106506" idx="0"/>
            </p:cNvCxnSpPr>
            <p:nvPr/>
          </p:nvCxnSpPr>
          <p:spPr bwMode="auto">
            <a:xfrm flipH="1">
              <a:off x="2112" y="2135"/>
              <a:ext cx="600" cy="1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6514" name="AutoShape 15">
              <a:extLst>
                <a:ext uri="{FF2B5EF4-FFF2-40B4-BE49-F238E27FC236}">
                  <a16:creationId xmlns:a16="http://schemas.microsoft.com/office/drawing/2014/main" id="{095A1C10-6BA6-14AF-782E-16E50E05AD1A}"/>
                </a:ext>
              </a:extLst>
            </p:cNvPr>
            <p:cNvCxnSpPr>
              <a:cxnSpLocks noChangeShapeType="1"/>
              <a:stCxn id="106505" idx="2"/>
              <a:endCxn id="60427" idx="0"/>
            </p:cNvCxnSpPr>
            <p:nvPr/>
          </p:nvCxnSpPr>
          <p:spPr bwMode="auto">
            <a:xfrm rot="16200000" flipH="1">
              <a:off x="2916" y="1883"/>
              <a:ext cx="217" cy="6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EBFEA748-13D6-18AB-3FE5-C2D7526AA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Multi-level ARM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106500" name="Picture 7" descr="JCU_Logo_RGB.jpg">
            <a:extLst>
              <a:ext uri="{FF2B5EF4-FFF2-40B4-BE49-F238E27FC236}">
                <a16:creationId xmlns:a16="http://schemas.microsoft.com/office/drawing/2014/main" id="{E8A36F3E-8793-351B-4653-BDB228E6B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1" name="Line 9">
            <a:extLst>
              <a:ext uri="{FF2B5EF4-FFF2-40B4-BE49-F238E27FC236}">
                <a16:creationId xmlns:a16="http://schemas.microsoft.com/office/drawing/2014/main" id="{B2E950DC-E6E9-08EA-19EE-0DFE67E4C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02" name="Line 10">
            <a:extLst>
              <a:ext uri="{FF2B5EF4-FFF2-40B4-BE49-F238E27FC236}">
                <a16:creationId xmlns:a16="http://schemas.microsoft.com/office/drawing/2014/main" id="{A36D28E1-51B6-E073-48DC-C3878A4A84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03" name="Slide Number Placeholder 6">
            <a:extLst>
              <a:ext uri="{FF2B5EF4-FFF2-40B4-BE49-F238E27FC236}">
                <a16:creationId xmlns:a16="http://schemas.microsoft.com/office/drawing/2014/main" id="{4D8181B8-8870-7101-14C2-96B72376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7C9BF7-DE3F-2A46-B700-07F2A6793AA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705633"/>
      </p:ext>
    </p:extLst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3">
            <a:extLst>
              <a:ext uri="{FF2B5EF4-FFF2-40B4-BE49-F238E27FC236}">
                <a16:creationId xmlns:a16="http://schemas.microsoft.com/office/drawing/2014/main" id="{1C78DC85-CDE7-97EB-9DCC-6B4C738D9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447800"/>
            <a:ext cx="7848600" cy="48148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sz="2400">
                <a:ea typeface="굴림" panose="020B0600000101010101" pitchFamily="34" charset="-127"/>
              </a:rPr>
              <a:t>Some rules may be redundant due to “ancestor” relationships between items.</a:t>
            </a:r>
          </a:p>
          <a:p>
            <a:pPr>
              <a:lnSpc>
                <a:spcPct val="120000"/>
              </a:lnSpc>
            </a:pPr>
            <a:r>
              <a:rPr lang="en-US" altLang="ko-KR" sz="2400">
                <a:ea typeface="굴림" panose="020B0600000101010101" pitchFamily="34" charset="-127"/>
              </a:rPr>
              <a:t>Example</a:t>
            </a:r>
          </a:p>
          <a:p>
            <a:pPr lvl="1">
              <a:lnSpc>
                <a:spcPct val="120000"/>
              </a:lnSpc>
            </a:pPr>
            <a:r>
              <a:rPr lang="en-US" altLang="ko-KR" sz="2400">
                <a:solidFill>
                  <a:schemeClr val="folHlink"/>
                </a:solidFill>
                <a:ea typeface="굴림" panose="020B0600000101010101" pitchFamily="34" charset="-127"/>
              </a:rPr>
              <a:t>milk </a:t>
            </a:r>
            <a:r>
              <a:rPr lang="en-US" altLang="ko-KR" sz="2400">
                <a:solidFill>
                  <a:schemeClr val="folHlink"/>
                </a:solidFill>
                <a:ea typeface="굴림" panose="020B0600000101010101" pitchFamily="34" charset="-127"/>
                <a:sym typeface="Symbol" pitchFamily="2" charset="2"/>
              </a:rPr>
              <a:t> wheat bread    </a:t>
            </a:r>
            <a:r>
              <a:rPr lang="en-US" altLang="ko-KR" sz="2000">
                <a:solidFill>
                  <a:schemeClr val="folHlink"/>
                </a:solidFill>
                <a:ea typeface="굴림" panose="020B0600000101010101" pitchFamily="34" charset="-127"/>
                <a:sym typeface="Symbol" pitchFamily="2" charset="2"/>
              </a:rPr>
              <a:t>[support = 8%, confidence = 70%]</a:t>
            </a:r>
            <a:endParaRPr lang="en-US" altLang="ko-KR" sz="2400">
              <a:ea typeface="굴림" panose="020B0600000101010101" pitchFamily="34" charset="-127"/>
              <a:sym typeface="Symbol" pitchFamily="2" charset="2"/>
            </a:endParaRPr>
          </a:p>
          <a:p>
            <a:pPr lvl="1">
              <a:lnSpc>
                <a:spcPct val="120000"/>
              </a:lnSpc>
            </a:pPr>
            <a:r>
              <a:rPr lang="en-US" altLang="ko-KR" sz="2400">
                <a:solidFill>
                  <a:schemeClr val="folHlink"/>
                </a:solidFill>
                <a:ea typeface="굴림" panose="020B0600000101010101" pitchFamily="34" charset="-127"/>
                <a:sym typeface="Symbol" pitchFamily="2" charset="2"/>
              </a:rPr>
              <a:t>2% milk  wheat bread </a:t>
            </a:r>
            <a:r>
              <a:rPr lang="en-US" altLang="ko-KR" sz="2000">
                <a:solidFill>
                  <a:schemeClr val="folHlink"/>
                </a:solidFill>
                <a:ea typeface="굴림" panose="020B0600000101010101" pitchFamily="34" charset="-127"/>
                <a:sym typeface="Symbol" pitchFamily="2" charset="2"/>
              </a:rPr>
              <a:t>[support = 2%, confidence = 72%]</a:t>
            </a:r>
          </a:p>
          <a:p>
            <a:pPr>
              <a:lnSpc>
                <a:spcPct val="120000"/>
              </a:lnSpc>
            </a:pPr>
            <a:r>
              <a:rPr lang="en-US" altLang="ko-KR" sz="2400">
                <a:ea typeface="굴림" panose="020B0600000101010101" pitchFamily="34" charset="-127"/>
                <a:sym typeface="Symbol" pitchFamily="2" charset="2"/>
              </a:rPr>
              <a:t>We say the first rule is an ancestor of the second rule.</a:t>
            </a:r>
          </a:p>
          <a:p>
            <a:pPr>
              <a:lnSpc>
                <a:spcPct val="120000"/>
              </a:lnSpc>
            </a:pPr>
            <a:r>
              <a:rPr lang="en-US" altLang="ko-KR" sz="2400">
                <a:ea typeface="굴림" panose="020B0600000101010101" pitchFamily="34" charset="-127"/>
              </a:rPr>
              <a:t>A rule is redundant if its support is close to the “expected” value, based on the rule’s ancestor.</a:t>
            </a:r>
            <a:endParaRPr lang="en-US" altLang="ko-KR" sz="2400">
              <a:ea typeface="굴림" panose="020B0600000101010101" pitchFamily="34" charset="-127"/>
              <a:sym typeface="Symbol" pitchFamily="2" charset="2"/>
            </a:endParaRPr>
          </a:p>
        </p:txBody>
      </p:sp>
      <p:sp>
        <p:nvSpPr>
          <p:cNvPr id="1188868" name="Rectangle 4">
            <a:extLst>
              <a:ext uri="{FF2B5EF4-FFF2-40B4-BE49-F238E27FC236}">
                <a16:creationId xmlns:a16="http://schemas.microsoft.com/office/drawing/2014/main" id="{777E0BC3-EA7A-F97A-81C5-297902ABE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410200"/>
            <a:ext cx="8382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ko-KR" altLang="en-AU" sz="2800">
              <a:latin typeface="Tahoma" panose="020B0604030504040204" pitchFamily="34" charset="0"/>
              <a:ea typeface="굴림" panose="020B0600000101010101" pitchFamily="34" charset="-127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0AFAED7-7335-42F2-8CC9-04458C674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MARM: Redundancy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108548" name="Picture 7" descr="JCU_Logo_RGB.jpg">
            <a:extLst>
              <a:ext uri="{FF2B5EF4-FFF2-40B4-BE49-F238E27FC236}">
                <a16:creationId xmlns:a16="http://schemas.microsoft.com/office/drawing/2014/main" id="{FB30D0DF-6E02-8BDB-0A70-EE6637F70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49" name="Line 9">
            <a:extLst>
              <a:ext uri="{FF2B5EF4-FFF2-40B4-BE49-F238E27FC236}">
                <a16:creationId xmlns:a16="http://schemas.microsoft.com/office/drawing/2014/main" id="{36152D69-0BEA-03ED-0B14-C8CDC67F08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0" name="Line 10">
            <a:extLst>
              <a:ext uri="{FF2B5EF4-FFF2-40B4-BE49-F238E27FC236}">
                <a16:creationId xmlns:a16="http://schemas.microsoft.com/office/drawing/2014/main" id="{49C22919-B4DB-0C74-86E9-8E3296647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1" name="Slide Number Placeholder 6">
            <a:extLst>
              <a:ext uri="{FF2B5EF4-FFF2-40B4-BE49-F238E27FC236}">
                <a16:creationId xmlns:a16="http://schemas.microsoft.com/office/drawing/2014/main" id="{33ADAF51-B515-4F45-8AF8-540982E5C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224D59-FB65-E141-AD17-5995F070A787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8697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8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8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868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593" name="Object 2">
            <a:extLst>
              <a:ext uri="{FF2B5EF4-FFF2-40B4-BE49-F238E27FC236}">
                <a16:creationId xmlns:a16="http://schemas.microsoft.com/office/drawing/2014/main" id="{19DC9FD8-FEAD-D57C-9F6A-179550587C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3352800"/>
          <a:ext cx="4306888" cy="267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686050" imgH="1492250" progId="Photoshop.Image.5">
                  <p:embed/>
                </p:oleObj>
              </mc:Choice>
              <mc:Fallback>
                <p:oleObj name="Image" r:id="rId3" imgW="2686050" imgH="1492250" progId="Photoshop.Image.5">
                  <p:embed/>
                  <p:pic>
                    <p:nvPicPr>
                      <p:cNvPr id="110593" name="Object 2">
                        <a:extLst>
                          <a:ext uri="{FF2B5EF4-FFF2-40B4-BE49-F238E27FC236}">
                            <a16:creationId xmlns:a16="http://schemas.microsoft.com/office/drawing/2014/main" id="{19DC9FD8-FEAD-D57C-9F6A-179550587C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352800"/>
                        <a:ext cx="4306888" cy="267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4" name="Text Box 4">
            <a:extLst>
              <a:ext uri="{FF2B5EF4-FFF2-40B4-BE49-F238E27FC236}">
                <a16:creationId xmlns:a16="http://schemas.microsoft.com/office/drawing/2014/main" id="{B4753D98-8E0E-8D6B-4D42-BD73987BB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590800"/>
            <a:ext cx="3810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>
                <a:solidFill>
                  <a:schemeClr val="folHlink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age(X,”34-35”) </a:t>
            </a:r>
            <a:r>
              <a:rPr lang="en-US" altLang="ko-KR" sz="1600" b="1">
                <a:solidFill>
                  <a:schemeClr val="folHlink"/>
                </a:solidFill>
                <a:latin typeface="Times New Roman" panose="02020603050405020304" pitchFamily="18" charset="0"/>
                <a:ea typeface="굴림" panose="020B0600000101010101" pitchFamily="34" charset="-127"/>
                <a:sym typeface="Symbol" pitchFamily="2" charset="2"/>
              </a:rPr>
              <a:t> income(X,”30-50K”)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1600" b="1">
                <a:solidFill>
                  <a:schemeClr val="folHlink"/>
                </a:solidFill>
                <a:latin typeface="Times New Roman" panose="02020603050405020304" pitchFamily="18" charset="0"/>
                <a:ea typeface="굴림" panose="020B0600000101010101" pitchFamily="34" charset="-127"/>
                <a:sym typeface="Symbol" pitchFamily="2" charset="2"/>
              </a:rPr>
              <a:t>       buys(X,”high resolution TV”)</a:t>
            </a:r>
            <a:endParaRPr lang="en-US" altLang="ko-KR" sz="1600">
              <a:solidFill>
                <a:schemeClr val="folHlink"/>
              </a:solidFill>
              <a:latin typeface="Times New Roman" panose="02020603050405020304" pitchFamily="18" charset="0"/>
              <a:ea typeface="굴림" panose="020B0600000101010101" pitchFamily="34" charset="-127"/>
              <a:sym typeface="Symbol" pitchFamily="2" charset="2"/>
            </a:endParaRPr>
          </a:p>
        </p:txBody>
      </p:sp>
      <p:sp>
        <p:nvSpPr>
          <p:cNvPr id="110595" name="Rectangle 5">
            <a:extLst>
              <a:ext uri="{FF2B5EF4-FFF2-40B4-BE49-F238E27FC236}">
                <a16:creationId xmlns:a16="http://schemas.microsoft.com/office/drawing/2014/main" id="{B442FD6F-430A-8442-8684-1C4CD721F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371600"/>
            <a:ext cx="77724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ko-KR" sz="2000">
                <a:latin typeface="Tahoma" panose="020B0604030504040204" pitchFamily="34" charset="0"/>
                <a:ea typeface="굴림" panose="020B0600000101010101" pitchFamily="34" charset="-127"/>
              </a:rPr>
              <a:t>Numeric attributes are discretized</a:t>
            </a: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ko-KR" sz="2000">
                <a:latin typeface="Tahoma" panose="020B0604030504040204" pitchFamily="34" charset="0"/>
                <a:ea typeface="굴림" panose="020B0600000101010101" pitchFamily="34" charset="-127"/>
              </a:rPr>
              <a:t>2-D quantitative association rules: A</a:t>
            </a:r>
            <a:r>
              <a:rPr lang="en-US" altLang="ko-KR" sz="2000" baseline="-25000">
                <a:latin typeface="Tahoma" panose="020B0604030504040204" pitchFamily="34" charset="0"/>
                <a:ea typeface="굴림" panose="020B0600000101010101" pitchFamily="34" charset="-127"/>
              </a:rPr>
              <a:t>quan1</a:t>
            </a:r>
            <a:r>
              <a:rPr lang="en-US" altLang="ko-KR" sz="2000">
                <a:latin typeface="Tahoma" panose="020B0604030504040204" pitchFamily="34" charset="0"/>
                <a:ea typeface="굴림" panose="020B0600000101010101" pitchFamily="34" charset="-127"/>
              </a:rPr>
              <a:t> </a:t>
            </a:r>
            <a:r>
              <a:rPr lang="en-US" altLang="ko-KR" sz="2000">
                <a:latin typeface="Tahoma" panose="020B0604030504040204" pitchFamily="34" charset="0"/>
                <a:ea typeface="굴림" panose="020B0600000101010101" pitchFamily="34" charset="-127"/>
                <a:sym typeface="Symbol" pitchFamily="2" charset="2"/>
              </a:rPr>
              <a:t> A</a:t>
            </a:r>
            <a:r>
              <a:rPr lang="en-US" altLang="ko-KR" sz="2000" baseline="-25000">
                <a:latin typeface="Tahoma" panose="020B0604030504040204" pitchFamily="34" charset="0"/>
                <a:ea typeface="굴림" panose="020B0600000101010101" pitchFamily="34" charset="-127"/>
                <a:sym typeface="Symbol" pitchFamily="2" charset="2"/>
              </a:rPr>
              <a:t>quan2 </a:t>
            </a:r>
            <a:r>
              <a:rPr lang="en-US" altLang="ko-KR" sz="2000">
                <a:latin typeface="Tahoma" panose="020B0604030504040204" pitchFamily="34" charset="0"/>
                <a:ea typeface="굴림" panose="020B0600000101010101" pitchFamily="34" charset="-127"/>
                <a:sym typeface="Symbol" pitchFamily="2" charset="2"/>
              </a:rPr>
              <a:t> A</a:t>
            </a:r>
            <a:r>
              <a:rPr lang="en-US" altLang="ko-KR" sz="2000" baseline="-25000">
                <a:latin typeface="Tahoma" panose="020B0604030504040204" pitchFamily="34" charset="0"/>
                <a:ea typeface="굴림" panose="020B0600000101010101" pitchFamily="34" charset="-127"/>
                <a:sym typeface="Symbol" pitchFamily="2" charset="2"/>
              </a:rPr>
              <a:t>cat</a:t>
            </a:r>
            <a:endParaRPr lang="en-US" altLang="ko-KR" sz="2000">
              <a:latin typeface="Tahoma" panose="020B0604030504040204" pitchFamily="34" charset="0"/>
              <a:ea typeface="굴림" panose="020B0600000101010101" pitchFamily="34" charset="-127"/>
            </a:endParaRP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ko-KR" sz="2000">
                <a:latin typeface="Tahoma" panose="020B0604030504040204" pitchFamily="34" charset="0"/>
                <a:ea typeface="굴림" panose="020B0600000101010101" pitchFamily="34" charset="-127"/>
              </a:rPr>
              <a:t>Example</a:t>
            </a:r>
          </a:p>
        </p:txBody>
      </p:sp>
      <p:sp>
        <p:nvSpPr>
          <p:cNvPr id="110596" name="Rectangle 2">
            <a:extLst>
              <a:ext uri="{FF2B5EF4-FFF2-40B4-BE49-F238E27FC236}">
                <a16:creationId xmlns:a16="http://schemas.microsoft.com/office/drawing/2014/main" id="{02AAC4D5-C78C-C121-4094-CB5DDBB97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Quantitative ARM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110597" name="Picture 7" descr="JCU_Logo_RGB.jpg">
            <a:extLst>
              <a:ext uri="{FF2B5EF4-FFF2-40B4-BE49-F238E27FC236}">
                <a16:creationId xmlns:a16="http://schemas.microsoft.com/office/drawing/2014/main" id="{840F5287-4274-028F-4C2E-3A0E474332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8" name="Line 9">
            <a:extLst>
              <a:ext uri="{FF2B5EF4-FFF2-40B4-BE49-F238E27FC236}">
                <a16:creationId xmlns:a16="http://schemas.microsoft.com/office/drawing/2014/main" id="{EC0148E2-B039-BA42-445D-47F7862DC8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599" name="Line 10">
            <a:extLst>
              <a:ext uri="{FF2B5EF4-FFF2-40B4-BE49-F238E27FC236}">
                <a16:creationId xmlns:a16="http://schemas.microsoft.com/office/drawing/2014/main" id="{C4ED425A-8E20-38AD-F93D-0336DC04E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0" name="Slide Number Placeholder 6">
            <a:extLst>
              <a:ext uri="{FF2B5EF4-FFF2-40B4-BE49-F238E27FC236}">
                <a16:creationId xmlns:a16="http://schemas.microsoft.com/office/drawing/2014/main" id="{9855DCC1-D032-171E-919A-0556D6D77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24FDF4-13CE-8F4A-A7C0-3D95B2DD066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267489"/>
      </p:ext>
    </p:extLst>
  </p:cSld>
  <p:clrMapOvr>
    <a:masterClrMapping/>
  </p:clrMapOvr>
  <p:transition spd="slow" advClick="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>
            <a:extLst>
              <a:ext uri="{FF2B5EF4-FFF2-40B4-BE49-F238E27FC236}">
                <a16:creationId xmlns:a16="http://schemas.microsoft.com/office/drawing/2014/main" id="{603DB2BB-C083-764B-ACA3-F93F8BF43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Interesting Measure: Lift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112642" name="Picture 7" descr="JCU_Logo_RGB.jpg">
            <a:extLst>
              <a:ext uri="{FF2B5EF4-FFF2-40B4-BE49-F238E27FC236}">
                <a16:creationId xmlns:a16="http://schemas.microsoft.com/office/drawing/2014/main" id="{5E487084-3773-70A7-71DD-0AB15810B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43" name="Line 9">
            <a:extLst>
              <a:ext uri="{FF2B5EF4-FFF2-40B4-BE49-F238E27FC236}">
                <a16:creationId xmlns:a16="http://schemas.microsoft.com/office/drawing/2014/main" id="{BD26EC92-34A5-A383-7DA0-12D2A381C1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44" name="Line 10">
            <a:extLst>
              <a:ext uri="{FF2B5EF4-FFF2-40B4-BE49-F238E27FC236}">
                <a16:creationId xmlns:a16="http://schemas.microsoft.com/office/drawing/2014/main" id="{2AA43ADA-47E8-72D9-13CD-D685E7D9B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45" name="Slide Number Placeholder 6">
            <a:extLst>
              <a:ext uri="{FF2B5EF4-FFF2-40B4-BE49-F238E27FC236}">
                <a16:creationId xmlns:a16="http://schemas.microsoft.com/office/drawing/2014/main" id="{17C261AB-912E-1922-D2B6-AC8909F4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4E7B69-F39D-8948-9892-EE4D5E1AA08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12646" name="Rectangle 3">
            <a:extLst>
              <a:ext uri="{FF2B5EF4-FFF2-40B4-BE49-F238E27FC236}">
                <a16:creationId xmlns:a16="http://schemas.microsoft.com/office/drawing/2014/main" id="{9290CDC8-F1B2-74A7-3F2E-63D465D6A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295400"/>
            <a:ext cx="79248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2000" i="1">
                <a:ea typeface="굴림" panose="020B0600000101010101" pitchFamily="34" charset="-127"/>
              </a:rPr>
              <a:t>play basketball</a:t>
            </a:r>
            <a:r>
              <a:rPr lang="en-US" altLang="ko-KR" sz="2000">
                <a:ea typeface="굴림" panose="020B0600000101010101" pitchFamily="34" charset="-127"/>
              </a:rPr>
              <a:t>  </a:t>
            </a:r>
            <a:r>
              <a:rPr lang="en-US" altLang="ko-KR" sz="2000">
                <a:ea typeface="굴림" panose="020B0600000101010101" pitchFamily="34" charset="-127"/>
                <a:sym typeface="Symbol" pitchFamily="2" charset="2"/>
              </a:rPr>
              <a:t> </a:t>
            </a:r>
            <a:r>
              <a:rPr lang="en-US" altLang="ko-KR" sz="2000" i="1">
                <a:ea typeface="굴림" panose="020B0600000101010101" pitchFamily="34" charset="-127"/>
                <a:sym typeface="Symbol" pitchFamily="2" charset="2"/>
              </a:rPr>
              <a:t>eat cereal</a:t>
            </a:r>
            <a:r>
              <a:rPr lang="en-US" altLang="ko-KR" sz="2000">
                <a:ea typeface="굴림" panose="020B0600000101010101" pitchFamily="34" charset="-127"/>
                <a:sym typeface="Symbol" pitchFamily="2" charset="2"/>
              </a:rPr>
              <a:t> [40%, 66.7%]  is misleading</a:t>
            </a:r>
          </a:p>
          <a:p>
            <a:pPr lvl="1">
              <a:lnSpc>
                <a:spcPct val="130000"/>
              </a:lnSpc>
            </a:pPr>
            <a:r>
              <a:rPr lang="en-US" altLang="ko-KR" sz="2000">
                <a:ea typeface="굴림" panose="020B0600000101010101" pitchFamily="34" charset="-127"/>
                <a:sym typeface="Symbol" pitchFamily="2" charset="2"/>
              </a:rPr>
              <a:t>The overall % of students eating cereal is 75% &gt; 66.7%.</a:t>
            </a:r>
          </a:p>
          <a:p>
            <a:pPr>
              <a:lnSpc>
                <a:spcPct val="130000"/>
              </a:lnSpc>
            </a:pPr>
            <a:r>
              <a:rPr lang="en-US" altLang="ko-KR" sz="2000" i="1">
                <a:ea typeface="굴림" panose="020B0600000101010101" pitchFamily="34" charset="-127"/>
              </a:rPr>
              <a:t>play basketball</a:t>
            </a:r>
            <a:r>
              <a:rPr lang="en-US" altLang="ko-KR" sz="2000">
                <a:ea typeface="굴림" panose="020B0600000101010101" pitchFamily="34" charset="-127"/>
              </a:rPr>
              <a:t>  </a:t>
            </a:r>
            <a:r>
              <a:rPr lang="en-US" altLang="ko-KR" sz="2000">
                <a:ea typeface="굴림" panose="020B0600000101010101" pitchFamily="34" charset="-127"/>
                <a:sym typeface="Symbol" pitchFamily="2" charset="2"/>
              </a:rPr>
              <a:t> </a:t>
            </a:r>
            <a:r>
              <a:rPr lang="en-US" altLang="ko-KR" sz="2000" i="1">
                <a:ea typeface="굴림" panose="020B0600000101010101" pitchFamily="34" charset="-127"/>
                <a:sym typeface="Symbol" pitchFamily="2" charset="2"/>
              </a:rPr>
              <a:t>not eat cereal</a:t>
            </a:r>
            <a:r>
              <a:rPr lang="en-US" altLang="ko-KR" sz="2000">
                <a:ea typeface="굴림" panose="020B0600000101010101" pitchFamily="34" charset="-127"/>
                <a:sym typeface="Symbol" pitchFamily="2" charset="2"/>
              </a:rPr>
              <a:t> [20%, 33.3%] is more accurate, although with lower support and confidence</a:t>
            </a:r>
          </a:p>
          <a:p>
            <a:pPr>
              <a:lnSpc>
                <a:spcPct val="130000"/>
              </a:lnSpc>
            </a:pPr>
            <a:r>
              <a:rPr lang="en-US" altLang="ko-KR" sz="2000">
                <a:ea typeface="굴림" panose="020B0600000101010101" pitchFamily="34" charset="-127"/>
                <a:sym typeface="Symbol" pitchFamily="2" charset="2"/>
              </a:rPr>
              <a:t>Measure of dependent/correlated events: </a:t>
            </a:r>
            <a:r>
              <a:rPr lang="en-US" altLang="ko-KR" sz="2000">
                <a:solidFill>
                  <a:schemeClr val="hlink"/>
                </a:solidFill>
                <a:ea typeface="굴림" panose="020B0600000101010101" pitchFamily="34" charset="-127"/>
                <a:sym typeface="Symbol" pitchFamily="2" charset="2"/>
              </a:rPr>
              <a:t>lift</a:t>
            </a:r>
          </a:p>
        </p:txBody>
      </p:sp>
      <p:graphicFrame>
        <p:nvGraphicFramePr>
          <p:cNvPr id="112647" name="Object 2">
            <a:extLst>
              <a:ext uri="{FF2B5EF4-FFF2-40B4-BE49-F238E27FC236}">
                <a16:creationId xmlns:a16="http://schemas.microsoft.com/office/drawing/2014/main" id="{4D8543D9-AEBD-6363-89CB-127C6E011B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5486400"/>
          <a:ext cx="38100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1734700" imgH="9067800" progId="Equation.3">
                  <p:embed/>
                </p:oleObj>
              </mc:Choice>
              <mc:Fallback>
                <p:oleObj name="Equation" r:id="rId4" imgW="61734700" imgH="9067800" progId="Equation.3">
                  <p:embed/>
                  <p:pic>
                    <p:nvPicPr>
                      <p:cNvPr id="112647" name="Object 2">
                        <a:extLst>
                          <a:ext uri="{FF2B5EF4-FFF2-40B4-BE49-F238E27FC236}">
                            <a16:creationId xmlns:a16="http://schemas.microsoft.com/office/drawing/2014/main" id="{4D8543D9-AEBD-6363-89CB-127C6E011B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486400"/>
                        <a:ext cx="381000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Group 4">
            <a:extLst>
              <a:ext uri="{FF2B5EF4-FFF2-40B4-BE49-F238E27FC236}">
                <a16:creationId xmlns:a16="http://schemas.microsoft.com/office/drawing/2014/main" id="{1F6095F7-5248-6307-8F69-9B800A3C3544}"/>
              </a:ext>
            </a:extLst>
          </p:cNvPr>
          <p:cNvGraphicFramePr>
            <a:graphicFrameLocks noGrp="1"/>
          </p:cNvGraphicFramePr>
          <p:nvPr/>
        </p:nvGraphicFramePr>
        <p:xfrm>
          <a:off x="4267200" y="3657600"/>
          <a:ext cx="4648200" cy="1443039"/>
        </p:xfrm>
        <a:graphic>
          <a:graphicData uri="http://schemas.openxmlformats.org/drawingml/2006/table">
            <a:tbl>
              <a:tblPr/>
              <a:tblGrid>
                <a:gridCol w="1084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1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endParaRPr kumimoji="0" lang="ko-KR" alt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굴림" charset="0"/>
                        <a:cs typeface="굴림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Basketball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Not basketball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Sum (row)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Cereal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1750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3750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Not cereal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1250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Sum(col.)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2675" name="Object 3">
                <a:extLst>
                  <a:ext uri="{FF2B5EF4-FFF2-40B4-BE49-F238E27FC236}">
                    <a16:creationId xmlns:a16="http://schemas.microsoft.com/office/drawing/2014/main" id="{65FD229D-D061-BD66-EF36-49981DC6F224}"/>
                  </a:ext>
                </a:extLst>
              </p:cNvPr>
              <p:cNvSpPr txBox="1"/>
              <p:nvPr/>
            </p:nvSpPr>
            <p:spPr bwMode="auto">
              <a:xfrm>
                <a:off x="1447800" y="4038600"/>
                <a:ext cx="2259496" cy="790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A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𝑙𝑖𝑓𝑡</m:t>
                      </m:r>
                      <m:r>
                        <a:rPr lang="en-A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A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A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A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A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A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12675" name="Object 3">
                <a:extLst>
                  <a:ext uri="{FF2B5EF4-FFF2-40B4-BE49-F238E27FC236}">
                    <a16:creationId xmlns:a16="http://schemas.microsoft.com/office/drawing/2014/main" id="{65FD229D-D061-BD66-EF36-49981DC6F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7800" y="4038600"/>
                <a:ext cx="2259496" cy="7905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2676" name="Object 4">
            <a:extLst>
              <a:ext uri="{FF2B5EF4-FFF2-40B4-BE49-F238E27FC236}">
                <a16:creationId xmlns:a16="http://schemas.microsoft.com/office/drawing/2014/main" id="{61EF3CEA-FC01-E739-E9D7-26955FFEB3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5410200"/>
          <a:ext cx="41148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3487300" imgH="9067800" progId="Equation.3">
                  <p:embed/>
                </p:oleObj>
              </mc:Choice>
              <mc:Fallback>
                <p:oleObj name="Equation" r:id="rId7" imgW="63487300" imgH="9067800" progId="Equation.3">
                  <p:embed/>
                  <p:pic>
                    <p:nvPicPr>
                      <p:cNvPr id="112676" name="Object 4">
                        <a:extLst>
                          <a:ext uri="{FF2B5EF4-FFF2-40B4-BE49-F238E27FC236}">
                            <a16:creationId xmlns:a16="http://schemas.microsoft.com/office/drawing/2014/main" id="{61EF3CEA-FC01-E739-E9D7-26955FFEB3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410200"/>
                        <a:ext cx="411480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Click="0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80D2F-6822-1C82-FE25-474F81B4A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5C0D0-3F1A-C48D-7B88-A8C744279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8BD54-B14E-ED6F-C31A-FDC50A239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If lift is close to 1, this indicates that </a:t>
            </a:r>
            <a:r>
              <a:rPr lang="en-AU" i="1" dirty="0"/>
              <a:t>X</a:t>
            </a:r>
            <a:r>
              <a:rPr lang="en-AU" dirty="0"/>
              <a:t> and </a:t>
            </a:r>
            <a:r>
              <a:rPr lang="en-AU" i="1" dirty="0"/>
              <a:t>Y</a:t>
            </a:r>
            <a:r>
              <a:rPr lang="en-AU" dirty="0"/>
              <a:t> are independent of each other, so such rules are </a:t>
            </a:r>
            <a:r>
              <a:rPr lang="en-AU" b="1" dirty="0">
                <a:solidFill>
                  <a:srgbClr val="C00000"/>
                </a:solidFill>
              </a:rPr>
              <a:t>not</a:t>
            </a:r>
            <a:r>
              <a:rPr lang="en-AU" dirty="0"/>
              <a:t> interesting</a:t>
            </a:r>
          </a:p>
          <a:p>
            <a:r>
              <a:rPr lang="en-AU" dirty="0"/>
              <a:t>If lift &lt; 1, </a:t>
            </a:r>
            <a:r>
              <a:rPr lang="en-AU" i="1" dirty="0"/>
              <a:t>X</a:t>
            </a:r>
            <a:r>
              <a:rPr lang="en-AU" dirty="0"/>
              <a:t> and </a:t>
            </a:r>
            <a:r>
              <a:rPr lang="en-AU" i="1" dirty="0"/>
              <a:t>Y</a:t>
            </a:r>
            <a:r>
              <a:rPr lang="en-AU" dirty="0"/>
              <a:t> are </a:t>
            </a:r>
            <a:r>
              <a:rPr lang="en-AU" b="1" dirty="0"/>
              <a:t>negatively correlated</a:t>
            </a:r>
            <a:r>
              <a:rPr lang="en-AU" dirty="0"/>
              <a:t>, the presence of </a:t>
            </a:r>
            <a:r>
              <a:rPr lang="en-AU" i="1" dirty="0"/>
              <a:t>X</a:t>
            </a:r>
            <a:r>
              <a:rPr lang="en-AU" dirty="0"/>
              <a:t> makes </a:t>
            </a:r>
            <a:r>
              <a:rPr lang="en-AU" i="1" dirty="0"/>
              <a:t>Y</a:t>
            </a:r>
            <a:r>
              <a:rPr lang="en-AU" dirty="0"/>
              <a:t> less likely, even if they occur together frequently</a:t>
            </a:r>
          </a:p>
          <a:p>
            <a:r>
              <a:rPr lang="en-AU" dirty="0"/>
              <a:t>If lift &gt; 1, </a:t>
            </a:r>
            <a:r>
              <a:rPr lang="en-AU" i="1" dirty="0"/>
              <a:t>X</a:t>
            </a:r>
            <a:r>
              <a:rPr lang="en-AU" dirty="0"/>
              <a:t> and </a:t>
            </a:r>
            <a:r>
              <a:rPr lang="en-AU" i="1" dirty="0"/>
              <a:t>Y </a:t>
            </a:r>
            <a:r>
              <a:rPr lang="en-AU" dirty="0"/>
              <a:t>are </a:t>
            </a:r>
            <a:r>
              <a:rPr lang="en-AU" b="1" dirty="0"/>
              <a:t>positively correlated</a:t>
            </a:r>
            <a:r>
              <a:rPr lang="en-AU" dirty="0"/>
              <a:t>, the presence of </a:t>
            </a:r>
            <a:r>
              <a:rPr lang="en-AU" i="1" dirty="0"/>
              <a:t>X</a:t>
            </a:r>
            <a:r>
              <a:rPr lang="en-AU" dirty="0"/>
              <a:t> makes </a:t>
            </a:r>
            <a:r>
              <a:rPr lang="en-AU" i="1" dirty="0"/>
              <a:t>Y</a:t>
            </a:r>
            <a:r>
              <a:rPr lang="en-AU" dirty="0"/>
              <a:t> </a:t>
            </a:r>
            <a:r>
              <a:rPr lang="en-AU" b="1" dirty="0"/>
              <a:t>more likely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8A5E4-C734-8817-C82B-198779F5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4ECF0D-3AC4-DEB5-5583-53B710D81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2AEF41-A01D-5746-88AF-F6C772341101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57688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C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FA5E13-644D-7683-B187-73489D01B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3B3AA-405E-B17A-AA4A-AC41CFBDF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47913-96E4-CB24-4762-DF6019733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Given the rule {X}</a:t>
            </a:r>
            <a:r>
              <a:rPr lang="en-AU" dirty="0">
                <a:sym typeface="Wingdings" panose="05000000000000000000" pitchFamily="2" charset="2"/>
              </a:rPr>
              <a:t></a:t>
            </a:r>
            <a:r>
              <a:rPr lang="en-AU" dirty="0"/>
              <a:t>{Y}, how do we calculate</a:t>
            </a:r>
          </a:p>
          <a:p>
            <a:pPr lvl="1"/>
            <a:r>
              <a:rPr lang="en-AU" dirty="0"/>
              <a:t>Support?</a:t>
            </a:r>
          </a:p>
          <a:p>
            <a:pPr lvl="1"/>
            <a:r>
              <a:rPr lang="en-AU" dirty="0"/>
              <a:t>Confidence?</a:t>
            </a:r>
          </a:p>
          <a:p>
            <a:pPr lvl="1"/>
            <a:r>
              <a:rPr lang="en-AU" dirty="0"/>
              <a:t>Lift?</a:t>
            </a:r>
          </a:p>
          <a:p>
            <a:r>
              <a:rPr lang="en-AU" dirty="0"/>
              <a:t>Does the rule {Y}</a:t>
            </a:r>
            <a:r>
              <a:rPr lang="en-AU" dirty="0">
                <a:sym typeface="Wingdings" panose="05000000000000000000" pitchFamily="2" charset="2"/>
              </a:rPr>
              <a:t>{X} have the same confidence as {X}{Y}?</a:t>
            </a:r>
            <a:endParaRPr lang="en-AU" dirty="0"/>
          </a:p>
          <a:p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BD183-973D-4680-D8C9-BE4C0F156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86D913-A3D0-F590-022D-BA844B0C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2AEF41-A01D-5746-88AF-F6C772341101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86268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C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2FE402-161C-9671-4426-7CAFC8C3C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645D-04DE-0894-8693-F6870552A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A959AC-59EE-0CD9-4793-1666ECF198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sz="2800" dirty="0"/>
                  <a:t>Given the rule {X}</a:t>
                </a:r>
                <a:r>
                  <a:rPr lang="en-AU" sz="2800" dirty="0">
                    <a:sym typeface="Wingdings" panose="05000000000000000000" pitchFamily="2" charset="2"/>
                  </a:rPr>
                  <a:t></a:t>
                </a:r>
                <a:r>
                  <a:rPr lang="en-AU" sz="2800" dirty="0"/>
                  <a:t>{Y}, how do we calculate</a:t>
                </a:r>
              </a:p>
              <a:p>
                <a:pPr lvl="1"/>
                <a:r>
                  <a:rPr lang="en-AU" sz="2400" dirty="0"/>
                  <a:t>Support?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A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A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000" dirty="0"/>
                  <a:t>(i.e., frequency/dataset size)</a:t>
                </a:r>
                <a:endParaRPr lang="en-AU" sz="2000" i="1" dirty="0"/>
              </a:p>
              <a:p>
                <a:pPr lvl="1"/>
                <a:r>
                  <a:rPr lang="en-AU" sz="2400" dirty="0"/>
                  <a:t>Confidence?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A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A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A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AU" sz="2000" i="0" dirty="0"/>
                          <m:t> 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AU" sz="2000" dirty="0"/>
              </a:p>
              <a:p>
                <a:pPr lvl="1"/>
                <a:r>
                  <a:rPr lang="en-AU" sz="2400" dirty="0"/>
                  <a:t>Lift?	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A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AU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A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A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A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A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A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A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A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A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AU" sz="2000" dirty="0"/>
              </a:p>
              <a:p>
                <a:r>
                  <a:rPr lang="en-AU" sz="2800" dirty="0"/>
                  <a:t>Does the rule {Y}</a:t>
                </a:r>
                <a:r>
                  <a:rPr lang="en-AU" sz="2800" dirty="0">
                    <a:sym typeface="Wingdings" panose="05000000000000000000" pitchFamily="2" charset="2"/>
                  </a:rPr>
                  <a:t>{X} have the same confidence as {X}{Y}?</a:t>
                </a:r>
              </a:p>
              <a:p>
                <a:pPr lvl="1"/>
                <a:r>
                  <a:rPr lang="en-AU" sz="2400" dirty="0">
                    <a:sym typeface="Wingdings" panose="05000000000000000000" pitchFamily="2" charset="2"/>
                  </a:rPr>
                  <a:t>Not in general</a:t>
                </a:r>
                <a:endParaRPr lang="en-AU" sz="2400" dirty="0"/>
              </a:p>
              <a:p>
                <a:pPr lvl="1"/>
                <a:endParaRPr lang="en-AU" dirty="0"/>
              </a:p>
              <a:p>
                <a:pPr lvl="2"/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A959AC-59EE-0CD9-4793-1666ECF198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752" b="-78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940A2-85CC-BBE8-8681-7F78E3CA7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5439D-DEF0-490E-3597-55B53DE31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2AEF41-A01D-5746-88AF-F6C772341101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84482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C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B4F10-28B6-AB8D-9F55-752EB635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B52B7-912B-08F6-65B0-D68562C1D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800" dirty="0"/>
              <a:t>A dataset contains 10,000 transactions</a:t>
            </a:r>
          </a:p>
          <a:p>
            <a:r>
              <a:rPr lang="en-AU" sz="2800" dirty="0"/>
              <a:t>Frequencies:</a:t>
            </a:r>
          </a:p>
          <a:p>
            <a:pPr lvl="1"/>
            <a:r>
              <a:rPr lang="en-AU" sz="2400" dirty="0"/>
              <a:t>{CPU}: 6,000</a:t>
            </a:r>
          </a:p>
          <a:p>
            <a:pPr lvl="1"/>
            <a:r>
              <a:rPr lang="en-AU" sz="2400" dirty="0"/>
              <a:t>{GPU}: 1,500</a:t>
            </a:r>
          </a:p>
          <a:p>
            <a:pPr lvl="1"/>
            <a:r>
              <a:rPr lang="en-AU" sz="2400" dirty="0"/>
              <a:t>{CPU, GPU}: 1,200</a:t>
            </a:r>
          </a:p>
          <a:p>
            <a:r>
              <a:rPr lang="en-AU" sz="2800" dirty="0"/>
              <a:t>For the rule {CPU}</a:t>
            </a:r>
            <a:r>
              <a:rPr lang="en-AU" sz="2800" dirty="0">
                <a:sym typeface="Wingdings" panose="05000000000000000000" pitchFamily="2" charset="2"/>
              </a:rPr>
              <a:t>{GPU} determine</a:t>
            </a:r>
          </a:p>
          <a:p>
            <a:pPr lvl="1"/>
            <a:r>
              <a:rPr lang="en-AU" sz="2400" dirty="0">
                <a:sym typeface="Wingdings" panose="05000000000000000000" pitchFamily="2" charset="2"/>
              </a:rPr>
              <a:t>Support</a:t>
            </a:r>
          </a:p>
          <a:p>
            <a:pPr lvl="1"/>
            <a:r>
              <a:rPr lang="en-AU" sz="2400" dirty="0">
                <a:sym typeface="Wingdings" panose="05000000000000000000" pitchFamily="2" charset="2"/>
              </a:rPr>
              <a:t>Confidence</a:t>
            </a:r>
          </a:p>
          <a:p>
            <a:pPr lvl="1"/>
            <a:r>
              <a:rPr lang="en-AU" sz="2400" dirty="0">
                <a:sym typeface="Wingdings" panose="05000000000000000000" pitchFamily="2" charset="2"/>
              </a:rPr>
              <a:t>Lift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4A992-DBC1-B62B-2DB4-95893EFDC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CBF562-1E3A-9CC2-3E1D-FAD5E131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2AEF41-A01D-5746-88AF-F6C772341101}" type="slidenum">
              <a:rPr lang="en-US" altLang="en-US" smtClean="0"/>
              <a:pPr>
                <a:defRPr/>
              </a:pPr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08531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C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715BD2-7B01-C82B-F3CF-917C1DC1C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85C20-4B04-7438-1A05-10EC38FFF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77D2A-8CC2-0907-09E7-0492DC62F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400" dirty="0"/>
              <a:t>A dataset contains 10,000 transactions</a:t>
            </a:r>
          </a:p>
          <a:p>
            <a:r>
              <a:rPr lang="en-AU" sz="2400" dirty="0"/>
              <a:t>Frequencies:</a:t>
            </a:r>
          </a:p>
          <a:p>
            <a:pPr lvl="1"/>
            <a:r>
              <a:rPr lang="en-AU" sz="2000" dirty="0"/>
              <a:t>{CPU}: 6,000</a:t>
            </a:r>
          </a:p>
          <a:p>
            <a:pPr lvl="1"/>
            <a:r>
              <a:rPr lang="en-AU" sz="2000" dirty="0"/>
              <a:t>{GPU}: 1,500</a:t>
            </a:r>
          </a:p>
          <a:p>
            <a:pPr lvl="1"/>
            <a:r>
              <a:rPr lang="en-AU" sz="2000" dirty="0"/>
              <a:t>{CPU, GPU}: 1,200</a:t>
            </a:r>
          </a:p>
          <a:p>
            <a:r>
              <a:rPr lang="en-AU" sz="2400" dirty="0"/>
              <a:t>For the rule {CPU}</a:t>
            </a:r>
            <a:r>
              <a:rPr lang="en-AU" sz="2400" dirty="0">
                <a:sym typeface="Wingdings" panose="05000000000000000000" pitchFamily="2" charset="2"/>
              </a:rPr>
              <a:t>{GPU} determine</a:t>
            </a:r>
          </a:p>
          <a:p>
            <a:pPr lvl="1"/>
            <a:r>
              <a:rPr lang="en-AU" sz="2000" dirty="0">
                <a:sym typeface="Wingdings" panose="05000000000000000000" pitchFamily="2" charset="2"/>
              </a:rPr>
              <a:t>Support</a:t>
            </a:r>
          </a:p>
          <a:p>
            <a:pPr lvl="2"/>
            <a:r>
              <a:rPr lang="en-AU" sz="1600" dirty="0">
                <a:sym typeface="Wingdings" panose="05000000000000000000" pitchFamily="2" charset="2"/>
              </a:rPr>
              <a:t>P(CPU and GPU) = 1200/10000 = 12%</a:t>
            </a:r>
          </a:p>
          <a:p>
            <a:pPr lvl="1"/>
            <a:r>
              <a:rPr lang="en-AU" sz="2000" dirty="0">
                <a:sym typeface="Wingdings" panose="05000000000000000000" pitchFamily="2" charset="2"/>
              </a:rPr>
              <a:t>Confidence</a:t>
            </a:r>
          </a:p>
          <a:p>
            <a:pPr lvl="2"/>
            <a:r>
              <a:rPr lang="en-AU" sz="1600" dirty="0">
                <a:sym typeface="Wingdings" panose="05000000000000000000" pitchFamily="2" charset="2"/>
              </a:rPr>
              <a:t>P(CPU and GPU)/P(CPU) = 1200/6000 = 20%</a:t>
            </a:r>
            <a:endParaRPr lang="en-AU" sz="2000" dirty="0">
              <a:sym typeface="Wingdings" panose="05000000000000000000" pitchFamily="2" charset="2"/>
            </a:endParaRPr>
          </a:p>
          <a:p>
            <a:pPr lvl="1"/>
            <a:r>
              <a:rPr lang="en-AU" sz="2000" dirty="0">
                <a:sym typeface="Wingdings" panose="05000000000000000000" pitchFamily="2" charset="2"/>
              </a:rPr>
              <a:t>Lift</a:t>
            </a:r>
          </a:p>
          <a:p>
            <a:pPr lvl="2"/>
            <a:r>
              <a:rPr lang="en-AU" sz="1600" dirty="0">
                <a:sym typeface="Wingdings" panose="05000000000000000000" pitchFamily="2" charset="2"/>
              </a:rPr>
              <a:t>P(CPU and CPU)/P(CPU)P(GPU) = 0.12/(0.6×0.15) = 1.33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04FE3-4F52-2981-56EA-726CDD0AD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CP3300 CP5605 CP5634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152AC7-DED3-51E3-0BA4-192E85CB3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2AEF41-A01D-5746-88AF-F6C772341101}" type="slidenum">
              <a:rPr lang="en-US" altLang="en-US" smtClean="0"/>
              <a:pPr>
                <a:defRPr/>
              </a:pPr>
              <a:t>56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37635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9B0F68ED-991D-9675-36B1-5981BA41B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143000"/>
            <a:ext cx="4997450" cy="612775"/>
          </a:xfrm>
        </p:spPr>
        <p:txBody>
          <a:bodyPr lIns="0" tIns="0" rIns="0" bIns="0" rtlCol="0">
            <a:normAutofit fontScale="90000"/>
          </a:bodyPr>
          <a:lstStyle/>
          <a:p>
            <a:pPr algn="l">
              <a:defRPr/>
            </a:pPr>
            <a:r>
              <a:rPr lang="en-AU" altLang="en-US" dirty="0">
                <a:solidFill>
                  <a:schemeClr val="bg1"/>
                </a:solidFill>
                <a:latin typeface="Times" pitchFamily="2" charset="0"/>
                <a:ea typeface="ＭＳ Ｐゴシック" panose="020B0600070205080204" pitchFamily="34" charset="-128"/>
              </a:rPr>
              <a:t>Think/Pair/Share</a:t>
            </a:r>
            <a:endParaRPr lang="en-US" altLang="en-US" dirty="0">
              <a:solidFill>
                <a:schemeClr val="bg1"/>
              </a:solidFill>
              <a:latin typeface="Times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114691" name="Line 9">
            <a:extLst>
              <a:ext uri="{FF2B5EF4-FFF2-40B4-BE49-F238E27FC236}">
                <a16:creationId xmlns:a16="http://schemas.microsoft.com/office/drawing/2014/main" id="{A3BD5AE0-3FB8-457A-7C94-E7F8913166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754188"/>
            <a:ext cx="6122988" cy="0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692" name="Line 10">
            <a:extLst>
              <a:ext uri="{FF2B5EF4-FFF2-40B4-BE49-F238E27FC236}">
                <a16:creationId xmlns:a16="http://schemas.microsoft.com/office/drawing/2014/main" id="{6433A349-2124-72AC-C78F-C149AF542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797550"/>
            <a:ext cx="6122988" cy="0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693" name="Slide Number Placeholder 6">
            <a:extLst>
              <a:ext uri="{FF2B5EF4-FFF2-40B4-BE49-F238E27FC236}">
                <a16:creationId xmlns:a16="http://schemas.microsoft.com/office/drawing/2014/main" id="{D782279B-D8B6-10C0-A9F1-0FD080BDE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0002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4574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9146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3718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728578-F90D-1542-A6F3-755BA4FBBEE0}" type="slidenum">
              <a:rPr lang="en-US" altLang="en-US" sz="9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graphicFrame>
        <p:nvGraphicFramePr>
          <p:cNvPr id="9" name="Group 4">
            <a:extLst>
              <a:ext uri="{FF2B5EF4-FFF2-40B4-BE49-F238E27FC236}">
                <a16:creationId xmlns:a16="http://schemas.microsoft.com/office/drawing/2014/main" id="{7B00D0C0-0CB0-648C-FCEF-4304E597CEAF}"/>
              </a:ext>
            </a:extLst>
          </p:cNvPr>
          <p:cNvGraphicFramePr>
            <a:graphicFrameLocks noGrp="1"/>
          </p:cNvGraphicFramePr>
          <p:nvPr/>
        </p:nvGraphicFramePr>
        <p:xfrm>
          <a:off x="1819275" y="2141538"/>
          <a:ext cx="1714500" cy="1127264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Items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A,B,C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B,C,D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A,C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4711" name="Rectangle 3">
            <a:extLst>
              <a:ext uri="{FF2B5EF4-FFF2-40B4-BE49-F238E27FC236}">
                <a16:creationId xmlns:a16="http://schemas.microsoft.com/office/drawing/2014/main" id="{EFF03C4D-828F-203D-A32C-E2D5E49BA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150" y="2020888"/>
            <a:ext cx="3498850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ko-KR" sz="1800">
                <a:solidFill>
                  <a:schemeClr val="bg1"/>
                </a:solidFill>
                <a:ea typeface="굴림" panose="020B0600000101010101" pitchFamily="34" charset="-127"/>
              </a:rPr>
              <a:t>Give minimum support = 2 and minimum confidence = 90%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solidFill>
                  <a:schemeClr val="bg1"/>
                </a:solidFill>
                <a:ea typeface="굴림" panose="020B0600000101010101" pitchFamily="34" charset="-127"/>
              </a:rPr>
              <a:t>Find all frequent patterns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solidFill>
                  <a:schemeClr val="bg1"/>
                </a:solidFill>
                <a:ea typeface="굴림" panose="020B0600000101010101" pitchFamily="34" charset="-127"/>
              </a:rPr>
              <a:t>Find all closed patterns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solidFill>
                  <a:schemeClr val="bg1"/>
                </a:solidFill>
                <a:ea typeface="굴림" panose="020B0600000101010101" pitchFamily="34" charset="-127"/>
              </a:rPr>
              <a:t>Find all max patterns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solidFill>
                  <a:schemeClr val="bg1"/>
                </a:solidFill>
                <a:ea typeface="굴림" panose="020B0600000101010101" pitchFamily="34" charset="-127"/>
              </a:rPr>
              <a:t>Find all strong rules</a:t>
            </a:r>
          </a:p>
        </p:txBody>
      </p:sp>
    </p:spTree>
    <p:extLst>
      <p:ext uri="{BB962C8B-B14F-4D97-AF65-F5344CB8AC3E}">
        <p14:creationId xmlns:p14="http://schemas.microsoft.com/office/powerpoint/2010/main" val="3491430486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3370E513-4925-EF02-CE53-BBF4ACFFD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143000"/>
            <a:ext cx="4997450" cy="612775"/>
          </a:xfrm>
        </p:spPr>
        <p:txBody>
          <a:bodyPr lIns="0" tIns="0" rIns="0" bIns="0" rtlCol="0">
            <a:normAutofit fontScale="90000"/>
          </a:bodyPr>
          <a:lstStyle/>
          <a:p>
            <a:pPr algn="l">
              <a:defRPr/>
            </a:pPr>
            <a:r>
              <a:rPr lang="en-AU" altLang="en-US">
                <a:solidFill>
                  <a:srgbClr val="0066B3"/>
                </a:solidFill>
                <a:latin typeface="Times" pitchFamily="2" charset="0"/>
                <a:ea typeface="ＭＳ Ｐゴシック" panose="020B0600070205080204" pitchFamily="34" charset="-128"/>
              </a:rPr>
              <a:t>ARM Quiz</a:t>
            </a:r>
            <a:endParaRPr lang="en-US" altLang="en-US">
              <a:solidFill>
                <a:srgbClr val="0066B3"/>
              </a:solidFill>
              <a:latin typeface="Times" pitchFamily="2" charset="0"/>
              <a:ea typeface="ＭＳ Ｐゴシック" panose="020B0600070205080204" pitchFamily="34" charset="-128"/>
            </a:endParaRPr>
          </a:p>
        </p:txBody>
      </p:sp>
      <p:pic>
        <p:nvPicPr>
          <p:cNvPr id="116738" name="Picture 7" descr="JCU_Logo_RGB.jpg">
            <a:extLst>
              <a:ext uri="{FF2B5EF4-FFF2-40B4-BE49-F238E27FC236}">
                <a16:creationId xmlns:a16="http://schemas.microsoft.com/office/drawing/2014/main" id="{D986C129-01BE-1765-6454-982D48B2CC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350" y="1038225"/>
            <a:ext cx="1360488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39" name="Line 9">
            <a:extLst>
              <a:ext uri="{FF2B5EF4-FFF2-40B4-BE49-F238E27FC236}">
                <a16:creationId xmlns:a16="http://schemas.microsoft.com/office/drawing/2014/main" id="{AF100028-397A-B993-314D-77E86A23AF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754188"/>
            <a:ext cx="6122988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0" name="Line 10">
            <a:extLst>
              <a:ext uri="{FF2B5EF4-FFF2-40B4-BE49-F238E27FC236}">
                <a16:creationId xmlns:a16="http://schemas.microsoft.com/office/drawing/2014/main" id="{194B7095-3B78-9A6B-0F2B-99EACD4881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797550"/>
            <a:ext cx="6122988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1" name="Slide Number Placeholder 6">
            <a:extLst>
              <a:ext uri="{FF2B5EF4-FFF2-40B4-BE49-F238E27FC236}">
                <a16:creationId xmlns:a16="http://schemas.microsoft.com/office/drawing/2014/main" id="{B83B82E1-C1B4-B535-2BAB-4E2590938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0002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4574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9146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3718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378CFA-8186-3942-9CCA-B8C60F474A13}" type="slidenum">
              <a:rPr lang="en-US" altLang="en-US" sz="9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graphicFrame>
        <p:nvGraphicFramePr>
          <p:cNvPr id="9" name="Group 4">
            <a:extLst>
              <a:ext uri="{FF2B5EF4-FFF2-40B4-BE49-F238E27FC236}">
                <a16:creationId xmlns:a16="http://schemas.microsoft.com/office/drawing/2014/main" id="{1A671558-BF2A-CD89-79E7-6C5005E70F7E}"/>
              </a:ext>
            </a:extLst>
          </p:cNvPr>
          <p:cNvGraphicFramePr>
            <a:graphicFrameLocks noGrp="1"/>
          </p:cNvGraphicFramePr>
          <p:nvPr/>
        </p:nvGraphicFramePr>
        <p:xfrm>
          <a:off x="1819275" y="2141538"/>
          <a:ext cx="1714500" cy="1127264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A,B,C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B,C,D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A,C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6759" name="Rectangle 3">
            <a:extLst>
              <a:ext uri="{FF2B5EF4-FFF2-40B4-BE49-F238E27FC236}">
                <a16:creationId xmlns:a16="http://schemas.microsoft.com/office/drawing/2014/main" id="{1DABC728-F609-C763-CBDF-CF7DF365C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150" y="2020888"/>
            <a:ext cx="3498850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Give minimum support = 2 and minimum confidence = 90%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Find all frequent patterns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Find all closed patterns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Find all max patterns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Find all strong rules</a:t>
            </a:r>
          </a:p>
        </p:txBody>
      </p:sp>
      <p:graphicFrame>
        <p:nvGraphicFramePr>
          <p:cNvPr id="12" name="Group 4">
            <a:extLst>
              <a:ext uri="{FF2B5EF4-FFF2-40B4-BE49-F238E27FC236}">
                <a16:creationId xmlns:a16="http://schemas.microsoft.com/office/drawing/2014/main" id="{D467FFFF-1169-3CBD-20ED-8A71ABC5C130}"/>
              </a:ext>
            </a:extLst>
          </p:cNvPr>
          <p:cNvGraphicFramePr>
            <a:graphicFrameLocks noGrp="1"/>
          </p:cNvGraphicFramePr>
          <p:nvPr/>
        </p:nvGraphicFramePr>
        <p:xfrm>
          <a:off x="1819275" y="4440238"/>
          <a:ext cx="984250" cy="1127264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6777" name="TextBox 1">
            <a:extLst>
              <a:ext uri="{FF2B5EF4-FFF2-40B4-BE49-F238E27FC236}">
                <a16:creationId xmlns:a16="http://schemas.microsoft.com/office/drawing/2014/main" id="{BBF265B5-A810-F647-C608-EB3877D24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5543550"/>
            <a:ext cx="1473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Frequent 1-itemset</a:t>
            </a:r>
          </a:p>
        </p:txBody>
      </p:sp>
    </p:spTree>
    <p:extLst>
      <p:ext uri="{BB962C8B-B14F-4D97-AF65-F5344CB8AC3E}">
        <p14:creationId xmlns:p14="http://schemas.microsoft.com/office/powerpoint/2010/main" val="4198827236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FE721730-EB24-7376-EA86-E31B6125C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143000"/>
            <a:ext cx="4997450" cy="612775"/>
          </a:xfrm>
        </p:spPr>
        <p:txBody>
          <a:bodyPr lIns="0" tIns="0" rIns="0" bIns="0" rtlCol="0">
            <a:normAutofit fontScale="90000"/>
          </a:bodyPr>
          <a:lstStyle/>
          <a:p>
            <a:pPr algn="l">
              <a:defRPr/>
            </a:pPr>
            <a:r>
              <a:rPr lang="en-AU" altLang="en-US">
                <a:solidFill>
                  <a:srgbClr val="0066B3"/>
                </a:solidFill>
                <a:latin typeface="Times" pitchFamily="2" charset="0"/>
                <a:ea typeface="ＭＳ Ｐゴシック" panose="020B0600070205080204" pitchFamily="34" charset="-128"/>
              </a:rPr>
              <a:t>ARM Quiz</a:t>
            </a:r>
            <a:endParaRPr lang="en-US" altLang="en-US">
              <a:solidFill>
                <a:srgbClr val="0066B3"/>
              </a:solidFill>
              <a:latin typeface="Times" pitchFamily="2" charset="0"/>
              <a:ea typeface="ＭＳ Ｐゴシック" panose="020B0600070205080204" pitchFamily="34" charset="-128"/>
            </a:endParaRPr>
          </a:p>
        </p:txBody>
      </p:sp>
      <p:pic>
        <p:nvPicPr>
          <p:cNvPr id="118786" name="Picture 7" descr="JCU_Logo_RGB.jpg">
            <a:extLst>
              <a:ext uri="{FF2B5EF4-FFF2-40B4-BE49-F238E27FC236}">
                <a16:creationId xmlns:a16="http://schemas.microsoft.com/office/drawing/2014/main" id="{5A8FBAC0-869A-A080-A068-E705CBB00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350" y="1038225"/>
            <a:ext cx="1360488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7" name="Line 9">
            <a:extLst>
              <a:ext uri="{FF2B5EF4-FFF2-40B4-BE49-F238E27FC236}">
                <a16:creationId xmlns:a16="http://schemas.microsoft.com/office/drawing/2014/main" id="{A55A3D99-334F-1017-966F-4F77113DC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754188"/>
            <a:ext cx="6122988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788" name="Line 10">
            <a:extLst>
              <a:ext uri="{FF2B5EF4-FFF2-40B4-BE49-F238E27FC236}">
                <a16:creationId xmlns:a16="http://schemas.microsoft.com/office/drawing/2014/main" id="{93EF3643-B2A1-A18B-59FF-61DD1E901E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797550"/>
            <a:ext cx="6122988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789" name="Slide Number Placeholder 6">
            <a:extLst>
              <a:ext uri="{FF2B5EF4-FFF2-40B4-BE49-F238E27FC236}">
                <a16:creationId xmlns:a16="http://schemas.microsoft.com/office/drawing/2014/main" id="{F7841A97-681E-832F-9EA2-FA6AF2F44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0002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4574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9146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3718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827369-6AB0-2B45-82F6-08127E4A76DB}" type="slidenum">
              <a:rPr lang="en-US" altLang="en-US" sz="9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graphicFrame>
        <p:nvGraphicFramePr>
          <p:cNvPr id="9" name="Group 4">
            <a:extLst>
              <a:ext uri="{FF2B5EF4-FFF2-40B4-BE49-F238E27FC236}">
                <a16:creationId xmlns:a16="http://schemas.microsoft.com/office/drawing/2014/main" id="{8C51CD11-6788-91B9-2B67-B4CC8AD8EB78}"/>
              </a:ext>
            </a:extLst>
          </p:cNvPr>
          <p:cNvGraphicFramePr>
            <a:graphicFrameLocks noGrp="1"/>
          </p:cNvGraphicFramePr>
          <p:nvPr/>
        </p:nvGraphicFramePr>
        <p:xfrm>
          <a:off x="1819275" y="2141538"/>
          <a:ext cx="1714500" cy="1127264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A,B,C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B,C,D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A,C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8807" name="Rectangle 3">
            <a:extLst>
              <a:ext uri="{FF2B5EF4-FFF2-40B4-BE49-F238E27FC236}">
                <a16:creationId xmlns:a16="http://schemas.microsoft.com/office/drawing/2014/main" id="{3537C312-C5B6-6E93-77E8-B2AAF1B79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150" y="2020888"/>
            <a:ext cx="3498850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Give minimum support = 2 and minimum confidence = 90%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Find all frequent patterns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Find all closed patterns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Find all max patterns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Find all strong rules</a:t>
            </a:r>
          </a:p>
        </p:txBody>
      </p:sp>
      <p:graphicFrame>
        <p:nvGraphicFramePr>
          <p:cNvPr id="12" name="Group 4">
            <a:extLst>
              <a:ext uri="{FF2B5EF4-FFF2-40B4-BE49-F238E27FC236}">
                <a16:creationId xmlns:a16="http://schemas.microsoft.com/office/drawing/2014/main" id="{1FA56AA1-49CF-E194-4248-0EFD26A9823D}"/>
              </a:ext>
            </a:extLst>
          </p:cNvPr>
          <p:cNvGraphicFramePr>
            <a:graphicFrameLocks noGrp="1"/>
          </p:cNvGraphicFramePr>
          <p:nvPr/>
        </p:nvGraphicFramePr>
        <p:xfrm>
          <a:off x="1819275" y="4440238"/>
          <a:ext cx="984250" cy="1127264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Group 4">
            <a:extLst>
              <a:ext uri="{FF2B5EF4-FFF2-40B4-BE49-F238E27FC236}">
                <a16:creationId xmlns:a16="http://schemas.microsoft.com/office/drawing/2014/main" id="{95904D47-63A3-2D1B-E606-4BEF373F41F8}"/>
              </a:ext>
            </a:extLst>
          </p:cNvPr>
          <p:cNvGraphicFramePr>
            <a:graphicFrameLocks noGrp="1"/>
          </p:cNvGraphicFramePr>
          <p:nvPr/>
        </p:nvGraphicFramePr>
        <p:xfrm>
          <a:off x="3740150" y="4576763"/>
          <a:ext cx="984250" cy="846138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0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AB</a:t>
                      </a:r>
                    </a:p>
                  </a:txBody>
                  <a:tcPr marL="68580" marR="68580" marT="34280" marB="34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0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AC</a:t>
                      </a:r>
                    </a:p>
                  </a:txBody>
                  <a:tcPr marL="68580" marR="68580" marT="34280" marB="34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0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BC</a:t>
                      </a:r>
                    </a:p>
                  </a:txBody>
                  <a:tcPr marL="68580" marR="68580" marT="34280" marB="34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8839" name="TextBox 13">
            <a:extLst>
              <a:ext uri="{FF2B5EF4-FFF2-40B4-BE49-F238E27FC236}">
                <a16:creationId xmlns:a16="http://schemas.microsoft.com/office/drawing/2014/main" id="{B1C601D0-F0AA-041C-B27B-83C566C0E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543550"/>
            <a:ext cx="1473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Frequent 1-itemset</a:t>
            </a:r>
          </a:p>
        </p:txBody>
      </p:sp>
      <p:sp>
        <p:nvSpPr>
          <p:cNvPr id="118840" name="TextBox 14">
            <a:extLst>
              <a:ext uri="{FF2B5EF4-FFF2-40B4-BE49-F238E27FC236}">
                <a16:creationId xmlns:a16="http://schemas.microsoft.com/office/drawing/2014/main" id="{7EAF9EB5-4F28-E78C-BE81-C9BCF1651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5518150"/>
            <a:ext cx="15509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Frequent 2-itemsets</a:t>
            </a:r>
          </a:p>
        </p:txBody>
      </p:sp>
    </p:spTree>
    <p:extLst>
      <p:ext uri="{BB962C8B-B14F-4D97-AF65-F5344CB8AC3E}">
        <p14:creationId xmlns:p14="http://schemas.microsoft.com/office/powerpoint/2010/main" val="1040032519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380472BE-41A8-759F-B851-6C5CE008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143000"/>
            <a:ext cx="4997450" cy="612775"/>
          </a:xfrm>
        </p:spPr>
        <p:txBody>
          <a:bodyPr lIns="0" tIns="0" rIns="0" bIns="0" rtlCol="0">
            <a:normAutofit fontScale="90000"/>
          </a:bodyPr>
          <a:lstStyle/>
          <a:p>
            <a:pPr algn="l">
              <a:defRPr/>
            </a:pPr>
            <a:r>
              <a:rPr lang="en-AU" altLang="en-US">
                <a:solidFill>
                  <a:srgbClr val="0066B3"/>
                </a:solidFill>
                <a:latin typeface="Times" pitchFamily="2" charset="0"/>
                <a:ea typeface="ＭＳ Ｐゴシック" panose="020B0600070205080204" pitchFamily="34" charset="-128"/>
              </a:rPr>
              <a:t>ARM Quiz</a:t>
            </a:r>
            <a:endParaRPr lang="en-US" altLang="en-US">
              <a:solidFill>
                <a:srgbClr val="0066B3"/>
              </a:solidFill>
              <a:latin typeface="Times" pitchFamily="2" charset="0"/>
              <a:ea typeface="ＭＳ Ｐゴシック" panose="020B0600070205080204" pitchFamily="34" charset="-128"/>
            </a:endParaRPr>
          </a:p>
        </p:txBody>
      </p:sp>
      <p:pic>
        <p:nvPicPr>
          <p:cNvPr id="120834" name="Picture 7" descr="JCU_Logo_RGB.jpg">
            <a:extLst>
              <a:ext uri="{FF2B5EF4-FFF2-40B4-BE49-F238E27FC236}">
                <a16:creationId xmlns:a16="http://schemas.microsoft.com/office/drawing/2014/main" id="{55823EDA-5C43-67E5-5826-A259FD5EDB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350" y="1038225"/>
            <a:ext cx="1360488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5" name="Line 9">
            <a:extLst>
              <a:ext uri="{FF2B5EF4-FFF2-40B4-BE49-F238E27FC236}">
                <a16:creationId xmlns:a16="http://schemas.microsoft.com/office/drawing/2014/main" id="{8EB50062-EC39-75CA-1B0D-2E3CEB69A4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754188"/>
            <a:ext cx="6122988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36" name="Line 10">
            <a:extLst>
              <a:ext uri="{FF2B5EF4-FFF2-40B4-BE49-F238E27FC236}">
                <a16:creationId xmlns:a16="http://schemas.microsoft.com/office/drawing/2014/main" id="{FAF2207A-A9FD-41B3-7D2A-8729741CB0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797550"/>
            <a:ext cx="6122988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37" name="Slide Number Placeholder 6">
            <a:extLst>
              <a:ext uri="{FF2B5EF4-FFF2-40B4-BE49-F238E27FC236}">
                <a16:creationId xmlns:a16="http://schemas.microsoft.com/office/drawing/2014/main" id="{C335F57C-2EC9-3630-04E6-F38E3312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0002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4574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9146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3718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F8B0B8-BE0D-E54B-95EA-5512A21FCCA9}" type="slidenum">
              <a:rPr lang="en-US" altLang="en-US" sz="9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graphicFrame>
        <p:nvGraphicFramePr>
          <p:cNvPr id="9" name="Group 4">
            <a:extLst>
              <a:ext uri="{FF2B5EF4-FFF2-40B4-BE49-F238E27FC236}">
                <a16:creationId xmlns:a16="http://schemas.microsoft.com/office/drawing/2014/main" id="{88AA6E6A-3297-F071-A509-DD75C4D6D902}"/>
              </a:ext>
            </a:extLst>
          </p:cNvPr>
          <p:cNvGraphicFramePr>
            <a:graphicFrameLocks noGrp="1"/>
          </p:cNvGraphicFramePr>
          <p:nvPr/>
        </p:nvGraphicFramePr>
        <p:xfrm>
          <a:off x="1819275" y="2141538"/>
          <a:ext cx="1714500" cy="1127264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A,B,C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B,C,D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A,C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0855" name="Rectangle 3">
            <a:extLst>
              <a:ext uri="{FF2B5EF4-FFF2-40B4-BE49-F238E27FC236}">
                <a16:creationId xmlns:a16="http://schemas.microsoft.com/office/drawing/2014/main" id="{EFC7381D-0D44-643C-8670-DC34D0CE2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150" y="2020888"/>
            <a:ext cx="3498850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Give minimum support = 2 and minimum confidence = 90%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Find all frequent patterns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Find all closed patterns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Find all max patterns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Find all strong rules</a:t>
            </a:r>
          </a:p>
        </p:txBody>
      </p:sp>
      <p:graphicFrame>
        <p:nvGraphicFramePr>
          <p:cNvPr id="12" name="Group 4">
            <a:extLst>
              <a:ext uri="{FF2B5EF4-FFF2-40B4-BE49-F238E27FC236}">
                <a16:creationId xmlns:a16="http://schemas.microsoft.com/office/drawing/2014/main" id="{F8CCD372-0654-923D-5097-FC415838977D}"/>
              </a:ext>
            </a:extLst>
          </p:cNvPr>
          <p:cNvGraphicFramePr>
            <a:graphicFrameLocks noGrp="1"/>
          </p:cNvGraphicFramePr>
          <p:nvPr/>
        </p:nvGraphicFramePr>
        <p:xfrm>
          <a:off x="1819275" y="4440238"/>
          <a:ext cx="984250" cy="1127264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Group 4">
            <a:extLst>
              <a:ext uri="{FF2B5EF4-FFF2-40B4-BE49-F238E27FC236}">
                <a16:creationId xmlns:a16="http://schemas.microsoft.com/office/drawing/2014/main" id="{7941E210-FA5B-8B99-3F64-BD67E0B950B5}"/>
              </a:ext>
            </a:extLst>
          </p:cNvPr>
          <p:cNvGraphicFramePr>
            <a:graphicFrameLocks noGrp="1"/>
          </p:cNvGraphicFramePr>
          <p:nvPr/>
        </p:nvGraphicFramePr>
        <p:xfrm>
          <a:off x="3740150" y="4576763"/>
          <a:ext cx="984250" cy="846138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0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AB</a:t>
                      </a:r>
                    </a:p>
                  </a:txBody>
                  <a:tcPr marL="68580" marR="68580" marT="34280" marB="34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0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AC</a:t>
                      </a:r>
                    </a:p>
                  </a:txBody>
                  <a:tcPr marL="68580" marR="68580" marT="34280" marB="34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0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BC</a:t>
                      </a:r>
                    </a:p>
                  </a:txBody>
                  <a:tcPr marL="68580" marR="68580" marT="34280" marB="34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0887" name="TextBox 13">
            <a:extLst>
              <a:ext uri="{FF2B5EF4-FFF2-40B4-BE49-F238E27FC236}">
                <a16:creationId xmlns:a16="http://schemas.microsoft.com/office/drawing/2014/main" id="{0FD1FA7C-35D3-880D-3CB0-0E0BD7BD5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543550"/>
            <a:ext cx="1473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Frequent 1-itemset</a:t>
            </a:r>
          </a:p>
        </p:txBody>
      </p:sp>
      <p:sp>
        <p:nvSpPr>
          <p:cNvPr id="120888" name="TextBox 14">
            <a:extLst>
              <a:ext uri="{FF2B5EF4-FFF2-40B4-BE49-F238E27FC236}">
                <a16:creationId xmlns:a16="http://schemas.microsoft.com/office/drawing/2014/main" id="{3BC8E6CF-B51D-C760-711B-C55216C2E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5518150"/>
            <a:ext cx="15509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Frequent 2-itemsets</a:t>
            </a:r>
          </a:p>
        </p:txBody>
      </p:sp>
      <p:sp>
        <p:nvSpPr>
          <p:cNvPr id="120889" name="TextBox 15">
            <a:extLst>
              <a:ext uri="{FF2B5EF4-FFF2-40B4-BE49-F238E27FC236}">
                <a16:creationId xmlns:a16="http://schemas.microsoft.com/office/drawing/2014/main" id="{9D24FD47-B087-E64B-0AA9-F82A76ACE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575" y="4699000"/>
            <a:ext cx="19224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Can ABC be is a possible frequent 3-itemsets?</a:t>
            </a:r>
          </a:p>
        </p:txBody>
      </p:sp>
    </p:spTree>
    <p:extLst>
      <p:ext uri="{BB962C8B-B14F-4D97-AF65-F5344CB8AC3E}">
        <p14:creationId xmlns:p14="http://schemas.microsoft.com/office/powerpoint/2010/main" val="745513478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FD4962CC-8CB5-F14E-ED58-245B8070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143000"/>
            <a:ext cx="4997450" cy="612775"/>
          </a:xfrm>
        </p:spPr>
        <p:txBody>
          <a:bodyPr lIns="0" tIns="0" rIns="0" bIns="0" rtlCol="0">
            <a:normAutofit fontScale="90000"/>
          </a:bodyPr>
          <a:lstStyle/>
          <a:p>
            <a:pPr algn="l">
              <a:defRPr/>
            </a:pPr>
            <a:r>
              <a:rPr lang="en-AU" altLang="en-US">
                <a:solidFill>
                  <a:srgbClr val="0066B3"/>
                </a:solidFill>
                <a:latin typeface="Times" pitchFamily="2" charset="0"/>
                <a:ea typeface="ＭＳ Ｐゴシック" panose="020B0600070205080204" pitchFamily="34" charset="-128"/>
              </a:rPr>
              <a:t>ARM Quiz</a:t>
            </a:r>
            <a:endParaRPr lang="en-US" altLang="en-US">
              <a:solidFill>
                <a:srgbClr val="0066B3"/>
              </a:solidFill>
              <a:latin typeface="Times" pitchFamily="2" charset="0"/>
              <a:ea typeface="ＭＳ Ｐゴシック" panose="020B0600070205080204" pitchFamily="34" charset="-128"/>
            </a:endParaRPr>
          </a:p>
        </p:txBody>
      </p:sp>
      <p:pic>
        <p:nvPicPr>
          <p:cNvPr id="122882" name="Picture 7" descr="JCU_Logo_RGB.jpg">
            <a:extLst>
              <a:ext uri="{FF2B5EF4-FFF2-40B4-BE49-F238E27FC236}">
                <a16:creationId xmlns:a16="http://schemas.microsoft.com/office/drawing/2014/main" id="{6BE042AD-2BF9-F0DE-76C5-728745181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350" y="1038225"/>
            <a:ext cx="1360488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83" name="Line 9">
            <a:extLst>
              <a:ext uri="{FF2B5EF4-FFF2-40B4-BE49-F238E27FC236}">
                <a16:creationId xmlns:a16="http://schemas.microsoft.com/office/drawing/2014/main" id="{B1CC47AA-CD2E-7989-B2A5-67D4F96E67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754188"/>
            <a:ext cx="6122988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884" name="Line 10">
            <a:extLst>
              <a:ext uri="{FF2B5EF4-FFF2-40B4-BE49-F238E27FC236}">
                <a16:creationId xmlns:a16="http://schemas.microsoft.com/office/drawing/2014/main" id="{C3CF0CE0-8DE7-754A-6A57-450CBC2402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797550"/>
            <a:ext cx="6122988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885" name="Slide Number Placeholder 6">
            <a:extLst>
              <a:ext uri="{FF2B5EF4-FFF2-40B4-BE49-F238E27FC236}">
                <a16:creationId xmlns:a16="http://schemas.microsoft.com/office/drawing/2014/main" id="{B8C2777B-8AA1-80E3-7C6D-7ABD1DCD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0002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4574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9146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371850" indent="-17145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FAA4D6-085B-1943-98EB-3125B7A6C4ED}" type="slidenum">
              <a:rPr lang="en-US" altLang="en-US" sz="9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graphicFrame>
        <p:nvGraphicFramePr>
          <p:cNvPr id="9" name="Group 4">
            <a:extLst>
              <a:ext uri="{FF2B5EF4-FFF2-40B4-BE49-F238E27FC236}">
                <a16:creationId xmlns:a16="http://schemas.microsoft.com/office/drawing/2014/main" id="{859D02E1-C677-0A0F-CDB8-7DF582326F80}"/>
              </a:ext>
            </a:extLst>
          </p:cNvPr>
          <p:cNvGraphicFramePr>
            <a:graphicFrameLocks noGrp="1"/>
          </p:cNvGraphicFramePr>
          <p:nvPr/>
        </p:nvGraphicFramePr>
        <p:xfrm>
          <a:off x="1819275" y="2141538"/>
          <a:ext cx="1714500" cy="1127264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A,B,C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B,C,D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A,C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2903" name="Rectangle 3">
            <a:extLst>
              <a:ext uri="{FF2B5EF4-FFF2-40B4-BE49-F238E27FC236}">
                <a16:creationId xmlns:a16="http://schemas.microsoft.com/office/drawing/2014/main" id="{BA54DE4E-34C3-A654-75E4-128EEE8D2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022475"/>
            <a:ext cx="3276600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Give minimum support = 2 and minimum confidence = 90%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Find all frequent patterns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500">
                <a:ea typeface="굴림" panose="020B0600000101010101" pitchFamily="34" charset="-127"/>
              </a:rPr>
              <a:t>A, B, C, AC, BC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Find all closed patterns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500">
                <a:ea typeface="굴림" panose="020B0600000101010101" pitchFamily="34" charset="-127"/>
              </a:rPr>
              <a:t>C, AC, BC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Find all max patterns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500">
                <a:ea typeface="굴림" panose="020B0600000101010101" pitchFamily="34" charset="-127"/>
              </a:rPr>
              <a:t>AC, BC</a:t>
            </a:r>
          </a:p>
          <a:p>
            <a:pPr>
              <a:lnSpc>
                <a:spcPct val="110000"/>
              </a:lnSpc>
            </a:pPr>
            <a:r>
              <a:rPr lang="en-US" altLang="ko-KR" sz="1800">
                <a:ea typeface="굴림" panose="020B0600000101010101" pitchFamily="34" charset="-127"/>
              </a:rPr>
              <a:t>Find all strong rules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rgbClr val="FF0000"/>
                </a:solidFill>
                <a:ea typeface="굴림" panose="020B0600000101010101" pitchFamily="34" charset="-127"/>
                <a:cs typeface="ＭＳ Ｐゴシック" panose="020B0600070205080204" pitchFamily="34" charset="-128"/>
              </a:rPr>
              <a:t>A=&gt; C (100%)</a:t>
            </a:r>
            <a:r>
              <a:rPr lang="en-US" altLang="ko-KR" sz="1800">
                <a:ea typeface="굴림" panose="020B0600000101010101" pitchFamily="34" charset="-127"/>
                <a:cs typeface="ＭＳ Ｐゴシック" panose="020B0600070205080204" pitchFamily="34" charset="-128"/>
              </a:rPr>
              <a:t>, C=&gt;A (67%)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rgbClr val="FF0000"/>
                </a:solidFill>
                <a:ea typeface="굴림" panose="020B0600000101010101" pitchFamily="34" charset="-127"/>
                <a:cs typeface="ＭＳ Ｐゴシック" panose="020B0600070205080204" pitchFamily="34" charset="-128"/>
              </a:rPr>
              <a:t>B=&gt; C (100%)</a:t>
            </a:r>
            <a:r>
              <a:rPr lang="en-US" altLang="ko-KR" sz="1800">
                <a:ea typeface="굴림" panose="020B0600000101010101" pitchFamily="34" charset="-127"/>
                <a:cs typeface="ＭＳ Ｐゴシック" panose="020B0600070205080204" pitchFamily="34" charset="-128"/>
              </a:rPr>
              <a:t>, C=&gt; B (67%)</a:t>
            </a:r>
            <a:endParaRPr lang="en-US" altLang="ko-KR" sz="1800">
              <a:ea typeface="굴림" panose="020B0600000101010101" pitchFamily="34" charset="-127"/>
            </a:endParaRPr>
          </a:p>
        </p:txBody>
      </p:sp>
      <p:graphicFrame>
        <p:nvGraphicFramePr>
          <p:cNvPr id="12" name="Group 4">
            <a:extLst>
              <a:ext uri="{FF2B5EF4-FFF2-40B4-BE49-F238E27FC236}">
                <a16:creationId xmlns:a16="http://schemas.microsoft.com/office/drawing/2014/main" id="{C4B39698-1B3B-3493-D9E8-CA2E16E97AE6}"/>
              </a:ext>
            </a:extLst>
          </p:cNvPr>
          <p:cNvGraphicFramePr>
            <a:graphicFrameLocks noGrp="1"/>
          </p:cNvGraphicFramePr>
          <p:nvPr/>
        </p:nvGraphicFramePr>
        <p:xfrm>
          <a:off x="1819275" y="4440238"/>
          <a:ext cx="984250" cy="1127264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L="68580" marR="68580" marT="34228" marB="342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8580" marR="68580" marT="34228" marB="342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Group 4">
            <a:extLst>
              <a:ext uri="{FF2B5EF4-FFF2-40B4-BE49-F238E27FC236}">
                <a16:creationId xmlns:a16="http://schemas.microsoft.com/office/drawing/2014/main" id="{038DAC5B-793A-5E12-EBFA-8A70508DFD50}"/>
              </a:ext>
            </a:extLst>
          </p:cNvPr>
          <p:cNvGraphicFramePr>
            <a:graphicFrameLocks noGrp="1"/>
          </p:cNvGraphicFramePr>
          <p:nvPr/>
        </p:nvGraphicFramePr>
        <p:xfrm>
          <a:off x="3740150" y="4576763"/>
          <a:ext cx="984250" cy="846138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0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AB</a:t>
                      </a:r>
                    </a:p>
                  </a:txBody>
                  <a:tcPr marL="68580" marR="68580" marT="34280" marB="34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0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AC</a:t>
                      </a:r>
                    </a:p>
                  </a:txBody>
                  <a:tcPr marL="68580" marR="68580" marT="34280" marB="34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0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BC</a:t>
                      </a:r>
                    </a:p>
                  </a:txBody>
                  <a:tcPr marL="68580" marR="68580" marT="34280" marB="34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2935" name="TextBox 13">
            <a:extLst>
              <a:ext uri="{FF2B5EF4-FFF2-40B4-BE49-F238E27FC236}">
                <a16:creationId xmlns:a16="http://schemas.microsoft.com/office/drawing/2014/main" id="{A863D28A-3F85-7DB2-E166-764CFAEF5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543550"/>
            <a:ext cx="1473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Frequent 1-itemset</a:t>
            </a:r>
          </a:p>
        </p:txBody>
      </p:sp>
      <p:sp>
        <p:nvSpPr>
          <p:cNvPr id="122936" name="TextBox 14">
            <a:extLst>
              <a:ext uri="{FF2B5EF4-FFF2-40B4-BE49-F238E27FC236}">
                <a16:creationId xmlns:a16="http://schemas.microsoft.com/office/drawing/2014/main" id="{F67E7546-5A95-C69B-2241-BCD0573BC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5518150"/>
            <a:ext cx="15509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Frequent 2-itemsets</a:t>
            </a:r>
          </a:p>
        </p:txBody>
      </p:sp>
    </p:spTree>
    <p:extLst>
      <p:ext uri="{BB962C8B-B14F-4D97-AF65-F5344CB8AC3E}">
        <p14:creationId xmlns:p14="http://schemas.microsoft.com/office/powerpoint/2010/main" val="1872660380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>
            <a:extLst>
              <a:ext uri="{FF2B5EF4-FFF2-40B4-BE49-F238E27FC236}">
                <a16:creationId xmlns:a16="http://schemas.microsoft.com/office/drawing/2014/main" id="{5D79BDC2-1ADD-B769-8DFE-596DE16D6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Outline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124930" name="Picture 7" descr="JCU_Logo_RGB.jpg">
            <a:extLst>
              <a:ext uri="{FF2B5EF4-FFF2-40B4-BE49-F238E27FC236}">
                <a16:creationId xmlns:a16="http://schemas.microsoft.com/office/drawing/2014/main" id="{ABFEACCE-D760-4ECD-9930-D52D6070D5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1" name="Line 9">
            <a:extLst>
              <a:ext uri="{FF2B5EF4-FFF2-40B4-BE49-F238E27FC236}">
                <a16:creationId xmlns:a16="http://schemas.microsoft.com/office/drawing/2014/main" id="{6E430B34-949C-39DC-BC8F-F5B175DE846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4932" name="Line 10">
            <a:extLst>
              <a:ext uri="{FF2B5EF4-FFF2-40B4-BE49-F238E27FC236}">
                <a16:creationId xmlns:a16="http://schemas.microsoft.com/office/drawing/2014/main" id="{451CDD7C-091B-5B7A-A1CC-94C552C782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4933" name="Content Placeholder 2">
            <a:extLst>
              <a:ext uri="{FF2B5EF4-FFF2-40B4-BE49-F238E27FC236}">
                <a16:creationId xmlns:a16="http://schemas.microsoft.com/office/drawing/2014/main" id="{4CD47EE2-A24A-FCB7-BA78-7AA0337D9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03363"/>
            <a:ext cx="8077200" cy="462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14400" indent="-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AU" altLang="en-US" sz="2800">
                <a:cs typeface="Arial" panose="020B0604020202020204" pitchFamily="34" charset="0"/>
              </a:rPr>
              <a:t>ARM Background</a:t>
            </a:r>
          </a:p>
          <a:p>
            <a:r>
              <a:rPr lang="en-AU" altLang="en-US" sz="2800">
                <a:cs typeface="Arial" panose="020B0604020202020204" pitchFamily="34" charset="0"/>
              </a:rPr>
              <a:t>Apriori</a:t>
            </a:r>
          </a:p>
          <a:p>
            <a:r>
              <a:rPr lang="en-AU" altLang="en-US" sz="2800">
                <a:cs typeface="Arial" panose="020B0604020202020204" pitchFamily="34" charset="0"/>
              </a:rPr>
              <a:t>FP-Tree</a:t>
            </a:r>
          </a:p>
          <a:p>
            <a:r>
              <a:rPr lang="en-AU" altLang="en-US" sz="2800">
                <a:cs typeface="Arial" panose="020B0604020202020204" pitchFamily="34" charset="0"/>
              </a:rPr>
              <a:t>Various ARM</a:t>
            </a:r>
          </a:p>
          <a:p>
            <a:r>
              <a:rPr lang="en-AU" altLang="en-US" sz="2800" b="1">
                <a:cs typeface="Arial" panose="020B0604020202020204" pitchFamily="34" charset="0"/>
              </a:rPr>
              <a:t>Constraint ARM</a:t>
            </a:r>
            <a:endParaRPr lang="en-AU" altLang="en-US" sz="2400" b="1">
              <a:cs typeface="Arial" panose="020B0604020202020204" pitchFamily="34" charset="0"/>
            </a:endParaRPr>
          </a:p>
          <a:p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AU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934" name="Slide Number Placeholder 6">
            <a:extLst>
              <a:ext uri="{FF2B5EF4-FFF2-40B4-BE49-F238E27FC236}">
                <a16:creationId xmlns:a16="http://schemas.microsoft.com/office/drawing/2014/main" id="{1D10D6E3-FB00-4B0A-E7E5-F941DDBE4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2A62DB-B204-CB4E-92CC-04D946C9816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6019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3">
            <a:extLst>
              <a:ext uri="{FF2B5EF4-FFF2-40B4-BE49-F238E27FC236}">
                <a16:creationId xmlns:a16="http://schemas.microsoft.com/office/drawing/2014/main" id="{D728C7F8-D309-4943-B7B0-05F4D7D2C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600200"/>
            <a:ext cx="7772400" cy="4953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sz="2400">
                <a:ea typeface="굴림" panose="020B0600000101010101" pitchFamily="34" charset="-127"/>
              </a:rPr>
              <a:t>Finding </a:t>
            </a:r>
            <a:r>
              <a:rPr lang="en-US" altLang="ko-KR" sz="2400">
                <a:solidFill>
                  <a:schemeClr val="hlink"/>
                </a:solidFill>
                <a:ea typeface="굴림" panose="020B0600000101010101" pitchFamily="34" charset="-127"/>
              </a:rPr>
              <a:t>all</a:t>
            </a:r>
            <a:r>
              <a:rPr lang="en-US" altLang="ko-KR" sz="2400">
                <a:ea typeface="굴림" panose="020B0600000101010101" pitchFamily="34" charset="-127"/>
              </a:rPr>
              <a:t> the patterns in a database </a:t>
            </a:r>
            <a:r>
              <a:rPr lang="en-US" altLang="ko-KR" sz="2400">
                <a:solidFill>
                  <a:schemeClr val="hlink"/>
                </a:solidFill>
                <a:ea typeface="굴림" panose="020B0600000101010101" pitchFamily="34" charset="-127"/>
              </a:rPr>
              <a:t>autonomously</a:t>
            </a:r>
            <a:r>
              <a:rPr lang="en-US" altLang="ko-KR" sz="2400">
                <a:ea typeface="굴림" panose="020B0600000101010101" pitchFamily="34" charset="-127"/>
              </a:rPr>
              <a:t>? — unrealistic!</a:t>
            </a:r>
          </a:p>
          <a:p>
            <a:pPr lvl="1">
              <a:lnSpc>
                <a:spcPct val="110000"/>
              </a:lnSpc>
            </a:pPr>
            <a:r>
              <a:rPr lang="en-US" altLang="ko-KR" sz="2400">
                <a:ea typeface="굴림" panose="020B0600000101010101" pitchFamily="34" charset="-127"/>
              </a:rPr>
              <a:t>The patterns could be too many but not focused!</a:t>
            </a:r>
          </a:p>
          <a:p>
            <a:pPr>
              <a:lnSpc>
                <a:spcPct val="110000"/>
              </a:lnSpc>
            </a:pPr>
            <a:r>
              <a:rPr lang="en-US" altLang="ko-KR" sz="2400">
                <a:ea typeface="굴림" panose="020B0600000101010101" pitchFamily="34" charset="-127"/>
              </a:rPr>
              <a:t>Data mining should be an </a:t>
            </a:r>
            <a:r>
              <a:rPr lang="en-US" altLang="ko-KR" sz="2400">
                <a:solidFill>
                  <a:schemeClr val="hlink"/>
                </a:solidFill>
                <a:ea typeface="굴림" panose="020B0600000101010101" pitchFamily="34" charset="-127"/>
              </a:rPr>
              <a:t>interactive </a:t>
            </a:r>
            <a:r>
              <a:rPr lang="en-US" altLang="ko-KR" sz="2400">
                <a:ea typeface="굴림" panose="020B0600000101010101" pitchFamily="34" charset="-127"/>
              </a:rPr>
              <a:t>process </a:t>
            </a:r>
          </a:p>
          <a:p>
            <a:pPr lvl="1">
              <a:lnSpc>
                <a:spcPct val="110000"/>
              </a:lnSpc>
            </a:pPr>
            <a:r>
              <a:rPr lang="en-US" altLang="ko-KR" sz="2400">
                <a:ea typeface="굴림" panose="020B0600000101010101" pitchFamily="34" charset="-127"/>
              </a:rPr>
              <a:t>User directs what to be mined using a </a:t>
            </a:r>
            <a:r>
              <a:rPr lang="en-US" altLang="ko-KR" sz="2400">
                <a:solidFill>
                  <a:schemeClr val="hlink"/>
                </a:solidFill>
                <a:ea typeface="굴림" panose="020B0600000101010101" pitchFamily="34" charset="-127"/>
              </a:rPr>
              <a:t>data mining query language </a:t>
            </a:r>
            <a:r>
              <a:rPr lang="en-US" altLang="ko-KR" sz="2400">
                <a:ea typeface="굴림" panose="020B0600000101010101" pitchFamily="34" charset="-127"/>
              </a:rPr>
              <a:t>(or a graphical user interface)</a:t>
            </a:r>
          </a:p>
          <a:p>
            <a:pPr>
              <a:lnSpc>
                <a:spcPct val="110000"/>
              </a:lnSpc>
            </a:pPr>
            <a:r>
              <a:rPr lang="en-US" altLang="ko-KR" sz="2400">
                <a:ea typeface="굴림" panose="020B0600000101010101" pitchFamily="34" charset="-127"/>
              </a:rPr>
              <a:t>Constraint-based mining</a:t>
            </a:r>
          </a:p>
          <a:p>
            <a:pPr lvl="1">
              <a:lnSpc>
                <a:spcPct val="110000"/>
              </a:lnSpc>
            </a:pPr>
            <a:r>
              <a:rPr lang="en-US" altLang="ko-KR" sz="2400">
                <a:ea typeface="굴림" panose="020B0600000101010101" pitchFamily="34" charset="-127"/>
              </a:rPr>
              <a:t>User flexibility: provides</a:t>
            </a:r>
            <a:r>
              <a:rPr lang="en-US" altLang="ko-KR" sz="2400">
                <a:solidFill>
                  <a:schemeClr val="hlink"/>
                </a:solidFill>
                <a:ea typeface="굴림" panose="020B0600000101010101" pitchFamily="34" charset="-127"/>
              </a:rPr>
              <a:t> constraints</a:t>
            </a:r>
            <a:r>
              <a:rPr lang="en-US" altLang="ko-KR" sz="2400">
                <a:ea typeface="굴림" panose="020B0600000101010101" pitchFamily="34" charset="-127"/>
              </a:rPr>
              <a:t> on what to be mined</a:t>
            </a:r>
          </a:p>
          <a:p>
            <a:pPr lvl="1">
              <a:lnSpc>
                <a:spcPct val="110000"/>
              </a:lnSpc>
            </a:pPr>
            <a:r>
              <a:rPr lang="en-US" altLang="ko-KR" sz="2400">
                <a:ea typeface="굴림" panose="020B0600000101010101" pitchFamily="34" charset="-127"/>
              </a:rPr>
              <a:t>System optimization: explores such constraints for efficient mining—</a:t>
            </a:r>
            <a:r>
              <a:rPr lang="en-US" altLang="ko-KR" sz="2400">
                <a:solidFill>
                  <a:schemeClr val="hlink"/>
                </a:solidFill>
                <a:ea typeface="굴림" panose="020B0600000101010101" pitchFamily="34" charset="-127"/>
              </a:rPr>
              <a:t>constraint-based mining</a:t>
            </a:r>
          </a:p>
        </p:txBody>
      </p:sp>
      <p:sp>
        <p:nvSpPr>
          <p:cNvPr id="126978" name="Rectangle 2">
            <a:extLst>
              <a:ext uri="{FF2B5EF4-FFF2-40B4-BE49-F238E27FC236}">
                <a16:creationId xmlns:a16="http://schemas.microsoft.com/office/drawing/2014/main" id="{46447334-B938-70CF-8B05-1BDF4777C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Constraint ARM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126979" name="Picture 7" descr="JCU_Logo_RGB.jpg">
            <a:extLst>
              <a:ext uri="{FF2B5EF4-FFF2-40B4-BE49-F238E27FC236}">
                <a16:creationId xmlns:a16="http://schemas.microsoft.com/office/drawing/2014/main" id="{DB7DF71D-C4C7-38BA-3F9D-06640BCD4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980" name="Line 9">
            <a:extLst>
              <a:ext uri="{FF2B5EF4-FFF2-40B4-BE49-F238E27FC236}">
                <a16:creationId xmlns:a16="http://schemas.microsoft.com/office/drawing/2014/main" id="{34834AEF-76F2-C11D-3D51-61AD836E2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981" name="Line 10">
            <a:extLst>
              <a:ext uri="{FF2B5EF4-FFF2-40B4-BE49-F238E27FC236}">
                <a16:creationId xmlns:a16="http://schemas.microsoft.com/office/drawing/2014/main" id="{2D189161-288C-420C-546E-3901E4441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982" name="Slide Number Placeholder 6">
            <a:extLst>
              <a:ext uri="{FF2B5EF4-FFF2-40B4-BE49-F238E27FC236}">
                <a16:creationId xmlns:a16="http://schemas.microsoft.com/office/drawing/2014/main" id="{07798F2F-7216-59BD-A7C6-44688CE0E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ABD0E7-1C5B-684C-938C-C452EADD1B0A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350269"/>
      </p:ext>
    </p:extLst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3">
            <a:extLst>
              <a:ext uri="{FF2B5EF4-FFF2-40B4-BE49-F238E27FC236}">
                <a16:creationId xmlns:a16="http://schemas.microsoft.com/office/drawing/2014/main" id="{8256FFBE-FCF1-13BC-16E0-A7446B4CE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295400"/>
            <a:ext cx="7499350" cy="4800600"/>
          </a:xfrm>
        </p:spPr>
        <p:txBody>
          <a:bodyPr/>
          <a:lstStyle/>
          <a:p>
            <a:pPr marL="533400" indent="-533400"/>
            <a:endParaRPr lang="en-US" altLang="en-US" sz="2400">
              <a:ea typeface="ＭＳ Ｐゴシック" panose="020B0600070205080204" pitchFamily="34" charset="-128"/>
            </a:endParaRPr>
          </a:p>
          <a:p>
            <a:pPr marL="533400" indent="-533400"/>
            <a:r>
              <a:rPr lang="en-US" altLang="en-US" sz="2400">
                <a:ea typeface="ＭＳ Ｐゴシック" panose="020B0600070205080204" pitchFamily="34" charset="-128"/>
              </a:rPr>
              <a:t>Rule constraints can be categorized as</a:t>
            </a:r>
          </a:p>
          <a:p>
            <a:pPr marL="914400" lvl="1" indent="-457200">
              <a:buFont typeface="Wingdings" pitchFamily="2" charset="2"/>
              <a:buAutoNum type="arabicPeriod"/>
            </a:pPr>
            <a:r>
              <a:rPr lang="en-US" altLang="en-US" sz="2400">
                <a:ea typeface="ＭＳ Ｐゴシック" panose="020B0600070205080204" pitchFamily="34" charset="-128"/>
              </a:rPr>
              <a:t>antimonotonic</a:t>
            </a:r>
          </a:p>
          <a:p>
            <a:pPr marL="914400" lvl="1" indent="-457200">
              <a:buFont typeface="Wingdings" pitchFamily="2" charset="2"/>
              <a:buAutoNum type="arabicPeriod"/>
            </a:pPr>
            <a:r>
              <a:rPr lang="en-US" altLang="en-US" sz="2400">
                <a:ea typeface="ＭＳ Ｐゴシック" panose="020B0600070205080204" pitchFamily="34" charset="-128"/>
              </a:rPr>
              <a:t>monotonic</a:t>
            </a:r>
          </a:p>
          <a:p>
            <a:pPr marL="914400" lvl="1" indent="-457200">
              <a:buFont typeface="Wingdings" pitchFamily="2" charset="2"/>
              <a:buAutoNum type="arabicPeriod"/>
            </a:pPr>
            <a:r>
              <a:rPr lang="en-US" altLang="en-US" sz="2400">
                <a:ea typeface="ＭＳ Ｐゴシック" panose="020B0600070205080204" pitchFamily="34" charset="-128"/>
              </a:rPr>
              <a:t>succinct</a:t>
            </a:r>
          </a:p>
          <a:p>
            <a:pPr marL="914400" lvl="1" indent="-457200">
              <a:buFont typeface="Wingdings" pitchFamily="2" charset="2"/>
              <a:buAutoNum type="arabicPeriod"/>
            </a:pPr>
            <a:r>
              <a:rPr lang="en-US" altLang="en-US" sz="2400">
                <a:ea typeface="ＭＳ Ｐゴシック" panose="020B0600070205080204" pitchFamily="34" charset="-128"/>
              </a:rPr>
              <a:t>convertible</a:t>
            </a:r>
          </a:p>
          <a:p>
            <a:pPr marL="914400" lvl="1" indent="-457200">
              <a:buFont typeface="Wingdings" pitchFamily="2" charset="2"/>
              <a:buAutoNum type="arabicPeriod"/>
            </a:pPr>
            <a:r>
              <a:rPr lang="en-US" altLang="en-US" sz="2400">
                <a:ea typeface="ＭＳ Ｐゴシック" panose="020B0600070205080204" pitchFamily="34" charset="-128"/>
              </a:rPr>
              <a:t>inconvertible</a:t>
            </a:r>
          </a:p>
          <a:p>
            <a:pPr marL="914400" lvl="1" indent="-457200">
              <a:buFont typeface="Verdana" panose="020B0604030504040204" pitchFamily="34" charset="0"/>
              <a:buNone/>
            </a:pPr>
            <a:endParaRPr lang="en-US" altLang="en-US" sz="2000">
              <a:latin typeface="Bookman Old Style" panose="020506040505050202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129026" name="Rectangle 2">
            <a:extLst>
              <a:ext uri="{FF2B5EF4-FFF2-40B4-BE49-F238E27FC236}">
                <a16:creationId xmlns:a16="http://schemas.microsoft.com/office/drawing/2014/main" id="{90B71B65-FA1E-1387-2714-74EB2B025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334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Constraints in Mining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129027" name="Picture 7" descr="JCU_Logo_RGB.jpg">
            <a:extLst>
              <a:ext uri="{FF2B5EF4-FFF2-40B4-BE49-F238E27FC236}">
                <a16:creationId xmlns:a16="http://schemas.microsoft.com/office/drawing/2014/main" id="{DA8DBD87-831D-72E7-5FC6-F4FA6B8BB9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338" y="3937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8" name="Line 9">
            <a:extLst>
              <a:ext uri="{FF2B5EF4-FFF2-40B4-BE49-F238E27FC236}">
                <a16:creationId xmlns:a16="http://schemas.microsoft.com/office/drawing/2014/main" id="{7AF090D3-1608-7A30-3C6D-FA534F2A74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13493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29" name="Line 10">
            <a:extLst>
              <a:ext uri="{FF2B5EF4-FFF2-40B4-BE49-F238E27FC236}">
                <a16:creationId xmlns:a16="http://schemas.microsoft.com/office/drawing/2014/main" id="{04635939-3A29-504B-6AFC-4DE16FE8F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67389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30" name="Slide Number Placeholder 6">
            <a:extLst>
              <a:ext uri="{FF2B5EF4-FFF2-40B4-BE49-F238E27FC236}">
                <a16:creationId xmlns:a16="http://schemas.microsoft.com/office/drawing/2014/main" id="{8EBD9CA7-C0FE-91D8-D063-A50EC01972D3}"/>
              </a:ext>
            </a:extLst>
          </p:cNvPr>
          <p:cNvSpPr txBox="1">
            <a:spLocks/>
          </p:cNvSpPr>
          <p:nvPr/>
        </p:nvSpPr>
        <p:spPr bwMode="auto">
          <a:xfrm>
            <a:off x="6705600" y="65087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EE11F74-8A63-D14F-8375-D687607B98B8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64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171386"/>
      </p:ext>
    </p:ext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3">
            <a:extLst>
              <a:ext uri="{FF2B5EF4-FFF2-40B4-BE49-F238E27FC236}">
                <a16:creationId xmlns:a16="http://schemas.microsoft.com/office/drawing/2014/main" id="{6DED1942-372D-F6C9-2667-427C89CE1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524000"/>
            <a:ext cx="5486400" cy="49022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sz="2400">
                <a:ea typeface="굴림" panose="020B0600000101010101" pitchFamily="34" charset="-127"/>
              </a:rPr>
              <a:t>Anti-monotonicity</a:t>
            </a:r>
          </a:p>
          <a:p>
            <a:pPr lvl="1">
              <a:lnSpc>
                <a:spcPct val="110000"/>
              </a:lnSpc>
            </a:pPr>
            <a:r>
              <a:rPr lang="en-US" altLang="ko-KR" sz="2400" i="1">
                <a:ea typeface="굴림" panose="020B0600000101010101" pitchFamily="34" charset="-127"/>
              </a:rPr>
              <a:t>When an intemset S </a:t>
            </a:r>
            <a:r>
              <a:rPr lang="en-US" altLang="ko-KR" sz="2400" b="1" i="1">
                <a:ea typeface="굴림" panose="020B0600000101010101" pitchFamily="34" charset="-127"/>
              </a:rPr>
              <a:t>violates</a:t>
            </a:r>
            <a:r>
              <a:rPr lang="en-US" altLang="ko-KR" sz="2400" i="1">
                <a:ea typeface="굴림" panose="020B0600000101010101" pitchFamily="34" charset="-127"/>
              </a:rPr>
              <a:t> the constraint, so does any of its superset </a:t>
            </a:r>
            <a:endParaRPr lang="en-US" altLang="ko-KR" sz="2400">
              <a:ea typeface="굴림" panose="020B0600000101010101" pitchFamily="34" charset="-127"/>
              <a:sym typeface="Symbol" pitchFamily="2" charset="2"/>
            </a:endParaRPr>
          </a:p>
          <a:p>
            <a:pPr lvl="1">
              <a:lnSpc>
                <a:spcPct val="110000"/>
              </a:lnSpc>
            </a:pPr>
            <a:r>
              <a:rPr lang="en-US" altLang="ko-KR" sz="2400" i="1">
                <a:ea typeface="굴림" panose="020B0600000101010101" pitchFamily="34" charset="-127"/>
                <a:sym typeface="Symbol" pitchFamily="2" charset="2"/>
              </a:rPr>
              <a:t>sum(S.Price)</a:t>
            </a:r>
            <a:r>
              <a:rPr lang="en-US" altLang="ko-KR" sz="2400">
                <a:ea typeface="굴림" panose="020B0600000101010101" pitchFamily="34" charset="-127"/>
                <a:sym typeface="Symbol" pitchFamily="2" charset="2"/>
              </a:rPr>
              <a:t>  </a:t>
            </a:r>
            <a:r>
              <a:rPr lang="en-US" altLang="ko-KR" sz="2400" i="1">
                <a:ea typeface="굴림" panose="020B0600000101010101" pitchFamily="34" charset="-127"/>
                <a:sym typeface="Symbol" pitchFamily="2" charset="2"/>
              </a:rPr>
              <a:t>v</a:t>
            </a:r>
            <a:r>
              <a:rPr lang="en-US" altLang="ko-KR" sz="2400">
                <a:ea typeface="굴림" panose="020B0600000101010101" pitchFamily="34" charset="-127"/>
                <a:sym typeface="Symbol" pitchFamily="2" charset="2"/>
              </a:rPr>
              <a:t>  is </a:t>
            </a:r>
            <a:r>
              <a:rPr lang="en-US" altLang="ko-KR" sz="2400">
                <a:solidFill>
                  <a:schemeClr val="hlink"/>
                </a:solidFill>
                <a:ea typeface="굴림" panose="020B0600000101010101" pitchFamily="34" charset="-127"/>
                <a:sym typeface="Symbol" pitchFamily="2" charset="2"/>
              </a:rPr>
              <a:t>anti-monotone</a:t>
            </a:r>
            <a:endParaRPr lang="en-US" altLang="ko-KR" sz="2400">
              <a:ea typeface="굴림" panose="020B0600000101010101" pitchFamily="34" charset="-127"/>
              <a:sym typeface="Symbol" pitchFamily="2" charset="2"/>
            </a:endParaRPr>
          </a:p>
          <a:p>
            <a:pPr lvl="1">
              <a:lnSpc>
                <a:spcPct val="110000"/>
              </a:lnSpc>
            </a:pPr>
            <a:r>
              <a:rPr lang="en-US" altLang="ko-KR" sz="2400" i="1">
                <a:ea typeface="굴림" panose="020B0600000101010101" pitchFamily="34" charset="-127"/>
                <a:sym typeface="Symbol" pitchFamily="2" charset="2"/>
              </a:rPr>
              <a:t>sum(S.Price) </a:t>
            </a:r>
            <a:r>
              <a:rPr lang="en-US" altLang="ko-KR" sz="2400">
                <a:ea typeface="굴림" panose="020B0600000101010101" pitchFamily="34" charset="-127"/>
                <a:sym typeface="Symbol" pitchFamily="2" charset="2"/>
              </a:rPr>
              <a:t> </a:t>
            </a:r>
            <a:r>
              <a:rPr lang="en-US" altLang="ko-KR" sz="2400" i="1">
                <a:ea typeface="굴림" panose="020B0600000101010101" pitchFamily="34" charset="-127"/>
                <a:sym typeface="Symbol" pitchFamily="2" charset="2"/>
              </a:rPr>
              <a:t>v</a:t>
            </a:r>
            <a:r>
              <a:rPr lang="en-US" altLang="ko-KR" sz="2400">
                <a:ea typeface="굴림" panose="020B0600000101010101" pitchFamily="34" charset="-127"/>
                <a:sym typeface="Symbol" pitchFamily="2" charset="2"/>
              </a:rPr>
              <a:t>  is </a:t>
            </a:r>
            <a:r>
              <a:rPr lang="en-US" altLang="ko-KR" sz="2400">
                <a:solidFill>
                  <a:schemeClr val="hlink"/>
                </a:solidFill>
                <a:ea typeface="굴림" panose="020B0600000101010101" pitchFamily="34" charset="-127"/>
                <a:sym typeface="Symbol" pitchFamily="2" charset="2"/>
              </a:rPr>
              <a:t>not anti-monotone</a:t>
            </a:r>
          </a:p>
          <a:p>
            <a:pPr>
              <a:lnSpc>
                <a:spcPct val="110000"/>
              </a:lnSpc>
            </a:pPr>
            <a:r>
              <a:rPr lang="en-US" altLang="ko-KR" sz="2400">
                <a:ea typeface="굴림" panose="020B0600000101010101" pitchFamily="34" charset="-127"/>
                <a:sym typeface="Symbol" pitchFamily="2" charset="2"/>
              </a:rPr>
              <a:t>Example</a:t>
            </a:r>
            <a:r>
              <a:rPr lang="en-US" altLang="ko-KR" sz="2400">
                <a:ea typeface="굴림" panose="020B0600000101010101" pitchFamily="34" charset="-127"/>
                <a:sym typeface="Wingdings" pitchFamily="2" charset="2"/>
              </a:rPr>
              <a:t>. C: range(S.profit) </a:t>
            </a:r>
            <a:r>
              <a:rPr lang="en-US" altLang="ko-KR" sz="2400">
                <a:ea typeface="굴림" panose="020B0600000101010101" pitchFamily="34" charset="-127"/>
                <a:sym typeface="Symbol" pitchFamily="2" charset="2"/>
              </a:rPr>
              <a:t></a:t>
            </a:r>
            <a:r>
              <a:rPr lang="en-US" altLang="ko-KR" sz="2400">
                <a:ea typeface="굴림" panose="020B0600000101010101" pitchFamily="34" charset="-127"/>
                <a:sym typeface="Wingdings" pitchFamily="2" charset="2"/>
              </a:rPr>
              <a:t> 15 </a:t>
            </a:r>
            <a:r>
              <a:rPr lang="en-US" altLang="ko-KR" sz="2400">
                <a:ea typeface="굴림" panose="020B0600000101010101" pitchFamily="34" charset="-127"/>
                <a:sym typeface="Symbol" pitchFamily="2" charset="2"/>
              </a:rPr>
              <a:t>is </a:t>
            </a:r>
            <a:r>
              <a:rPr lang="en-US" altLang="ko-KR" sz="2400">
                <a:solidFill>
                  <a:schemeClr val="hlink"/>
                </a:solidFill>
                <a:ea typeface="굴림" panose="020B0600000101010101" pitchFamily="34" charset="-127"/>
                <a:sym typeface="Symbol" pitchFamily="2" charset="2"/>
              </a:rPr>
              <a:t>anti-monotone</a:t>
            </a:r>
            <a:endParaRPr lang="en-US" altLang="ko-KR" sz="2400">
              <a:ea typeface="굴림" panose="020B0600000101010101" pitchFamily="34" charset="-127"/>
              <a:sym typeface="Wingdings" pitchFamily="2" charset="2"/>
            </a:endParaRPr>
          </a:p>
          <a:p>
            <a:pPr lvl="1">
              <a:lnSpc>
                <a:spcPct val="110000"/>
              </a:lnSpc>
            </a:pPr>
            <a:r>
              <a:rPr lang="en-US" altLang="ko-KR" sz="2400">
                <a:ea typeface="굴림" panose="020B0600000101010101" pitchFamily="34" charset="-127"/>
              </a:rPr>
              <a:t>Itemset </a:t>
            </a:r>
            <a:r>
              <a:rPr lang="en-US" altLang="ko-KR" sz="2400" i="1">
                <a:ea typeface="굴림" panose="020B0600000101010101" pitchFamily="34" charset="-127"/>
              </a:rPr>
              <a:t>ab </a:t>
            </a:r>
            <a:r>
              <a:rPr lang="en-US" altLang="ko-KR" sz="2400">
                <a:ea typeface="굴림" panose="020B0600000101010101" pitchFamily="34" charset="-127"/>
              </a:rPr>
              <a:t>violates C</a:t>
            </a:r>
          </a:p>
          <a:p>
            <a:pPr lvl="1">
              <a:lnSpc>
                <a:spcPct val="110000"/>
              </a:lnSpc>
            </a:pPr>
            <a:r>
              <a:rPr lang="en-US" altLang="ko-KR" sz="2400">
                <a:ea typeface="굴림" panose="020B0600000101010101" pitchFamily="34" charset="-127"/>
                <a:sym typeface="Wingdings" pitchFamily="2" charset="2"/>
              </a:rPr>
              <a:t>So does every superset of </a:t>
            </a:r>
            <a:r>
              <a:rPr lang="en-US" altLang="ko-KR" sz="2400" i="1">
                <a:ea typeface="굴림" panose="020B0600000101010101" pitchFamily="34" charset="-127"/>
                <a:sym typeface="Wingdings" pitchFamily="2" charset="2"/>
              </a:rPr>
              <a:t>ab</a:t>
            </a:r>
          </a:p>
        </p:txBody>
      </p:sp>
      <p:graphicFrame>
        <p:nvGraphicFramePr>
          <p:cNvPr id="1562628" name="Group 4">
            <a:extLst>
              <a:ext uri="{FF2B5EF4-FFF2-40B4-BE49-F238E27FC236}">
                <a16:creationId xmlns:a16="http://schemas.microsoft.com/office/drawing/2014/main" id="{581E8006-C408-EF00-4AAD-B5774EA72C77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1676400"/>
          <a:ext cx="2465388" cy="1690687"/>
        </p:xfrm>
        <a:graphic>
          <a:graphicData uri="http://schemas.openxmlformats.org/drawingml/2006/table">
            <a:tbl>
              <a:tblPr/>
              <a:tblGrid>
                <a:gridCol w="66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1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Transaction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c, d, f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6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d, f, g, h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d, e, f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c, e, f, g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1094" name="Text Box 24">
            <a:extLst>
              <a:ext uri="{FF2B5EF4-FFF2-40B4-BE49-F238E27FC236}">
                <a16:creationId xmlns:a16="http://schemas.microsoft.com/office/drawing/2014/main" id="{95EF2F04-4F51-C992-C8D5-2D11E52CF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219200"/>
            <a:ext cx="20685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>
                <a:latin typeface="Times New Roman" panose="02020603050405020304" pitchFamily="18" charset="0"/>
                <a:ea typeface="굴림" panose="020B0600000101010101" pitchFamily="34" charset="-127"/>
              </a:rPr>
              <a:t>TDB (min_sup=2)</a:t>
            </a:r>
          </a:p>
        </p:txBody>
      </p:sp>
      <p:graphicFrame>
        <p:nvGraphicFramePr>
          <p:cNvPr id="1562649" name="Group 25">
            <a:extLst>
              <a:ext uri="{FF2B5EF4-FFF2-40B4-BE49-F238E27FC236}">
                <a16:creationId xmlns:a16="http://schemas.microsoft.com/office/drawing/2014/main" id="{828F8933-4DC4-4729-0E76-1FA24C269805}"/>
              </a:ext>
            </a:extLst>
          </p:cNvPr>
          <p:cNvGraphicFramePr>
            <a:graphicFrameLocks noGrp="1"/>
          </p:cNvGraphicFramePr>
          <p:nvPr/>
        </p:nvGraphicFramePr>
        <p:xfrm>
          <a:off x="7010400" y="3581400"/>
          <a:ext cx="1752600" cy="3051177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Item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Profit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40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c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20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10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e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30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f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30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g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20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3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h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10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1127" name="Rectangle 2">
            <a:extLst>
              <a:ext uri="{FF2B5EF4-FFF2-40B4-BE49-F238E27FC236}">
                <a16:creationId xmlns:a16="http://schemas.microsoft.com/office/drawing/2014/main" id="{6A666FD4-D4FC-5C4F-5FD7-D15007E02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Anti-monotonicity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131128" name="Picture 7" descr="JCU_Logo_RGB.jpg">
            <a:extLst>
              <a:ext uri="{FF2B5EF4-FFF2-40B4-BE49-F238E27FC236}">
                <a16:creationId xmlns:a16="http://schemas.microsoft.com/office/drawing/2014/main" id="{E95B28E1-FBAE-AEB6-70AF-033E13AF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129" name="Line 9">
            <a:extLst>
              <a:ext uri="{FF2B5EF4-FFF2-40B4-BE49-F238E27FC236}">
                <a16:creationId xmlns:a16="http://schemas.microsoft.com/office/drawing/2014/main" id="{59A7A153-E24A-66E8-5F1F-D9F04D0F9C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30" name="Line 10">
            <a:extLst>
              <a:ext uri="{FF2B5EF4-FFF2-40B4-BE49-F238E27FC236}">
                <a16:creationId xmlns:a16="http://schemas.microsoft.com/office/drawing/2014/main" id="{3E24FEFC-1A67-48AC-BEA7-34A7DADE9C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31" name="Slide Number Placeholder 6">
            <a:extLst>
              <a:ext uri="{FF2B5EF4-FFF2-40B4-BE49-F238E27FC236}">
                <a16:creationId xmlns:a16="http://schemas.microsoft.com/office/drawing/2014/main" id="{E5487612-CF9F-B217-7B98-2B7E900E0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D575C7-A4C1-D147-9F9E-E9F1F6FE884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659054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3">
            <a:extLst>
              <a:ext uri="{FF2B5EF4-FFF2-40B4-BE49-F238E27FC236}">
                <a16:creationId xmlns:a16="http://schemas.microsoft.com/office/drawing/2014/main" id="{B54AC611-E4A9-A2AA-5B7D-88D396186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600200"/>
            <a:ext cx="5257800" cy="4800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sz="2400">
                <a:ea typeface="굴림" panose="020B0600000101010101" pitchFamily="34" charset="-127"/>
              </a:rPr>
              <a:t>Monotonicity</a:t>
            </a:r>
          </a:p>
          <a:p>
            <a:pPr lvl="1">
              <a:lnSpc>
                <a:spcPct val="120000"/>
              </a:lnSpc>
            </a:pPr>
            <a:r>
              <a:rPr lang="en-US" altLang="ko-KR" sz="2400" i="1">
                <a:ea typeface="굴림" panose="020B0600000101010101" pitchFamily="34" charset="-127"/>
              </a:rPr>
              <a:t>When an intemset S </a:t>
            </a:r>
            <a:r>
              <a:rPr lang="en-US" altLang="ko-KR" sz="2400" b="1" i="1">
                <a:ea typeface="굴림" panose="020B0600000101010101" pitchFamily="34" charset="-127"/>
              </a:rPr>
              <a:t>satisfies</a:t>
            </a:r>
            <a:r>
              <a:rPr lang="en-US" altLang="ko-KR" sz="2400" i="1">
                <a:ea typeface="굴림" panose="020B0600000101010101" pitchFamily="34" charset="-127"/>
              </a:rPr>
              <a:t> the constraint, so does any of its superset </a:t>
            </a:r>
            <a:endParaRPr lang="en-US" altLang="ko-KR" sz="2400">
              <a:ea typeface="굴림" panose="020B0600000101010101" pitchFamily="34" charset="-127"/>
              <a:sym typeface="Symbol" pitchFamily="2" charset="2"/>
            </a:endParaRPr>
          </a:p>
          <a:p>
            <a:pPr lvl="1">
              <a:lnSpc>
                <a:spcPct val="120000"/>
              </a:lnSpc>
            </a:pPr>
            <a:r>
              <a:rPr lang="en-US" altLang="ko-KR" sz="2400" i="1">
                <a:ea typeface="굴림" panose="020B0600000101010101" pitchFamily="34" charset="-127"/>
                <a:sym typeface="Symbol" pitchFamily="2" charset="2"/>
              </a:rPr>
              <a:t>sum(S.Price)</a:t>
            </a:r>
            <a:r>
              <a:rPr lang="en-US" altLang="ko-KR" sz="2400">
                <a:ea typeface="굴림" panose="020B0600000101010101" pitchFamily="34" charset="-127"/>
                <a:sym typeface="Symbol" pitchFamily="2" charset="2"/>
              </a:rPr>
              <a:t>  </a:t>
            </a:r>
            <a:r>
              <a:rPr lang="en-US" altLang="ko-KR" sz="2400" i="1">
                <a:ea typeface="굴림" panose="020B0600000101010101" pitchFamily="34" charset="-127"/>
                <a:sym typeface="Symbol" pitchFamily="2" charset="2"/>
              </a:rPr>
              <a:t>v</a:t>
            </a:r>
            <a:r>
              <a:rPr lang="en-US" altLang="ko-KR" sz="2400">
                <a:ea typeface="굴림" panose="020B0600000101010101" pitchFamily="34" charset="-127"/>
                <a:sym typeface="Symbol" pitchFamily="2" charset="2"/>
              </a:rPr>
              <a:t>  is </a:t>
            </a:r>
            <a:r>
              <a:rPr lang="en-US" altLang="ko-KR" sz="2400">
                <a:solidFill>
                  <a:schemeClr val="hlink"/>
                </a:solidFill>
                <a:ea typeface="굴림" panose="020B0600000101010101" pitchFamily="34" charset="-127"/>
                <a:sym typeface="Symbol" pitchFamily="2" charset="2"/>
              </a:rPr>
              <a:t>monotone</a:t>
            </a:r>
            <a:endParaRPr lang="en-US" altLang="ko-KR" sz="2400">
              <a:ea typeface="굴림" panose="020B0600000101010101" pitchFamily="34" charset="-127"/>
              <a:sym typeface="Symbol" pitchFamily="2" charset="2"/>
            </a:endParaRPr>
          </a:p>
          <a:p>
            <a:pPr lvl="1">
              <a:lnSpc>
                <a:spcPct val="120000"/>
              </a:lnSpc>
            </a:pPr>
            <a:r>
              <a:rPr lang="en-US" altLang="ko-KR" sz="2400" i="1">
                <a:ea typeface="굴림" panose="020B0600000101010101" pitchFamily="34" charset="-127"/>
                <a:sym typeface="Wingdings" pitchFamily="2" charset="2"/>
              </a:rPr>
              <a:t>min(S.Price) </a:t>
            </a:r>
            <a:r>
              <a:rPr lang="en-US" altLang="ko-KR" sz="2400">
                <a:ea typeface="굴림" panose="020B0600000101010101" pitchFamily="34" charset="-127"/>
                <a:sym typeface="Symbol" pitchFamily="2" charset="2"/>
              </a:rPr>
              <a:t></a:t>
            </a:r>
            <a:r>
              <a:rPr lang="en-US" altLang="ko-KR" sz="2400" i="1">
                <a:ea typeface="굴림" panose="020B0600000101010101" pitchFamily="34" charset="-127"/>
                <a:sym typeface="Wingdings" pitchFamily="2" charset="2"/>
              </a:rPr>
              <a:t> v  </a:t>
            </a:r>
            <a:r>
              <a:rPr lang="en-US" altLang="ko-KR" sz="2400">
                <a:ea typeface="굴림" panose="020B0600000101010101" pitchFamily="34" charset="-127"/>
                <a:sym typeface="Symbol" pitchFamily="2" charset="2"/>
              </a:rPr>
              <a:t>is </a:t>
            </a:r>
            <a:r>
              <a:rPr lang="en-US" altLang="ko-KR" sz="2400">
                <a:solidFill>
                  <a:schemeClr val="hlink"/>
                </a:solidFill>
                <a:ea typeface="굴림" panose="020B0600000101010101" pitchFamily="34" charset="-127"/>
                <a:sym typeface="Symbol" pitchFamily="2" charset="2"/>
              </a:rPr>
              <a:t>monotone</a:t>
            </a:r>
          </a:p>
          <a:p>
            <a:pPr>
              <a:lnSpc>
                <a:spcPct val="120000"/>
              </a:lnSpc>
            </a:pPr>
            <a:r>
              <a:rPr lang="en-US" altLang="ko-KR" sz="2400">
                <a:ea typeface="굴림" panose="020B0600000101010101" pitchFamily="34" charset="-127"/>
                <a:sym typeface="Wingdings" pitchFamily="2" charset="2"/>
              </a:rPr>
              <a:t>Example. C: range(S.profit) </a:t>
            </a:r>
            <a:r>
              <a:rPr lang="en-US" altLang="ko-KR" sz="2400">
                <a:ea typeface="굴림" panose="020B0600000101010101" pitchFamily="34" charset="-127"/>
                <a:sym typeface="Symbol" pitchFamily="2" charset="2"/>
              </a:rPr>
              <a:t></a:t>
            </a:r>
            <a:r>
              <a:rPr lang="en-US" altLang="ko-KR" sz="2400">
                <a:ea typeface="굴림" panose="020B0600000101010101" pitchFamily="34" charset="-127"/>
                <a:sym typeface="Wingdings" pitchFamily="2" charset="2"/>
              </a:rPr>
              <a:t> 15</a:t>
            </a:r>
          </a:p>
          <a:p>
            <a:pPr lvl="1">
              <a:lnSpc>
                <a:spcPct val="120000"/>
              </a:lnSpc>
            </a:pPr>
            <a:r>
              <a:rPr lang="en-US" altLang="ko-KR" sz="2400">
                <a:ea typeface="굴림" panose="020B0600000101010101" pitchFamily="34" charset="-127"/>
              </a:rPr>
              <a:t>Itemset </a:t>
            </a:r>
            <a:r>
              <a:rPr lang="en-US" altLang="ko-KR" sz="2400" i="1">
                <a:ea typeface="굴림" panose="020B0600000101010101" pitchFamily="34" charset="-127"/>
              </a:rPr>
              <a:t>ab </a:t>
            </a:r>
            <a:r>
              <a:rPr lang="en-US" altLang="ko-KR" sz="2400">
                <a:ea typeface="굴림" panose="020B0600000101010101" pitchFamily="34" charset="-127"/>
              </a:rPr>
              <a:t>satisfies C</a:t>
            </a:r>
            <a:endParaRPr lang="en-US" altLang="ko-KR" sz="2400">
              <a:ea typeface="굴림" panose="020B0600000101010101" pitchFamily="34" charset="-127"/>
              <a:sym typeface="Wingdings" pitchFamily="2" charset="2"/>
            </a:endParaRPr>
          </a:p>
          <a:p>
            <a:pPr lvl="1">
              <a:lnSpc>
                <a:spcPct val="120000"/>
              </a:lnSpc>
            </a:pPr>
            <a:r>
              <a:rPr lang="en-US" altLang="ko-KR" sz="2400">
                <a:ea typeface="굴림" panose="020B0600000101010101" pitchFamily="34" charset="-127"/>
                <a:sym typeface="Wingdings" pitchFamily="2" charset="2"/>
              </a:rPr>
              <a:t>So does every superset of </a:t>
            </a:r>
            <a:r>
              <a:rPr lang="en-US" altLang="ko-KR" sz="2400" i="1">
                <a:ea typeface="굴림" panose="020B0600000101010101" pitchFamily="34" charset="-127"/>
                <a:sym typeface="Wingdings" pitchFamily="2" charset="2"/>
              </a:rPr>
              <a:t>ab</a:t>
            </a:r>
          </a:p>
        </p:txBody>
      </p:sp>
      <p:graphicFrame>
        <p:nvGraphicFramePr>
          <p:cNvPr id="1563652" name="Group 4">
            <a:extLst>
              <a:ext uri="{FF2B5EF4-FFF2-40B4-BE49-F238E27FC236}">
                <a16:creationId xmlns:a16="http://schemas.microsoft.com/office/drawing/2014/main" id="{2EE152A1-54A3-8E0C-8C8C-7F54796532AF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1600200"/>
          <a:ext cx="2514600" cy="1722438"/>
        </p:xfrm>
        <a:graphic>
          <a:graphicData uri="http://schemas.openxmlformats.org/drawingml/2006/table">
            <a:tbl>
              <a:tblPr/>
              <a:tblGrid>
                <a:gridCol w="744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Transaction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c, d, f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d, f, g, h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d, e, f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c, e, f, g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3142" name="Text Box 24">
            <a:extLst>
              <a:ext uri="{FF2B5EF4-FFF2-40B4-BE49-F238E27FC236}">
                <a16:creationId xmlns:a16="http://schemas.microsoft.com/office/drawing/2014/main" id="{D55D42F1-E5D2-6B21-C05E-F7C58755F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066800"/>
            <a:ext cx="20685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>
                <a:latin typeface="Times New Roman" panose="02020603050405020304" pitchFamily="18" charset="0"/>
                <a:ea typeface="굴림" panose="020B0600000101010101" pitchFamily="34" charset="-127"/>
              </a:rPr>
              <a:t>TDB (min_sup=2)</a:t>
            </a:r>
          </a:p>
        </p:txBody>
      </p:sp>
      <p:graphicFrame>
        <p:nvGraphicFramePr>
          <p:cNvPr id="1563673" name="Group 25">
            <a:extLst>
              <a:ext uri="{FF2B5EF4-FFF2-40B4-BE49-F238E27FC236}">
                <a16:creationId xmlns:a16="http://schemas.microsoft.com/office/drawing/2014/main" id="{65FD3E38-FCBB-FA1A-73C7-C344272AD482}"/>
              </a:ext>
            </a:extLst>
          </p:cNvPr>
          <p:cNvGraphicFramePr>
            <a:graphicFrameLocks noGrp="1"/>
          </p:cNvGraphicFramePr>
          <p:nvPr/>
        </p:nvGraphicFramePr>
        <p:xfrm>
          <a:off x="7086600" y="3581400"/>
          <a:ext cx="1600200" cy="3017835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Item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Profit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a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40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b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c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20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d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e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30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f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30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g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20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h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3175" name="Rectangle 2">
            <a:extLst>
              <a:ext uri="{FF2B5EF4-FFF2-40B4-BE49-F238E27FC236}">
                <a16:creationId xmlns:a16="http://schemas.microsoft.com/office/drawing/2014/main" id="{C9EC9D42-02B0-BB4D-AE9D-4140165E5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Monotonicity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133176" name="Picture 7" descr="JCU_Logo_RGB.jpg">
            <a:extLst>
              <a:ext uri="{FF2B5EF4-FFF2-40B4-BE49-F238E27FC236}">
                <a16:creationId xmlns:a16="http://schemas.microsoft.com/office/drawing/2014/main" id="{69F836CD-C234-A868-F4CE-62DF4312C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7" name="Line 9">
            <a:extLst>
              <a:ext uri="{FF2B5EF4-FFF2-40B4-BE49-F238E27FC236}">
                <a16:creationId xmlns:a16="http://schemas.microsoft.com/office/drawing/2014/main" id="{F73A19C7-C644-1180-26AC-FBD06E2E88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78" name="Line 10">
            <a:extLst>
              <a:ext uri="{FF2B5EF4-FFF2-40B4-BE49-F238E27FC236}">
                <a16:creationId xmlns:a16="http://schemas.microsoft.com/office/drawing/2014/main" id="{E07AC519-DD2B-B08A-7714-2242EC15BD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79" name="Slide Number Placeholder 6">
            <a:extLst>
              <a:ext uri="{FF2B5EF4-FFF2-40B4-BE49-F238E27FC236}">
                <a16:creationId xmlns:a16="http://schemas.microsoft.com/office/drawing/2014/main" id="{A5D52B51-A72A-2355-6A0C-FEE34C11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09D887-2A3E-E74F-A70C-55368FA6F31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437240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Slide Number Placeholder 5">
            <a:extLst>
              <a:ext uri="{FF2B5EF4-FFF2-40B4-BE49-F238E27FC236}">
                <a16:creationId xmlns:a16="http://schemas.microsoft.com/office/drawing/2014/main" id="{A4632749-A76E-FF23-7B4A-AD136E51B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3D35C0-AA46-574E-B5F6-3EF78544A351}" type="slidenum">
              <a:rPr lang="en-US" altLang="en-US" sz="1200">
                <a:solidFill>
                  <a:srgbClr val="B5A788"/>
                </a:solidFill>
                <a:latin typeface="Tahoma" panose="020B0604030504040204" pitchFamily="34" charset="0"/>
                <a:ea typeface="굴림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en-US" sz="1200">
              <a:solidFill>
                <a:srgbClr val="B5A788"/>
              </a:solidFill>
              <a:latin typeface="Tahoma" panose="020B0604030504040204" pitchFamily="34" charset="0"/>
              <a:ea typeface="굴림" panose="020B0600000101010101" pitchFamily="34" charset="-127"/>
            </a:endParaRPr>
          </a:p>
        </p:txBody>
      </p:sp>
      <p:sp>
        <p:nvSpPr>
          <p:cNvPr id="135170" name="Rectangle 3">
            <a:extLst>
              <a:ext uri="{FF2B5EF4-FFF2-40B4-BE49-F238E27FC236}">
                <a16:creationId xmlns:a16="http://schemas.microsoft.com/office/drawing/2014/main" id="{1A0571F4-1728-25D7-4E2C-2198369CC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295400"/>
            <a:ext cx="7499350" cy="4800600"/>
          </a:xfrm>
        </p:spPr>
        <p:txBody>
          <a:bodyPr/>
          <a:lstStyle/>
          <a:p>
            <a:endParaRPr lang="en-US" altLang="en-US" sz="2400">
              <a:ea typeface="ＭＳ Ｐゴシック" panose="020B0600070205080204" pitchFamily="34" charset="-128"/>
            </a:endParaRPr>
          </a:p>
          <a:p>
            <a:r>
              <a:rPr lang="en-US" altLang="en-US" sz="2400">
                <a:ea typeface="ＭＳ Ｐゴシック" panose="020B0600070205080204" pitchFamily="34" charset="-128"/>
              </a:rPr>
              <a:t>succinct</a:t>
            </a:r>
          </a:p>
          <a:p>
            <a:pPr lvl="1">
              <a:buFont typeface="Wingdings" pitchFamily="2" charset="2"/>
              <a:buChar char="ü"/>
            </a:pPr>
            <a:r>
              <a:rPr lang="ja-JP" altLang="en-US" sz="2000">
                <a:ea typeface="ＭＳ Ｐゴシック" panose="020B0600070205080204" pitchFamily="34" charset="-128"/>
              </a:rPr>
              <a:t>“</a:t>
            </a:r>
            <a:r>
              <a:rPr lang="en-US" altLang="ja-JP" sz="2000">
                <a:ea typeface="ＭＳ Ｐゴシック" panose="020B0600070205080204" pitchFamily="34" charset="-128"/>
              </a:rPr>
              <a:t>All and only those set guaranteed to satisfy the rule can be enumerated</a:t>
            </a:r>
            <a:r>
              <a:rPr lang="ja-JP" altLang="en-US" sz="2000">
                <a:ea typeface="ＭＳ Ｐゴシック" panose="020B0600070205080204" pitchFamily="34" charset="-128"/>
              </a:rPr>
              <a:t>”</a:t>
            </a:r>
            <a:endParaRPr lang="en-US" altLang="ja-JP" sz="2000">
              <a:ea typeface="ＭＳ Ｐゴシック" panose="020B0600070205080204" pitchFamily="34" charset="-128"/>
            </a:endParaRPr>
          </a:p>
          <a:p>
            <a:pPr lvl="1">
              <a:buFont typeface="Wingdings" pitchFamily="2" charset="2"/>
              <a:buChar char="ü"/>
            </a:pPr>
            <a:r>
              <a:rPr lang="en-US" altLang="en-US" sz="2000">
                <a:ea typeface="ＭＳ Ｐゴシック" panose="020B0600070205080204" pitchFamily="34" charset="-128"/>
              </a:rPr>
              <a:t>Itemsets can be generated that satisfy the rule even before the support count starts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2000">
                <a:ea typeface="ＭＳ Ｐゴシック" panose="020B0600070205080204" pitchFamily="34" charset="-128"/>
              </a:rPr>
              <a:t>Once such subset is generated, iterative testing for the constraint can be effectively avoided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2000">
                <a:ea typeface="ＭＳ Ｐゴシック" panose="020B0600070205080204" pitchFamily="34" charset="-128"/>
              </a:rPr>
              <a:t>Example :	min(Item.price) &gt; 500 max(S) &lt; 120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2000">
                <a:ea typeface="ＭＳ Ｐゴシック" panose="020B0600070205080204" pitchFamily="34" charset="-128"/>
              </a:rPr>
              <a:t>average(S) &gt; v , average(S) &lt;v are not succinct </a:t>
            </a: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48FEEEF0-BD50-6623-3247-1F80115B4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334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Succinctness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135172" name="Picture 7" descr="JCU_Logo_RGB.jpg">
            <a:extLst>
              <a:ext uri="{FF2B5EF4-FFF2-40B4-BE49-F238E27FC236}">
                <a16:creationId xmlns:a16="http://schemas.microsoft.com/office/drawing/2014/main" id="{F0728EC4-3C3B-EB67-CBB3-24055597C0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338" y="3937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5173" name="Line 9">
            <a:extLst>
              <a:ext uri="{FF2B5EF4-FFF2-40B4-BE49-F238E27FC236}">
                <a16:creationId xmlns:a16="http://schemas.microsoft.com/office/drawing/2014/main" id="{BFBE9E28-2B0A-386B-F4CA-3324BDD9266F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13493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5174" name="Line 10">
            <a:extLst>
              <a:ext uri="{FF2B5EF4-FFF2-40B4-BE49-F238E27FC236}">
                <a16:creationId xmlns:a16="http://schemas.microsoft.com/office/drawing/2014/main" id="{D5388E85-CF22-8D10-AA65-4FBF9E770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67389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39597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Slide Number Placeholder 5">
            <a:extLst>
              <a:ext uri="{FF2B5EF4-FFF2-40B4-BE49-F238E27FC236}">
                <a16:creationId xmlns:a16="http://schemas.microsoft.com/office/drawing/2014/main" id="{023B64C9-D63F-6F57-7B41-C07BD188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CCC98D-8B00-3C44-9D10-6F89AD6C0BC0}" type="slidenum">
              <a:rPr lang="en-US" altLang="en-US" sz="1200">
                <a:solidFill>
                  <a:srgbClr val="B5A788"/>
                </a:solidFill>
                <a:latin typeface="Tahoma" panose="020B0604030504040204" pitchFamily="34" charset="0"/>
                <a:ea typeface="굴림" panose="020B0600000101010101" pitchFamily="34" charset="-127"/>
              </a:rPr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en-US" sz="1200">
              <a:solidFill>
                <a:srgbClr val="B5A788"/>
              </a:solidFill>
              <a:latin typeface="Tahoma" panose="020B0604030504040204" pitchFamily="34" charset="0"/>
              <a:ea typeface="굴림" panose="020B0600000101010101" pitchFamily="34" charset="-127"/>
            </a:endParaRPr>
          </a:p>
        </p:txBody>
      </p:sp>
      <p:sp>
        <p:nvSpPr>
          <p:cNvPr id="137218" name="Rectangle 2">
            <a:extLst>
              <a:ext uri="{FF2B5EF4-FFF2-40B4-BE49-F238E27FC236}">
                <a16:creationId xmlns:a16="http://schemas.microsoft.com/office/drawing/2014/main" id="{771F3B79-52A2-13E1-0020-0363A16ED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334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Convertibility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137219" name="Picture 7" descr="JCU_Logo_RGB.jpg">
            <a:extLst>
              <a:ext uri="{FF2B5EF4-FFF2-40B4-BE49-F238E27FC236}">
                <a16:creationId xmlns:a16="http://schemas.microsoft.com/office/drawing/2014/main" id="{602CEE26-6B2A-8B96-D0F8-99B7288A14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338" y="3937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220" name="Line 9">
            <a:extLst>
              <a:ext uri="{FF2B5EF4-FFF2-40B4-BE49-F238E27FC236}">
                <a16:creationId xmlns:a16="http://schemas.microsoft.com/office/drawing/2014/main" id="{0AFACCC0-1541-0F5C-7FF1-308DDB97EA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13493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7221" name="Line 10">
            <a:extLst>
              <a:ext uri="{FF2B5EF4-FFF2-40B4-BE49-F238E27FC236}">
                <a16:creationId xmlns:a16="http://schemas.microsoft.com/office/drawing/2014/main" id="{C88C7E24-6ED9-0B5C-8806-720EE72AF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67389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7222" name="Rectangle 3">
            <a:extLst>
              <a:ext uri="{FF2B5EF4-FFF2-40B4-BE49-F238E27FC236}">
                <a16:creationId xmlns:a16="http://schemas.microsoft.com/office/drawing/2014/main" id="{50BA212C-B9E0-E5ED-2E89-ED648764A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41488"/>
            <a:ext cx="7272338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convertible constraints</a:t>
            </a:r>
          </a:p>
          <a:p>
            <a:pPr lvl="1">
              <a:spcBef>
                <a:spcPct val="0"/>
              </a:spcBef>
              <a:buFont typeface="Wingdings" pitchFamily="2" charset="2"/>
              <a:buChar char="ü"/>
            </a:pPr>
            <a:r>
              <a:rPr lang="en-US" altLang="en-US" sz="2000">
                <a:latin typeface="Arial" panose="020B0604020202020204" pitchFamily="34" charset="0"/>
              </a:rPr>
              <a:t>Constraints not satisfying to any of antimonotonic, monotonic, succinct can be made to satisfy antimonotonic, monotonic constraints by changing order of elements in the set</a:t>
            </a:r>
          </a:p>
          <a:p>
            <a:pPr lvl="1">
              <a:spcBef>
                <a:spcPct val="0"/>
              </a:spcBef>
              <a:buFont typeface="Wingdings" pitchFamily="2" charset="2"/>
              <a:buChar char="ü"/>
            </a:pPr>
            <a:r>
              <a:rPr lang="en-US" altLang="en-US" sz="2000">
                <a:latin typeface="Arial" panose="020B0604020202020204" pitchFamily="34" charset="0"/>
              </a:rPr>
              <a:t>Ex : 	Average(price) &lt;  100</a:t>
            </a:r>
          </a:p>
          <a:p>
            <a:pPr lvl="1">
              <a:spcBef>
                <a:spcPct val="0"/>
              </a:spcBef>
              <a:buFont typeface="Wingdings" pitchFamily="2" charset="2"/>
              <a:buNone/>
            </a:pPr>
            <a:endParaRPr lang="en-US" altLang="en-US" sz="20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Inconvertible</a:t>
            </a:r>
          </a:p>
          <a:p>
            <a:pPr lvl="1">
              <a:spcBef>
                <a:spcPct val="0"/>
              </a:spcBef>
              <a:buFont typeface="Wingdings" pitchFamily="2" charset="2"/>
              <a:buChar char="ü"/>
            </a:pPr>
            <a:r>
              <a:rPr lang="en-US" altLang="en-US" sz="2000">
                <a:latin typeface="Arial" panose="020B0604020202020204" pitchFamily="34" charset="0"/>
              </a:rPr>
              <a:t>Constraints which are not convertible</a:t>
            </a:r>
          </a:p>
          <a:p>
            <a:pPr lvl="1">
              <a:spcBef>
                <a:spcPct val="0"/>
              </a:spcBef>
              <a:buFont typeface="Wingdings" pitchFamily="2" charset="2"/>
              <a:buChar char="ü"/>
            </a:pPr>
            <a:r>
              <a:rPr lang="en-US" altLang="en-US" sz="2000">
                <a:latin typeface="Arial" panose="020B0604020202020204" pitchFamily="34" charset="0"/>
              </a:rPr>
              <a:t>Ex :	Sum(S) &lt; v ,  Sum (S) &gt; v , </a:t>
            </a:r>
          </a:p>
          <a:p>
            <a:pPr lvl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			element of set S could be any real value</a:t>
            </a:r>
          </a:p>
        </p:txBody>
      </p:sp>
    </p:spTree>
    <p:extLst>
      <p:ext uri="{BB962C8B-B14F-4D97-AF65-F5344CB8AC3E}">
        <p14:creationId xmlns:p14="http://schemas.microsoft.com/office/powerpoint/2010/main" val="1977127282"/>
      </p:ext>
    </p:extLst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818" name="Rectangle 2">
            <a:extLst>
              <a:ext uri="{FF2B5EF4-FFF2-40B4-BE49-F238E27FC236}">
                <a16:creationId xmlns:a16="http://schemas.microsoft.com/office/drawing/2014/main" id="{BDDA49EB-BBD5-1D5D-A445-0C3BE02FB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457200"/>
            <a:ext cx="7543800" cy="609600"/>
          </a:xfrm>
        </p:spPr>
        <p:txBody>
          <a:bodyPr/>
          <a:lstStyle/>
          <a:p>
            <a:pPr>
              <a:defRPr/>
            </a:pPr>
            <a:r>
              <a:rPr lang="en-US" altLang="en-US" sz="390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The Apriori Algorithm — Example</a:t>
            </a:r>
          </a:p>
        </p:txBody>
      </p:sp>
      <p:graphicFrame>
        <p:nvGraphicFramePr>
          <p:cNvPr id="139266" name="Object 2">
            <a:extLst>
              <a:ext uri="{FF2B5EF4-FFF2-40B4-BE49-F238E27FC236}">
                <a16:creationId xmlns:a16="http://schemas.microsoft.com/office/drawing/2014/main" id="{6A51A9D0-6AB4-C7D8-746C-D61D32EEBA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8850" y="1778000"/>
          <a:ext cx="1814513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676400" imgH="1739900" progId="Excel.Sheet.8">
                  <p:embed/>
                </p:oleObj>
              </mc:Choice>
              <mc:Fallback>
                <p:oleObj name="Worksheet" r:id="rId3" imgW="1676400" imgH="1739900" progId="Excel.Sheet.8">
                  <p:embed/>
                  <p:pic>
                    <p:nvPicPr>
                      <p:cNvPr id="139266" name="Object 2">
                        <a:extLst>
                          <a:ext uri="{FF2B5EF4-FFF2-40B4-BE49-F238E27FC236}">
                            <a16:creationId xmlns:a16="http://schemas.microsoft.com/office/drawing/2014/main" id="{6A51A9D0-6AB4-C7D8-746C-D61D32EEBA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1778000"/>
                        <a:ext cx="1814513" cy="162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67" name="Text Box 4">
            <a:extLst>
              <a:ext uri="{FF2B5EF4-FFF2-40B4-BE49-F238E27FC236}">
                <a16:creationId xmlns:a16="http://schemas.microsoft.com/office/drawing/2014/main" id="{807B27E6-FC38-5DAF-9637-40D95E696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225" y="1371600"/>
            <a:ext cx="159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Database D</a:t>
            </a:r>
          </a:p>
        </p:txBody>
      </p:sp>
      <p:graphicFrame>
        <p:nvGraphicFramePr>
          <p:cNvPr id="139268" name="Object 3">
            <a:extLst>
              <a:ext uri="{FF2B5EF4-FFF2-40B4-BE49-F238E27FC236}">
                <a16:creationId xmlns:a16="http://schemas.microsoft.com/office/drawing/2014/main" id="{DB88939C-AF20-724A-F1DD-58459E3E6C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7950" y="1450975"/>
          <a:ext cx="1824038" cy="194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625600" imgH="2082800" progId="Excel.Sheet.8">
                  <p:embed/>
                </p:oleObj>
              </mc:Choice>
              <mc:Fallback>
                <p:oleObj name="Worksheet" r:id="rId5" imgW="1625600" imgH="2082800" progId="Excel.Sheet.8">
                  <p:embed/>
                  <p:pic>
                    <p:nvPicPr>
                      <p:cNvPr id="139268" name="Object 3">
                        <a:extLst>
                          <a:ext uri="{FF2B5EF4-FFF2-40B4-BE49-F238E27FC236}">
                            <a16:creationId xmlns:a16="http://schemas.microsoft.com/office/drawing/2014/main" id="{DB88939C-AF20-724A-F1DD-58459E3E6C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7950" y="1450975"/>
                        <a:ext cx="1824038" cy="194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9" name="Object 4">
            <a:extLst>
              <a:ext uri="{FF2B5EF4-FFF2-40B4-BE49-F238E27FC236}">
                <a16:creationId xmlns:a16="http://schemas.microsoft.com/office/drawing/2014/main" id="{09B5A0E6-3562-DD76-6A1B-7A55229833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0488" y="1543050"/>
          <a:ext cx="2046287" cy="166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625600" imgH="1739900" progId="Excel.Sheet.8">
                  <p:embed/>
                </p:oleObj>
              </mc:Choice>
              <mc:Fallback>
                <p:oleObj name="Worksheet" r:id="rId7" imgW="1625600" imgH="1739900" progId="Excel.Sheet.8">
                  <p:embed/>
                  <p:pic>
                    <p:nvPicPr>
                      <p:cNvPr id="139269" name="Object 4">
                        <a:extLst>
                          <a:ext uri="{FF2B5EF4-FFF2-40B4-BE49-F238E27FC236}">
                            <a16:creationId xmlns:a16="http://schemas.microsoft.com/office/drawing/2014/main" id="{09B5A0E6-3562-DD76-6A1B-7A55229833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0488" y="1543050"/>
                        <a:ext cx="2046287" cy="166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70" name="Text Box 7">
            <a:extLst>
              <a:ext uri="{FF2B5EF4-FFF2-40B4-BE49-F238E27FC236}">
                <a16:creationId xmlns:a16="http://schemas.microsoft.com/office/drawing/2014/main" id="{45B2F40A-DFCD-7C7F-A98E-DE66AA365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6863" y="2255838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Scan D</a:t>
            </a:r>
          </a:p>
        </p:txBody>
      </p:sp>
      <p:sp>
        <p:nvSpPr>
          <p:cNvPr id="139271" name="Line 8">
            <a:extLst>
              <a:ext uri="{FF2B5EF4-FFF2-40B4-BE49-F238E27FC236}">
                <a16:creationId xmlns:a16="http://schemas.microsoft.com/office/drawing/2014/main" id="{EEC157C1-F846-F2F8-130C-9CE139DE66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2750" y="2701925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9272" name="Text Box 9">
            <a:extLst>
              <a:ext uri="{FF2B5EF4-FFF2-40B4-BE49-F238E27FC236}">
                <a16:creationId xmlns:a16="http://schemas.microsoft.com/office/drawing/2014/main" id="{E0207A99-C813-C509-13FB-11E0F1FD2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4713" y="17033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1</a:t>
            </a:r>
          </a:p>
        </p:txBody>
      </p:sp>
      <p:sp>
        <p:nvSpPr>
          <p:cNvPr id="139273" name="Text Box 10">
            <a:extLst>
              <a:ext uri="{FF2B5EF4-FFF2-40B4-BE49-F238E27FC236}">
                <a16:creationId xmlns:a16="http://schemas.microsoft.com/office/drawing/2014/main" id="{EB5DF6B3-E91D-BBBB-FC9E-7C07A3F74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2338" y="1546225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L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1</a:t>
            </a:r>
          </a:p>
        </p:txBody>
      </p:sp>
      <p:graphicFrame>
        <p:nvGraphicFramePr>
          <p:cNvPr id="139274" name="Object 5">
            <a:extLst>
              <a:ext uri="{FF2B5EF4-FFF2-40B4-BE49-F238E27FC236}">
                <a16:creationId xmlns:a16="http://schemas.microsoft.com/office/drawing/2014/main" id="{1993B238-367E-EE65-7D0A-2931180E13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5988" y="3363913"/>
          <a:ext cx="11207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1003300" imgH="2425700" progId="Excel.Sheet.8">
                  <p:embed/>
                </p:oleObj>
              </mc:Choice>
              <mc:Fallback>
                <p:oleObj name="Worksheet" r:id="rId9" imgW="1003300" imgH="2425700" progId="Excel.Sheet.8">
                  <p:embed/>
                  <p:pic>
                    <p:nvPicPr>
                      <p:cNvPr id="139274" name="Object 5">
                        <a:extLst>
                          <a:ext uri="{FF2B5EF4-FFF2-40B4-BE49-F238E27FC236}">
                            <a16:creationId xmlns:a16="http://schemas.microsoft.com/office/drawing/2014/main" id="{1993B238-367E-EE65-7D0A-2931180E13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5988" y="3363913"/>
                        <a:ext cx="1120775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5" name="Object 6">
            <a:extLst>
              <a:ext uri="{FF2B5EF4-FFF2-40B4-BE49-F238E27FC236}">
                <a16:creationId xmlns:a16="http://schemas.microsoft.com/office/drawing/2014/main" id="{A46ECCFD-23DC-935E-B668-A90EDAC423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6038" y="3475038"/>
          <a:ext cx="17367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1" imgW="1587500" imgH="2425700" progId="Excel.Sheet.8">
                  <p:embed/>
                </p:oleObj>
              </mc:Choice>
              <mc:Fallback>
                <p:oleObj name="Worksheet" r:id="rId11" imgW="1587500" imgH="2425700" progId="Excel.Sheet.8">
                  <p:embed/>
                  <p:pic>
                    <p:nvPicPr>
                      <p:cNvPr id="139275" name="Object 6">
                        <a:extLst>
                          <a:ext uri="{FF2B5EF4-FFF2-40B4-BE49-F238E27FC236}">
                            <a16:creationId xmlns:a16="http://schemas.microsoft.com/office/drawing/2014/main" id="{A46ECCFD-23DC-935E-B668-A90EDAC423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6038" y="3475038"/>
                        <a:ext cx="1736725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6" name="Object 7">
            <a:extLst>
              <a:ext uri="{FF2B5EF4-FFF2-40B4-BE49-F238E27FC236}">
                <a16:creationId xmlns:a16="http://schemas.microsoft.com/office/drawing/2014/main" id="{E49C697D-B291-F71F-4A4B-72DD3604FD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8438" y="3738563"/>
          <a:ext cx="1717675" cy="180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3" imgW="1587500" imgH="1739900" progId="Excel.Sheet.8">
                  <p:embed/>
                </p:oleObj>
              </mc:Choice>
              <mc:Fallback>
                <p:oleObj name="Worksheet" r:id="rId13" imgW="1587500" imgH="1739900" progId="Excel.Sheet.8">
                  <p:embed/>
                  <p:pic>
                    <p:nvPicPr>
                      <p:cNvPr id="139276" name="Object 7">
                        <a:extLst>
                          <a:ext uri="{FF2B5EF4-FFF2-40B4-BE49-F238E27FC236}">
                            <a16:creationId xmlns:a16="http://schemas.microsoft.com/office/drawing/2014/main" id="{E49C697D-B291-F71F-4A4B-72DD3604FD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3738563"/>
                        <a:ext cx="1717675" cy="180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77" name="Text Box 14">
            <a:extLst>
              <a:ext uri="{FF2B5EF4-FFF2-40B4-BE49-F238E27FC236}">
                <a16:creationId xmlns:a16="http://schemas.microsoft.com/office/drawing/2014/main" id="{9B902179-3CAD-3030-E958-5E797EFD4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63" y="3711575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L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</a:p>
        </p:txBody>
      </p:sp>
      <p:sp>
        <p:nvSpPr>
          <p:cNvPr id="139278" name="Text Box 15">
            <a:extLst>
              <a:ext uri="{FF2B5EF4-FFF2-40B4-BE49-F238E27FC236}">
                <a16:creationId xmlns:a16="http://schemas.microsoft.com/office/drawing/2014/main" id="{46E5F358-2E94-C6E2-B065-A2C84C8A7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550" y="33147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</a:p>
        </p:txBody>
      </p:sp>
      <p:sp>
        <p:nvSpPr>
          <p:cNvPr id="139279" name="Text Box 16">
            <a:extLst>
              <a:ext uri="{FF2B5EF4-FFF2-40B4-BE49-F238E27FC236}">
                <a16:creationId xmlns:a16="http://schemas.microsoft.com/office/drawing/2014/main" id="{1E848F81-6EBB-CFCA-AA36-CF8441ECF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33655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</a:p>
        </p:txBody>
      </p:sp>
      <p:sp>
        <p:nvSpPr>
          <p:cNvPr id="139280" name="Line 17">
            <a:extLst>
              <a:ext uri="{FF2B5EF4-FFF2-40B4-BE49-F238E27FC236}">
                <a16:creationId xmlns:a16="http://schemas.microsoft.com/office/drawing/2014/main" id="{9E7BF2F5-ACC7-7480-BC5F-D3586A3960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3263" y="4235450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9281" name="Text Box 18">
            <a:extLst>
              <a:ext uri="{FF2B5EF4-FFF2-40B4-BE49-F238E27FC236}">
                <a16:creationId xmlns:a16="http://schemas.microsoft.com/office/drawing/2014/main" id="{952BD46E-8C8E-0A1C-FA52-D79A39BA6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3900" y="3733800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Scan D</a:t>
            </a:r>
          </a:p>
        </p:txBody>
      </p:sp>
      <p:sp>
        <p:nvSpPr>
          <p:cNvPr id="139282" name="AutoShape 19">
            <a:extLst>
              <a:ext uri="{FF2B5EF4-FFF2-40B4-BE49-F238E27FC236}">
                <a16:creationId xmlns:a16="http://schemas.microsoft.com/office/drawing/2014/main" id="{87F99854-4604-B430-59B9-2A215B73D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6938" y="3052763"/>
            <a:ext cx="627062" cy="855662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800">
              <a:latin typeface="Tahoma" panose="020B0604030504040204" pitchFamily="34" charset="0"/>
            </a:endParaRPr>
          </a:p>
        </p:txBody>
      </p:sp>
      <p:sp>
        <p:nvSpPr>
          <p:cNvPr id="139283" name="Line 20">
            <a:extLst>
              <a:ext uri="{FF2B5EF4-FFF2-40B4-BE49-F238E27FC236}">
                <a16:creationId xmlns:a16="http://schemas.microsoft.com/office/drawing/2014/main" id="{162A8855-94DB-65C4-67F3-4D083CF5F5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0875" y="6281738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9284" name="Text Box 21">
            <a:extLst>
              <a:ext uri="{FF2B5EF4-FFF2-40B4-BE49-F238E27FC236}">
                <a16:creationId xmlns:a16="http://schemas.microsoft.com/office/drawing/2014/main" id="{30ED824D-A69D-9303-EDEA-FCE315B34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4138" y="57848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3</a:t>
            </a:r>
          </a:p>
        </p:txBody>
      </p:sp>
      <p:sp>
        <p:nvSpPr>
          <p:cNvPr id="139285" name="Text Box 22">
            <a:extLst>
              <a:ext uri="{FF2B5EF4-FFF2-40B4-BE49-F238E27FC236}">
                <a16:creationId xmlns:a16="http://schemas.microsoft.com/office/drawing/2014/main" id="{C6EA8E48-FF6A-0583-4F9F-C199B38F6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0438" y="5773738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L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3</a:t>
            </a:r>
          </a:p>
        </p:txBody>
      </p:sp>
      <p:graphicFrame>
        <p:nvGraphicFramePr>
          <p:cNvPr id="139286" name="Object 8">
            <a:extLst>
              <a:ext uri="{FF2B5EF4-FFF2-40B4-BE49-F238E27FC236}">
                <a16:creationId xmlns:a16="http://schemas.microsoft.com/office/drawing/2014/main" id="{71233CF7-EA62-CAB3-A84C-496DD3A6BC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2450" y="5827713"/>
          <a:ext cx="1125538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5" imgW="1003300" imgH="723900" progId="Excel.Sheet.8">
                  <p:embed/>
                </p:oleObj>
              </mc:Choice>
              <mc:Fallback>
                <p:oleObj name="Worksheet" r:id="rId15" imgW="1003300" imgH="723900" progId="Excel.Sheet.8">
                  <p:embed/>
                  <p:pic>
                    <p:nvPicPr>
                      <p:cNvPr id="139286" name="Object 8">
                        <a:extLst>
                          <a:ext uri="{FF2B5EF4-FFF2-40B4-BE49-F238E27FC236}">
                            <a16:creationId xmlns:a16="http://schemas.microsoft.com/office/drawing/2014/main" id="{71233CF7-EA62-CAB3-A84C-496DD3A6BC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5827713"/>
                        <a:ext cx="1125538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87" name="Text Box 24">
            <a:extLst>
              <a:ext uri="{FF2B5EF4-FFF2-40B4-BE49-F238E27FC236}">
                <a16:creationId xmlns:a16="http://schemas.microsoft.com/office/drawing/2014/main" id="{3C8F0225-3690-779F-05BA-2344C848B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7725" y="5864225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Scan D</a:t>
            </a:r>
          </a:p>
        </p:txBody>
      </p:sp>
      <p:graphicFrame>
        <p:nvGraphicFramePr>
          <p:cNvPr id="139288" name="Object 9">
            <a:extLst>
              <a:ext uri="{FF2B5EF4-FFF2-40B4-BE49-F238E27FC236}">
                <a16:creationId xmlns:a16="http://schemas.microsoft.com/office/drawing/2014/main" id="{DAF8C6E8-1027-4FEC-2350-3FFF756E8C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4463" y="5818188"/>
          <a:ext cx="1754187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7" imgW="1587500" imgH="711200" progId="Excel.Sheet.8">
                  <p:embed/>
                </p:oleObj>
              </mc:Choice>
              <mc:Fallback>
                <p:oleObj name="Worksheet" r:id="rId17" imgW="1587500" imgH="711200" progId="Excel.Sheet.8">
                  <p:embed/>
                  <p:pic>
                    <p:nvPicPr>
                      <p:cNvPr id="139288" name="Object 9">
                        <a:extLst>
                          <a:ext uri="{FF2B5EF4-FFF2-40B4-BE49-F238E27FC236}">
                            <a16:creationId xmlns:a16="http://schemas.microsoft.com/office/drawing/2014/main" id="{DAF8C6E8-1027-4FEC-2350-3FFF756E8C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4463" y="5818188"/>
                        <a:ext cx="1754187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89" name="AutoShape 26">
            <a:extLst>
              <a:ext uri="{FF2B5EF4-FFF2-40B4-BE49-F238E27FC236}">
                <a16:creationId xmlns:a16="http://schemas.microsoft.com/office/drawing/2014/main" id="{0BF057CA-C837-F587-B819-853D01491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829175"/>
            <a:ext cx="441325" cy="1249363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800">
              <a:latin typeface="Tahoma" panose="020B0604030504040204" pitchFamily="34" charset="0"/>
            </a:endParaRPr>
          </a:p>
        </p:txBody>
      </p:sp>
      <p:sp>
        <p:nvSpPr>
          <p:cNvPr id="139290" name="Line 27">
            <a:extLst>
              <a:ext uri="{FF2B5EF4-FFF2-40B4-BE49-F238E27FC236}">
                <a16:creationId xmlns:a16="http://schemas.microsoft.com/office/drawing/2014/main" id="{9BB3A16A-2716-3DC5-26AC-A0D28935D6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7238" y="2420938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9291" name="Line 28">
            <a:extLst>
              <a:ext uri="{FF2B5EF4-FFF2-40B4-BE49-F238E27FC236}">
                <a16:creationId xmlns:a16="http://schemas.microsoft.com/office/drawing/2014/main" id="{EDFF4DF4-E22F-7ADD-370A-93C9CF29FB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22638" y="4630738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07851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842" name="Rectangle 2">
            <a:extLst>
              <a:ext uri="{FF2B5EF4-FFF2-40B4-BE49-F238E27FC236}">
                <a16:creationId xmlns:a16="http://schemas.microsoft.com/office/drawing/2014/main" id="{7561F4FF-37C9-6F42-9C5E-307C08DBF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8153400" cy="762000"/>
          </a:xfrm>
        </p:spPr>
        <p:txBody>
          <a:bodyPr/>
          <a:lstStyle/>
          <a:p>
            <a:pPr>
              <a:defRPr/>
            </a:pPr>
            <a:r>
              <a:rPr lang="en-US" altLang="en-US" sz="390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Naïve Algorithm: Apriori + Constraint </a:t>
            </a:r>
          </a:p>
        </p:txBody>
      </p:sp>
      <p:graphicFrame>
        <p:nvGraphicFramePr>
          <p:cNvPr id="141314" name="Object 2">
            <a:extLst>
              <a:ext uri="{FF2B5EF4-FFF2-40B4-BE49-F238E27FC236}">
                <a16:creationId xmlns:a16="http://schemas.microsoft.com/office/drawing/2014/main" id="{E132E894-B509-5AAE-6653-2B9A09BA8F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8850" y="1778000"/>
          <a:ext cx="1814513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676400" imgH="1739900" progId="Excel.Sheet.8">
                  <p:embed/>
                </p:oleObj>
              </mc:Choice>
              <mc:Fallback>
                <p:oleObj name="Worksheet" r:id="rId3" imgW="1676400" imgH="1739900" progId="Excel.Sheet.8">
                  <p:embed/>
                  <p:pic>
                    <p:nvPicPr>
                      <p:cNvPr id="141314" name="Object 2">
                        <a:extLst>
                          <a:ext uri="{FF2B5EF4-FFF2-40B4-BE49-F238E27FC236}">
                            <a16:creationId xmlns:a16="http://schemas.microsoft.com/office/drawing/2014/main" id="{E132E894-B509-5AAE-6653-2B9A09BA8F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1778000"/>
                        <a:ext cx="1814513" cy="162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5" name="Text Box 4">
            <a:extLst>
              <a:ext uri="{FF2B5EF4-FFF2-40B4-BE49-F238E27FC236}">
                <a16:creationId xmlns:a16="http://schemas.microsoft.com/office/drawing/2014/main" id="{196A6637-A05F-3545-5350-931CE47A4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225" y="1371600"/>
            <a:ext cx="159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Database D</a:t>
            </a:r>
          </a:p>
        </p:txBody>
      </p:sp>
      <p:graphicFrame>
        <p:nvGraphicFramePr>
          <p:cNvPr id="141316" name="Object 3">
            <a:extLst>
              <a:ext uri="{FF2B5EF4-FFF2-40B4-BE49-F238E27FC236}">
                <a16:creationId xmlns:a16="http://schemas.microsoft.com/office/drawing/2014/main" id="{6FB2A0DD-AAC5-77D4-661A-7E3640674E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7950" y="1450975"/>
          <a:ext cx="1824038" cy="194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625600" imgH="2082800" progId="Excel.Sheet.8">
                  <p:embed/>
                </p:oleObj>
              </mc:Choice>
              <mc:Fallback>
                <p:oleObj name="Worksheet" r:id="rId5" imgW="1625600" imgH="2082800" progId="Excel.Sheet.8">
                  <p:embed/>
                  <p:pic>
                    <p:nvPicPr>
                      <p:cNvPr id="141316" name="Object 3">
                        <a:extLst>
                          <a:ext uri="{FF2B5EF4-FFF2-40B4-BE49-F238E27FC236}">
                            <a16:creationId xmlns:a16="http://schemas.microsoft.com/office/drawing/2014/main" id="{6FB2A0DD-AAC5-77D4-661A-7E3640674E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7950" y="1450975"/>
                        <a:ext cx="1824038" cy="194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17" name="Object 4">
            <a:extLst>
              <a:ext uri="{FF2B5EF4-FFF2-40B4-BE49-F238E27FC236}">
                <a16:creationId xmlns:a16="http://schemas.microsoft.com/office/drawing/2014/main" id="{17440534-96E7-3102-E192-BA1C6AD9DC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0488" y="1543050"/>
          <a:ext cx="2046287" cy="166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625600" imgH="1739900" progId="Excel.Sheet.8">
                  <p:embed/>
                </p:oleObj>
              </mc:Choice>
              <mc:Fallback>
                <p:oleObj name="Worksheet" r:id="rId7" imgW="1625600" imgH="1739900" progId="Excel.Sheet.8">
                  <p:embed/>
                  <p:pic>
                    <p:nvPicPr>
                      <p:cNvPr id="141317" name="Object 4">
                        <a:extLst>
                          <a:ext uri="{FF2B5EF4-FFF2-40B4-BE49-F238E27FC236}">
                            <a16:creationId xmlns:a16="http://schemas.microsoft.com/office/drawing/2014/main" id="{17440534-96E7-3102-E192-BA1C6AD9DC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0488" y="1543050"/>
                        <a:ext cx="2046287" cy="166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8" name="Text Box 7">
            <a:extLst>
              <a:ext uri="{FF2B5EF4-FFF2-40B4-BE49-F238E27FC236}">
                <a16:creationId xmlns:a16="http://schemas.microsoft.com/office/drawing/2014/main" id="{FE8A056B-D055-CD69-9069-78C52F1BB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6863" y="2255838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Scan D</a:t>
            </a:r>
          </a:p>
        </p:txBody>
      </p:sp>
      <p:sp>
        <p:nvSpPr>
          <p:cNvPr id="141319" name="Line 8">
            <a:extLst>
              <a:ext uri="{FF2B5EF4-FFF2-40B4-BE49-F238E27FC236}">
                <a16:creationId xmlns:a16="http://schemas.microsoft.com/office/drawing/2014/main" id="{CD3179BE-B86C-F13A-6155-83786AC18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2750" y="2701925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1320" name="Text Box 9">
            <a:extLst>
              <a:ext uri="{FF2B5EF4-FFF2-40B4-BE49-F238E27FC236}">
                <a16:creationId xmlns:a16="http://schemas.microsoft.com/office/drawing/2014/main" id="{9DF45B3F-61AE-72C8-23EB-A5F70C12A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4713" y="17033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1</a:t>
            </a:r>
          </a:p>
        </p:txBody>
      </p:sp>
      <p:sp>
        <p:nvSpPr>
          <p:cNvPr id="141321" name="Text Box 10">
            <a:extLst>
              <a:ext uri="{FF2B5EF4-FFF2-40B4-BE49-F238E27FC236}">
                <a16:creationId xmlns:a16="http://schemas.microsoft.com/office/drawing/2014/main" id="{2DB6A74C-4F64-C757-470F-14EF584AF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2338" y="1546225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L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1</a:t>
            </a:r>
          </a:p>
        </p:txBody>
      </p:sp>
      <p:graphicFrame>
        <p:nvGraphicFramePr>
          <p:cNvPr id="141322" name="Object 5">
            <a:extLst>
              <a:ext uri="{FF2B5EF4-FFF2-40B4-BE49-F238E27FC236}">
                <a16:creationId xmlns:a16="http://schemas.microsoft.com/office/drawing/2014/main" id="{A4BD8472-A330-57D7-21E0-5AFEFBA96F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5988" y="3363913"/>
          <a:ext cx="11207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1003300" imgH="2425700" progId="Excel.Sheet.8">
                  <p:embed/>
                </p:oleObj>
              </mc:Choice>
              <mc:Fallback>
                <p:oleObj name="Worksheet" r:id="rId9" imgW="1003300" imgH="2425700" progId="Excel.Sheet.8">
                  <p:embed/>
                  <p:pic>
                    <p:nvPicPr>
                      <p:cNvPr id="141322" name="Object 5">
                        <a:extLst>
                          <a:ext uri="{FF2B5EF4-FFF2-40B4-BE49-F238E27FC236}">
                            <a16:creationId xmlns:a16="http://schemas.microsoft.com/office/drawing/2014/main" id="{A4BD8472-A330-57D7-21E0-5AFEFBA96F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5988" y="3363913"/>
                        <a:ext cx="1120775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3" name="Object 6">
            <a:extLst>
              <a:ext uri="{FF2B5EF4-FFF2-40B4-BE49-F238E27FC236}">
                <a16:creationId xmlns:a16="http://schemas.microsoft.com/office/drawing/2014/main" id="{C8B2FDA3-BF27-A021-CBF0-C2B738356D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6038" y="3475038"/>
          <a:ext cx="17367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1" imgW="1587500" imgH="2425700" progId="Excel.Sheet.8">
                  <p:embed/>
                </p:oleObj>
              </mc:Choice>
              <mc:Fallback>
                <p:oleObj name="Worksheet" r:id="rId11" imgW="1587500" imgH="2425700" progId="Excel.Sheet.8">
                  <p:embed/>
                  <p:pic>
                    <p:nvPicPr>
                      <p:cNvPr id="141323" name="Object 6">
                        <a:extLst>
                          <a:ext uri="{FF2B5EF4-FFF2-40B4-BE49-F238E27FC236}">
                            <a16:creationId xmlns:a16="http://schemas.microsoft.com/office/drawing/2014/main" id="{C8B2FDA3-BF27-A021-CBF0-C2B738356D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6038" y="3475038"/>
                        <a:ext cx="1736725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4" name="Object 7">
            <a:extLst>
              <a:ext uri="{FF2B5EF4-FFF2-40B4-BE49-F238E27FC236}">
                <a16:creationId xmlns:a16="http://schemas.microsoft.com/office/drawing/2014/main" id="{C06A5986-3150-A54B-4926-1C39EC2BC8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8438" y="3738563"/>
          <a:ext cx="1717675" cy="180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3" imgW="1587500" imgH="1739900" progId="Excel.Sheet.8">
                  <p:embed/>
                </p:oleObj>
              </mc:Choice>
              <mc:Fallback>
                <p:oleObj name="Worksheet" r:id="rId13" imgW="1587500" imgH="1739900" progId="Excel.Sheet.8">
                  <p:embed/>
                  <p:pic>
                    <p:nvPicPr>
                      <p:cNvPr id="141324" name="Object 7">
                        <a:extLst>
                          <a:ext uri="{FF2B5EF4-FFF2-40B4-BE49-F238E27FC236}">
                            <a16:creationId xmlns:a16="http://schemas.microsoft.com/office/drawing/2014/main" id="{C06A5986-3150-A54B-4926-1C39EC2BC8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3738563"/>
                        <a:ext cx="1717675" cy="180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25" name="Text Box 14">
            <a:extLst>
              <a:ext uri="{FF2B5EF4-FFF2-40B4-BE49-F238E27FC236}">
                <a16:creationId xmlns:a16="http://schemas.microsoft.com/office/drawing/2014/main" id="{F9AE5405-7730-EF6D-99E0-5E857A5D8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63" y="3711575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L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</a:p>
        </p:txBody>
      </p:sp>
      <p:sp>
        <p:nvSpPr>
          <p:cNvPr id="141326" name="Text Box 15">
            <a:extLst>
              <a:ext uri="{FF2B5EF4-FFF2-40B4-BE49-F238E27FC236}">
                <a16:creationId xmlns:a16="http://schemas.microsoft.com/office/drawing/2014/main" id="{79B9F8B2-1E2D-568A-E7C2-808ABB9B6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550" y="33147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</a:p>
        </p:txBody>
      </p:sp>
      <p:sp>
        <p:nvSpPr>
          <p:cNvPr id="141327" name="Text Box 16">
            <a:extLst>
              <a:ext uri="{FF2B5EF4-FFF2-40B4-BE49-F238E27FC236}">
                <a16:creationId xmlns:a16="http://schemas.microsoft.com/office/drawing/2014/main" id="{5832DFA3-975C-13C7-EC15-28A7E3900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33655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</a:p>
        </p:txBody>
      </p:sp>
      <p:sp>
        <p:nvSpPr>
          <p:cNvPr id="141328" name="Line 17">
            <a:extLst>
              <a:ext uri="{FF2B5EF4-FFF2-40B4-BE49-F238E27FC236}">
                <a16:creationId xmlns:a16="http://schemas.microsoft.com/office/drawing/2014/main" id="{663CA54C-D2CD-B840-821E-16BFE1BE48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3263" y="4235450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1329" name="Text Box 18">
            <a:extLst>
              <a:ext uri="{FF2B5EF4-FFF2-40B4-BE49-F238E27FC236}">
                <a16:creationId xmlns:a16="http://schemas.microsoft.com/office/drawing/2014/main" id="{2D165855-4638-8D90-1608-3BCF27B01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3900" y="3733800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Scan D</a:t>
            </a:r>
          </a:p>
        </p:txBody>
      </p:sp>
      <p:sp>
        <p:nvSpPr>
          <p:cNvPr id="141330" name="AutoShape 19">
            <a:extLst>
              <a:ext uri="{FF2B5EF4-FFF2-40B4-BE49-F238E27FC236}">
                <a16:creationId xmlns:a16="http://schemas.microsoft.com/office/drawing/2014/main" id="{C939B4F1-F437-AE61-5A84-BE738450F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6938" y="3052763"/>
            <a:ext cx="627062" cy="855662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800">
              <a:latin typeface="Tahoma" panose="020B0604030504040204" pitchFamily="34" charset="0"/>
            </a:endParaRPr>
          </a:p>
        </p:txBody>
      </p:sp>
      <p:sp>
        <p:nvSpPr>
          <p:cNvPr id="141331" name="Line 20">
            <a:extLst>
              <a:ext uri="{FF2B5EF4-FFF2-40B4-BE49-F238E27FC236}">
                <a16:creationId xmlns:a16="http://schemas.microsoft.com/office/drawing/2014/main" id="{EC7DF62B-1480-58A2-B48F-42D1788EEFD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0875" y="6281738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1332" name="Text Box 21">
            <a:extLst>
              <a:ext uri="{FF2B5EF4-FFF2-40B4-BE49-F238E27FC236}">
                <a16:creationId xmlns:a16="http://schemas.microsoft.com/office/drawing/2014/main" id="{6201693F-1377-961D-80BD-5CEB71F66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4138" y="57848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3</a:t>
            </a:r>
          </a:p>
        </p:txBody>
      </p:sp>
      <p:sp>
        <p:nvSpPr>
          <p:cNvPr id="141333" name="Text Box 22">
            <a:extLst>
              <a:ext uri="{FF2B5EF4-FFF2-40B4-BE49-F238E27FC236}">
                <a16:creationId xmlns:a16="http://schemas.microsoft.com/office/drawing/2014/main" id="{F81F7B66-501E-716E-090A-1F189709C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0438" y="5773738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L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3</a:t>
            </a:r>
          </a:p>
        </p:txBody>
      </p:sp>
      <p:graphicFrame>
        <p:nvGraphicFramePr>
          <p:cNvPr id="141334" name="Object 8">
            <a:extLst>
              <a:ext uri="{FF2B5EF4-FFF2-40B4-BE49-F238E27FC236}">
                <a16:creationId xmlns:a16="http://schemas.microsoft.com/office/drawing/2014/main" id="{474418A6-76D8-934F-0EE0-9ABD66C813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2450" y="5827713"/>
          <a:ext cx="1125538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5" imgW="1003300" imgH="723900" progId="Excel.Sheet.8">
                  <p:embed/>
                </p:oleObj>
              </mc:Choice>
              <mc:Fallback>
                <p:oleObj name="Worksheet" r:id="rId15" imgW="1003300" imgH="723900" progId="Excel.Sheet.8">
                  <p:embed/>
                  <p:pic>
                    <p:nvPicPr>
                      <p:cNvPr id="141334" name="Object 8">
                        <a:extLst>
                          <a:ext uri="{FF2B5EF4-FFF2-40B4-BE49-F238E27FC236}">
                            <a16:creationId xmlns:a16="http://schemas.microsoft.com/office/drawing/2014/main" id="{474418A6-76D8-934F-0EE0-9ABD66C813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5827713"/>
                        <a:ext cx="1125538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35" name="Text Box 24">
            <a:extLst>
              <a:ext uri="{FF2B5EF4-FFF2-40B4-BE49-F238E27FC236}">
                <a16:creationId xmlns:a16="http://schemas.microsoft.com/office/drawing/2014/main" id="{E9D6ACE8-2E03-BB4B-D5B2-EFA3A08C4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7725" y="5864225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Scan D</a:t>
            </a:r>
          </a:p>
        </p:txBody>
      </p:sp>
      <p:graphicFrame>
        <p:nvGraphicFramePr>
          <p:cNvPr id="141336" name="Object 9">
            <a:extLst>
              <a:ext uri="{FF2B5EF4-FFF2-40B4-BE49-F238E27FC236}">
                <a16:creationId xmlns:a16="http://schemas.microsoft.com/office/drawing/2014/main" id="{CE78260F-3D87-48F0-B76F-B5F60B99EA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4463" y="5818188"/>
          <a:ext cx="1754187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7" imgW="1587500" imgH="711200" progId="Excel.Sheet.8">
                  <p:embed/>
                </p:oleObj>
              </mc:Choice>
              <mc:Fallback>
                <p:oleObj name="Worksheet" r:id="rId17" imgW="1587500" imgH="711200" progId="Excel.Sheet.8">
                  <p:embed/>
                  <p:pic>
                    <p:nvPicPr>
                      <p:cNvPr id="141336" name="Object 9">
                        <a:extLst>
                          <a:ext uri="{FF2B5EF4-FFF2-40B4-BE49-F238E27FC236}">
                            <a16:creationId xmlns:a16="http://schemas.microsoft.com/office/drawing/2014/main" id="{CE78260F-3D87-48F0-B76F-B5F60B99EA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4463" y="5818188"/>
                        <a:ext cx="1754187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37" name="AutoShape 26">
            <a:extLst>
              <a:ext uri="{FF2B5EF4-FFF2-40B4-BE49-F238E27FC236}">
                <a16:creationId xmlns:a16="http://schemas.microsoft.com/office/drawing/2014/main" id="{DD2A42F8-3C25-2AD8-3338-D7733F6CB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829175"/>
            <a:ext cx="441325" cy="1249363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800">
              <a:latin typeface="Tahoma" panose="020B0604030504040204" pitchFamily="34" charset="0"/>
            </a:endParaRPr>
          </a:p>
        </p:txBody>
      </p:sp>
      <p:sp>
        <p:nvSpPr>
          <p:cNvPr id="141338" name="Line 27">
            <a:extLst>
              <a:ext uri="{FF2B5EF4-FFF2-40B4-BE49-F238E27FC236}">
                <a16:creationId xmlns:a16="http://schemas.microsoft.com/office/drawing/2014/main" id="{A83ED27E-A948-68CB-E94C-C65693DB3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7238" y="2420938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1339" name="Line 28">
            <a:extLst>
              <a:ext uri="{FF2B5EF4-FFF2-40B4-BE49-F238E27FC236}">
                <a16:creationId xmlns:a16="http://schemas.microsoft.com/office/drawing/2014/main" id="{E79F4250-F809-2246-EA43-6796B202BC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22638" y="4630738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1340" name="Text Box 29">
            <a:extLst>
              <a:ext uri="{FF2B5EF4-FFF2-40B4-BE49-F238E27FC236}">
                <a16:creationId xmlns:a16="http://schemas.microsoft.com/office/drawing/2014/main" id="{8FD0EEDC-C5FF-F3DC-2C2B-F9FBF4E33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1238" y="5849938"/>
            <a:ext cx="1779587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400" b="1">
                <a:latin typeface="Tahoma" panose="020B0604030504040204" pitchFamily="34" charset="0"/>
                <a:ea typeface="굴림" panose="020B0600000101010101" pitchFamily="34" charset="-127"/>
              </a:rPr>
              <a:t>Constraint: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400" b="1">
                <a:latin typeface="Tahoma" panose="020B0604030504040204" pitchFamily="34" charset="0"/>
                <a:ea typeface="굴림" panose="020B0600000101010101" pitchFamily="34" charset="-127"/>
              </a:rPr>
              <a:t>Sum{S.price} &lt; 5</a:t>
            </a:r>
          </a:p>
        </p:txBody>
      </p:sp>
      <p:grpSp>
        <p:nvGrpSpPr>
          <p:cNvPr id="141341" name="Group 30">
            <a:extLst>
              <a:ext uri="{FF2B5EF4-FFF2-40B4-BE49-F238E27FC236}">
                <a16:creationId xmlns:a16="http://schemas.microsoft.com/office/drawing/2014/main" id="{D4BF39DC-3964-FA44-E0CE-6D7821B841BC}"/>
              </a:ext>
            </a:extLst>
          </p:cNvPr>
          <p:cNvGrpSpPr>
            <a:grpSpLocks/>
          </p:cNvGrpSpPr>
          <p:nvPr/>
        </p:nvGrpSpPr>
        <p:grpSpPr bwMode="auto">
          <a:xfrm>
            <a:off x="6751638" y="2954338"/>
            <a:ext cx="1524000" cy="152400"/>
            <a:chOff x="2160" y="2016"/>
            <a:chExt cx="960" cy="96"/>
          </a:xfrm>
        </p:grpSpPr>
        <p:sp>
          <p:nvSpPr>
            <p:cNvPr id="141354" name="Line 31">
              <a:extLst>
                <a:ext uri="{FF2B5EF4-FFF2-40B4-BE49-F238E27FC236}">
                  <a16:creationId xmlns:a16="http://schemas.microsoft.com/office/drawing/2014/main" id="{12FEE513-419D-DAAF-7034-ABE98473E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1355" name="Line 32">
              <a:extLst>
                <a:ext uri="{FF2B5EF4-FFF2-40B4-BE49-F238E27FC236}">
                  <a16:creationId xmlns:a16="http://schemas.microsoft.com/office/drawing/2014/main" id="{ACC0C0EE-6697-ECDF-380C-F0E04D58AE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41342" name="Group 33">
            <a:extLst>
              <a:ext uri="{FF2B5EF4-FFF2-40B4-BE49-F238E27FC236}">
                <a16:creationId xmlns:a16="http://schemas.microsoft.com/office/drawing/2014/main" id="{B27A53C2-0D67-70C5-15F5-572986444A83}"/>
              </a:ext>
            </a:extLst>
          </p:cNvPr>
          <p:cNvGrpSpPr>
            <a:grpSpLocks/>
          </p:cNvGrpSpPr>
          <p:nvPr/>
        </p:nvGrpSpPr>
        <p:grpSpPr bwMode="auto">
          <a:xfrm>
            <a:off x="1570038" y="4554538"/>
            <a:ext cx="1524000" cy="152400"/>
            <a:chOff x="2160" y="2016"/>
            <a:chExt cx="960" cy="96"/>
          </a:xfrm>
        </p:grpSpPr>
        <p:sp>
          <p:nvSpPr>
            <p:cNvPr id="141352" name="Line 34">
              <a:extLst>
                <a:ext uri="{FF2B5EF4-FFF2-40B4-BE49-F238E27FC236}">
                  <a16:creationId xmlns:a16="http://schemas.microsoft.com/office/drawing/2014/main" id="{84DD201E-6BA0-5BE9-49E1-5EA5F5BCBC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1353" name="Line 35">
              <a:extLst>
                <a:ext uri="{FF2B5EF4-FFF2-40B4-BE49-F238E27FC236}">
                  <a16:creationId xmlns:a16="http://schemas.microsoft.com/office/drawing/2014/main" id="{5B4C1FA3-E93A-4946-FB5B-070CA1CE6B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41343" name="Group 36">
            <a:extLst>
              <a:ext uri="{FF2B5EF4-FFF2-40B4-BE49-F238E27FC236}">
                <a16:creationId xmlns:a16="http://schemas.microsoft.com/office/drawing/2014/main" id="{9F4E9CDD-E601-09D5-BBC4-1D87BE9308F2}"/>
              </a:ext>
            </a:extLst>
          </p:cNvPr>
          <p:cNvGrpSpPr>
            <a:grpSpLocks/>
          </p:cNvGrpSpPr>
          <p:nvPr/>
        </p:nvGrpSpPr>
        <p:grpSpPr bwMode="auto">
          <a:xfrm>
            <a:off x="1570038" y="4935538"/>
            <a:ext cx="1524000" cy="152400"/>
            <a:chOff x="2160" y="2016"/>
            <a:chExt cx="960" cy="96"/>
          </a:xfrm>
        </p:grpSpPr>
        <p:sp>
          <p:nvSpPr>
            <p:cNvPr id="141350" name="Line 37">
              <a:extLst>
                <a:ext uri="{FF2B5EF4-FFF2-40B4-BE49-F238E27FC236}">
                  <a16:creationId xmlns:a16="http://schemas.microsoft.com/office/drawing/2014/main" id="{473D0933-62A2-C4E1-60D1-1709333B7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1351" name="Line 38">
              <a:extLst>
                <a:ext uri="{FF2B5EF4-FFF2-40B4-BE49-F238E27FC236}">
                  <a16:creationId xmlns:a16="http://schemas.microsoft.com/office/drawing/2014/main" id="{EEB549CB-50F3-C937-49DE-B0B02B157C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41344" name="Group 39">
            <a:extLst>
              <a:ext uri="{FF2B5EF4-FFF2-40B4-BE49-F238E27FC236}">
                <a16:creationId xmlns:a16="http://schemas.microsoft.com/office/drawing/2014/main" id="{C4B4B1F2-EB06-7D19-B743-738F2B33DF17}"/>
              </a:ext>
            </a:extLst>
          </p:cNvPr>
          <p:cNvGrpSpPr>
            <a:grpSpLocks/>
          </p:cNvGrpSpPr>
          <p:nvPr/>
        </p:nvGrpSpPr>
        <p:grpSpPr bwMode="auto">
          <a:xfrm>
            <a:off x="1570038" y="5240338"/>
            <a:ext cx="1524000" cy="152400"/>
            <a:chOff x="2160" y="2016"/>
            <a:chExt cx="960" cy="96"/>
          </a:xfrm>
        </p:grpSpPr>
        <p:sp>
          <p:nvSpPr>
            <p:cNvPr id="141348" name="Line 40">
              <a:extLst>
                <a:ext uri="{FF2B5EF4-FFF2-40B4-BE49-F238E27FC236}">
                  <a16:creationId xmlns:a16="http://schemas.microsoft.com/office/drawing/2014/main" id="{DB660B08-D8CF-8672-6042-E9BB8DADB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1349" name="Line 41">
              <a:extLst>
                <a:ext uri="{FF2B5EF4-FFF2-40B4-BE49-F238E27FC236}">
                  <a16:creationId xmlns:a16="http://schemas.microsoft.com/office/drawing/2014/main" id="{85AA6A94-9915-51F6-1F1E-08C66A1E12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41345" name="Group 42">
            <a:extLst>
              <a:ext uri="{FF2B5EF4-FFF2-40B4-BE49-F238E27FC236}">
                <a16:creationId xmlns:a16="http://schemas.microsoft.com/office/drawing/2014/main" id="{D9B6DE35-F610-44B0-64F1-E3EBEF4CE93F}"/>
              </a:ext>
            </a:extLst>
          </p:cNvPr>
          <p:cNvGrpSpPr>
            <a:grpSpLocks/>
          </p:cNvGrpSpPr>
          <p:nvPr/>
        </p:nvGrpSpPr>
        <p:grpSpPr bwMode="auto">
          <a:xfrm>
            <a:off x="5303838" y="6383338"/>
            <a:ext cx="1524000" cy="152400"/>
            <a:chOff x="2160" y="2016"/>
            <a:chExt cx="960" cy="96"/>
          </a:xfrm>
        </p:grpSpPr>
        <p:sp>
          <p:nvSpPr>
            <p:cNvPr id="141346" name="Line 43">
              <a:extLst>
                <a:ext uri="{FF2B5EF4-FFF2-40B4-BE49-F238E27FC236}">
                  <a16:creationId xmlns:a16="http://schemas.microsoft.com/office/drawing/2014/main" id="{53B58CD9-2755-5EC4-4B62-11BA6EE71B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1347" name="Line 44">
              <a:extLst>
                <a:ext uri="{FF2B5EF4-FFF2-40B4-BE49-F238E27FC236}">
                  <a16:creationId xmlns:a16="http://schemas.microsoft.com/office/drawing/2014/main" id="{D5DD2E71-3B3F-E00D-9B6E-B9C0C82CA1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5895059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866" name="Rectangle 2">
            <a:extLst>
              <a:ext uri="{FF2B5EF4-FFF2-40B4-BE49-F238E27FC236}">
                <a16:creationId xmlns:a16="http://schemas.microsoft.com/office/drawing/2014/main" id="{321CD5FE-05DB-9D67-C35D-DC42863CB8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8001000" cy="1066800"/>
          </a:xfrm>
        </p:spPr>
        <p:txBody>
          <a:bodyPr/>
          <a:lstStyle/>
          <a:p>
            <a:pPr>
              <a:defRPr/>
            </a:pPr>
            <a:r>
              <a:rPr lang="en-US" altLang="en-US" sz="290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The Constrained Apriori Algorithm: Push an Anti-monotone Constraint Deep</a:t>
            </a:r>
            <a:r>
              <a:rPr lang="en-US" altLang="en-US" sz="390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 </a:t>
            </a:r>
          </a:p>
        </p:txBody>
      </p:sp>
      <p:graphicFrame>
        <p:nvGraphicFramePr>
          <p:cNvPr id="143362" name="Object 2">
            <a:extLst>
              <a:ext uri="{FF2B5EF4-FFF2-40B4-BE49-F238E27FC236}">
                <a16:creationId xmlns:a16="http://schemas.microsoft.com/office/drawing/2014/main" id="{E8546EB0-746D-14F2-6E6C-6DE9173C9B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2025" y="1778000"/>
          <a:ext cx="1814513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676400" imgH="1739900" progId="Excel.Sheet.8">
                  <p:embed/>
                </p:oleObj>
              </mc:Choice>
              <mc:Fallback>
                <p:oleObj name="Worksheet" r:id="rId3" imgW="1676400" imgH="1739900" progId="Excel.Sheet.8">
                  <p:embed/>
                  <p:pic>
                    <p:nvPicPr>
                      <p:cNvPr id="143362" name="Object 2">
                        <a:extLst>
                          <a:ext uri="{FF2B5EF4-FFF2-40B4-BE49-F238E27FC236}">
                            <a16:creationId xmlns:a16="http://schemas.microsoft.com/office/drawing/2014/main" id="{E8546EB0-746D-14F2-6E6C-6DE9173C9B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1778000"/>
                        <a:ext cx="1814513" cy="162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3" name="Text Box 4">
            <a:extLst>
              <a:ext uri="{FF2B5EF4-FFF2-40B4-BE49-F238E27FC236}">
                <a16:creationId xmlns:a16="http://schemas.microsoft.com/office/drawing/2014/main" id="{2DC8A00D-C78B-38D6-ED08-EC54CC091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371600"/>
            <a:ext cx="159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Database D</a:t>
            </a:r>
          </a:p>
        </p:txBody>
      </p:sp>
      <p:graphicFrame>
        <p:nvGraphicFramePr>
          <p:cNvPr id="143364" name="Object 3">
            <a:extLst>
              <a:ext uri="{FF2B5EF4-FFF2-40B4-BE49-F238E27FC236}">
                <a16:creationId xmlns:a16="http://schemas.microsoft.com/office/drawing/2014/main" id="{1675B9F4-B002-C808-135A-D7F72EB3EE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1125" y="1450975"/>
          <a:ext cx="1824038" cy="194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625600" imgH="2082800" progId="Excel.Sheet.8">
                  <p:embed/>
                </p:oleObj>
              </mc:Choice>
              <mc:Fallback>
                <p:oleObj name="Worksheet" r:id="rId5" imgW="1625600" imgH="2082800" progId="Excel.Sheet.8">
                  <p:embed/>
                  <p:pic>
                    <p:nvPicPr>
                      <p:cNvPr id="143364" name="Object 3">
                        <a:extLst>
                          <a:ext uri="{FF2B5EF4-FFF2-40B4-BE49-F238E27FC236}">
                            <a16:creationId xmlns:a16="http://schemas.microsoft.com/office/drawing/2014/main" id="{1675B9F4-B002-C808-135A-D7F72EB3EE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25" y="1450975"/>
                        <a:ext cx="1824038" cy="194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5" name="Object 4">
            <a:extLst>
              <a:ext uri="{FF2B5EF4-FFF2-40B4-BE49-F238E27FC236}">
                <a16:creationId xmlns:a16="http://schemas.microsoft.com/office/drawing/2014/main" id="{5DD0E771-5C28-1459-0DC6-19D6C8F934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1543050"/>
          <a:ext cx="2046287" cy="166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625600" imgH="1739900" progId="Excel.Sheet.8">
                  <p:embed/>
                </p:oleObj>
              </mc:Choice>
              <mc:Fallback>
                <p:oleObj name="Worksheet" r:id="rId7" imgW="1625600" imgH="1739900" progId="Excel.Sheet.8">
                  <p:embed/>
                  <p:pic>
                    <p:nvPicPr>
                      <p:cNvPr id="143365" name="Object 4">
                        <a:extLst>
                          <a:ext uri="{FF2B5EF4-FFF2-40B4-BE49-F238E27FC236}">
                            <a16:creationId xmlns:a16="http://schemas.microsoft.com/office/drawing/2014/main" id="{5DD0E771-5C28-1459-0DC6-19D6C8F934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1543050"/>
                        <a:ext cx="2046287" cy="166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6" name="Text Box 7">
            <a:extLst>
              <a:ext uri="{FF2B5EF4-FFF2-40B4-BE49-F238E27FC236}">
                <a16:creationId xmlns:a16="http://schemas.microsoft.com/office/drawing/2014/main" id="{A4D5275D-E827-8BC6-B402-884212C68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0038" y="2255838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Scan D</a:t>
            </a:r>
          </a:p>
        </p:txBody>
      </p:sp>
      <p:sp>
        <p:nvSpPr>
          <p:cNvPr id="143367" name="Line 8">
            <a:extLst>
              <a:ext uri="{FF2B5EF4-FFF2-40B4-BE49-F238E27FC236}">
                <a16:creationId xmlns:a16="http://schemas.microsoft.com/office/drawing/2014/main" id="{076379F9-7653-925B-A0F2-1C2E9E6B06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5925" y="2701925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368" name="Text Box 9">
            <a:extLst>
              <a:ext uri="{FF2B5EF4-FFF2-40B4-BE49-F238E27FC236}">
                <a16:creationId xmlns:a16="http://schemas.microsoft.com/office/drawing/2014/main" id="{CFBE33BD-03D8-C305-94CA-1C672D3D8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7888" y="17033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1</a:t>
            </a:r>
          </a:p>
        </p:txBody>
      </p:sp>
      <p:sp>
        <p:nvSpPr>
          <p:cNvPr id="143369" name="Text Box 10">
            <a:extLst>
              <a:ext uri="{FF2B5EF4-FFF2-40B4-BE49-F238E27FC236}">
                <a16:creationId xmlns:a16="http://schemas.microsoft.com/office/drawing/2014/main" id="{F53CFD72-B670-C1C2-A1D9-9095F2058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5513" y="1546225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L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1</a:t>
            </a:r>
          </a:p>
        </p:txBody>
      </p:sp>
      <p:graphicFrame>
        <p:nvGraphicFramePr>
          <p:cNvPr id="143370" name="Object 5">
            <a:extLst>
              <a:ext uri="{FF2B5EF4-FFF2-40B4-BE49-F238E27FC236}">
                <a16:creationId xmlns:a16="http://schemas.microsoft.com/office/drawing/2014/main" id="{B2BFF92A-039B-9390-1D70-36BB2E4D3C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9163" y="3363913"/>
          <a:ext cx="11207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1003300" imgH="2425700" progId="Excel.Sheet.8">
                  <p:embed/>
                </p:oleObj>
              </mc:Choice>
              <mc:Fallback>
                <p:oleObj name="Worksheet" r:id="rId9" imgW="1003300" imgH="2425700" progId="Excel.Sheet.8">
                  <p:embed/>
                  <p:pic>
                    <p:nvPicPr>
                      <p:cNvPr id="143370" name="Object 5">
                        <a:extLst>
                          <a:ext uri="{FF2B5EF4-FFF2-40B4-BE49-F238E27FC236}">
                            <a16:creationId xmlns:a16="http://schemas.microsoft.com/office/drawing/2014/main" id="{B2BFF92A-039B-9390-1D70-36BB2E4D3C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9163" y="3363913"/>
                        <a:ext cx="1120775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1" name="Object 6">
            <a:extLst>
              <a:ext uri="{FF2B5EF4-FFF2-40B4-BE49-F238E27FC236}">
                <a16:creationId xmlns:a16="http://schemas.microsoft.com/office/drawing/2014/main" id="{6B42B18A-8F95-7132-40F8-CB050D11BD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9213" y="3475038"/>
          <a:ext cx="17367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1" imgW="1587500" imgH="2425700" progId="Excel.Sheet.8">
                  <p:embed/>
                </p:oleObj>
              </mc:Choice>
              <mc:Fallback>
                <p:oleObj name="Worksheet" r:id="rId11" imgW="1587500" imgH="2425700" progId="Excel.Sheet.8">
                  <p:embed/>
                  <p:pic>
                    <p:nvPicPr>
                      <p:cNvPr id="143371" name="Object 6">
                        <a:extLst>
                          <a:ext uri="{FF2B5EF4-FFF2-40B4-BE49-F238E27FC236}">
                            <a16:creationId xmlns:a16="http://schemas.microsoft.com/office/drawing/2014/main" id="{6B42B18A-8F95-7132-40F8-CB050D11BD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9213" y="3475038"/>
                        <a:ext cx="1736725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2" name="Object 7">
            <a:extLst>
              <a:ext uri="{FF2B5EF4-FFF2-40B4-BE49-F238E27FC236}">
                <a16:creationId xmlns:a16="http://schemas.microsoft.com/office/drawing/2014/main" id="{774044C7-6F7F-DFE8-93FA-2F067F5488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1613" y="3738563"/>
          <a:ext cx="1717675" cy="180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3" imgW="1587500" imgH="1739900" progId="Excel.Sheet.8">
                  <p:embed/>
                </p:oleObj>
              </mc:Choice>
              <mc:Fallback>
                <p:oleObj name="Worksheet" r:id="rId13" imgW="1587500" imgH="1739900" progId="Excel.Sheet.8">
                  <p:embed/>
                  <p:pic>
                    <p:nvPicPr>
                      <p:cNvPr id="143372" name="Object 7">
                        <a:extLst>
                          <a:ext uri="{FF2B5EF4-FFF2-40B4-BE49-F238E27FC236}">
                            <a16:creationId xmlns:a16="http://schemas.microsoft.com/office/drawing/2014/main" id="{774044C7-6F7F-DFE8-93FA-2F067F5488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613" y="3738563"/>
                        <a:ext cx="1717675" cy="180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73" name="Text Box 14">
            <a:extLst>
              <a:ext uri="{FF2B5EF4-FFF2-40B4-BE49-F238E27FC236}">
                <a16:creationId xmlns:a16="http://schemas.microsoft.com/office/drawing/2014/main" id="{B0646EAE-AC24-E8E3-8AB4-554E15444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438" y="3711575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L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</a:p>
        </p:txBody>
      </p:sp>
      <p:sp>
        <p:nvSpPr>
          <p:cNvPr id="143374" name="Text Box 15">
            <a:extLst>
              <a:ext uri="{FF2B5EF4-FFF2-40B4-BE49-F238E27FC236}">
                <a16:creationId xmlns:a16="http://schemas.microsoft.com/office/drawing/2014/main" id="{9E1C213F-165C-938C-3346-BC5A743DB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7725" y="33147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</a:p>
        </p:txBody>
      </p:sp>
      <p:sp>
        <p:nvSpPr>
          <p:cNvPr id="143375" name="Text Box 16">
            <a:extLst>
              <a:ext uri="{FF2B5EF4-FFF2-40B4-BE49-F238E27FC236}">
                <a16:creationId xmlns:a16="http://schemas.microsoft.com/office/drawing/2014/main" id="{6197AFEA-7C07-E286-442F-D37D51B2A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438" y="33655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</a:p>
        </p:txBody>
      </p:sp>
      <p:sp>
        <p:nvSpPr>
          <p:cNvPr id="143376" name="Line 17">
            <a:extLst>
              <a:ext uri="{FF2B5EF4-FFF2-40B4-BE49-F238E27FC236}">
                <a16:creationId xmlns:a16="http://schemas.microsoft.com/office/drawing/2014/main" id="{513BA352-F132-76BF-A59F-D1BAD83F24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6438" y="4235450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377" name="Text Box 18">
            <a:extLst>
              <a:ext uri="{FF2B5EF4-FFF2-40B4-BE49-F238E27FC236}">
                <a16:creationId xmlns:a16="http://schemas.microsoft.com/office/drawing/2014/main" id="{3350747D-646D-59E0-B735-494B8F5BA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075" y="3733800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Scan D</a:t>
            </a:r>
          </a:p>
        </p:txBody>
      </p:sp>
      <p:sp>
        <p:nvSpPr>
          <p:cNvPr id="143378" name="AutoShape 19">
            <a:extLst>
              <a:ext uri="{FF2B5EF4-FFF2-40B4-BE49-F238E27FC236}">
                <a16:creationId xmlns:a16="http://schemas.microsoft.com/office/drawing/2014/main" id="{3BAF1948-EF52-9C68-BDA8-BB67C2ECA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0113" y="3052763"/>
            <a:ext cx="627062" cy="855662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800">
              <a:latin typeface="Tahoma" panose="020B0604030504040204" pitchFamily="34" charset="0"/>
            </a:endParaRPr>
          </a:p>
        </p:txBody>
      </p:sp>
      <p:sp>
        <p:nvSpPr>
          <p:cNvPr id="143379" name="Line 20">
            <a:extLst>
              <a:ext uri="{FF2B5EF4-FFF2-40B4-BE49-F238E27FC236}">
                <a16:creationId xmlns:a16="http://schemas.microsoft.com/office/drawing/2014/main" id="{867864E7-3AAC-1F56-6F54-017419E5B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4050" y="6281738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380" name="Text Box 21">
            <a:extLst>
              <a:ext uri="{FF2B5EF4-FFF2-40B4-BE49-F238E27FC236}">
                <a16:creationId xmlns:a16="http://schemas.microsoft.com/office/drawing/2014/main" id="{AE334D12-C255-3C49-28B2-63998C23A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313" y="57848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3</a:t>
            </a:r>
          </a:p>
        </p:txBody>
      </p:sp>
      <p:sp>
        <p:nvSpPr>
          <p:cNvPr id="143381" name="Text Box 22">
            <a:extLst>
              <a:ext uri="{FF2B5EF4-FFF2-40B4-BE49-F238E27FC236}">
                <a16:creationId xmlns:a16="http://schemas.microsoft.com/office/drawing/2014/main" id="{F7396DF8-DE68-2257-C0B6-3E0144D6A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3613" y="5773738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L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3</a:t>
            </a:r>
          </a:p>
        </p:txBody>
      </p:sp>
      <p:graphicFrame>
        <p:nvGraphicFramePr>
          <p:cNvPr id="143382" name="Object 8">
            <a:extLst>
              <a:ext uri="{FF2B5EF4-FFF2-40B4-BE49-F238E27FC236}">
                <a16:creationId xmlns:a16="http://schemas.microsoft.com/office/drawing/2014/main" id="{C28DA22E-C844-E058-C94E-7F8EDD1A91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5625" y="5827713"/>
          <a:ext cx="1125538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5" imgW="1003300" imgH="723900" progId="Excel.Sheet.8">
                  <p:embed/>
                </p:oleObj>
              </mc:Choice>
              <mc:Fallback>
                <p:oleObj name="Worksheet" r:id="rId15" imgW="1003300" imgH="723900" progId="Excel.Sheet.8">
                  <p:embed/>
                  <p:pic>
                    <p:nvPicPr>
                      <p:cNvPr id="143382" name="Object 8">
                        <a:extLst>
                          <a:ext uri="{FF2B5EF4-FFF2-40B4-BE49-F238E27FC236}">
                            <a16:creationId xmlns:a16="http://schemas.microsoft.com/office/drawing/2014/main" id="{C28DA22E-C844-E058-C94E-7F8EDD1A91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625" y="5827713"/>
                        <a:ext cx="1125538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83" name="Text Box 24">
            <a:extLst>
              <a:ext uri="{FF2B5EF4-FFF2-40B4-BE49-F238E27FC236}">
                <a16:creationId xmlns:a16="http://schemas.microsoft.com/office/drawing/2014/main" id="{26B34947-75D2-2FAD-2C51-8656C8D7C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900" y="5864225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Scan D</a:t>
            </a:r>
          </a:p>
        </p:txBody>
      </p:sp>
      <p:graphicFrame>
        <p:nvGraphicFramePr>
          <p:cNvPr id="143384" name="Object 9">
            <a:extLst>
              <a:ext uri="{FF2B5EF4-FFF2-40B4-BE49-F238E27FC236}">
                <a16:creationId xmlns:a16="http://schemas.microsoft.com/office/drawing/2014/main" id="{705B2486-530A-4167-7223-BE6CD91F79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7638" y="5818188"/>
          <a:ext cx="1754187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7" imgW="1587500" imgH="711200" progId="Excel.Sheet.8">
                  <p:embed/>
                </p:oleObj>
              </mc:Choice>
              <mc:Fallback>
                <p:oleObj name="Worksheet" r:id="rId17" imgW="1587500" imgH="711200" progId="Excel.Sheet.8">
                  <p:embed/>
                  <p:pic>
                    <p:nvPicPr>
                      <p:cNvPr id="143384" name="Object 9">
                        <a:extLst>
                          <a:ext uri="{FF2B5EF4-FFF2-40B4-BE49-F238E27FC236}">
                            <a16:creationId xmlns:a16="http://schemas.microsoft.com/office/drawing/2014/main" id="{705B2486-530A-4167-7223-BE6CD91F79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7638" y="5818188"/>
                        <a:ext cx="1754187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85" name="AutoShape 26">
            <a:extLst>
              <a:ext uri="{FF2B5EF4-FFF2-40B4-BE49-F238E27FC236}">
                <a16:creationId xmlns:a16="http://schemas.microsoft.com/office/drawing/2014/main" id="{9E017E42-B4D2-9805-2B24-873957E29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4829175"/>
            <a:ext cx="441325" cy="1249363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800">
              <a:latin typeface="Tahoma" panose="020B0604030504040204" pitchFamily="34" charset="0"/>
            </a:endParaRPr>
          </a:p>
        </p:txBody>
      </p:sp>
      <p:sp>
        <p:nvSpPr>
          <p:cNvPr id="143386" name="Line 27">
            <a:extLst>
              <a:ext uri="{FF2B5EF4-FFF2-40B4-BE49-F238E27FC236}">
                <a16:creationId xmlns:a16="http://schemas.microsoft.com/office/drawing/2014/main" id="{ACAAC009-16DB-5806-F475-2D1DDE82EB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0413" y="2420938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387" name="Line 28">
            <a:extLst>
              <a:ext uri="{FF2B5EF4-FFF2-40B4-BE49-F238E27FC236}">
                <a16:creationId xmlns:a16="http://schemas.microsoft.com/office/drawing/2014/main" id="{DF8914A1-A723-82D8-29F3-34BBCDB180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25813" y="4630738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388" name="Text Box 29">
            <a:extLst>
              <a:ext uri="{FF2B5EF4-FFF2-40B4-BE49-F238E27FC236}">
                <a16:creationId xmlns:a16="http://schemas.microsoft.com/office/drawing/2014/main" id="{AD32B067-EED5-D5D7-099F-12507E742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4413" y="5849938"/>
            <a:ext cx="1779587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400" b="1">
                <a:latin typeface="Tahoma" panose="020B0604030504040204" pitchFamily="34" charset="0"/>
                <a:ea typeface="굴림" panose="020B0600000101010101" pitchFamily="34" charset="-127"/>
              </a:rPr>
              <a:t>Constraint: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400" b="1">
                <a:latin typeface="Tahoma" panose="020B0604030504040204" pitchFamily="34" charset="0"/>
                <a:ea typeface="굴림" panose="020B0600000101010101" pitchFamily="34" charset="-127"/>
              </a:rPr>
              <a:t>Sum{S.price} &lt; 5</a:t>
            </a:r>
          </a:p>
        </p:txBody>
      </p:sp>
      <p:grpSp>
        <p:nvGrpSpPr>
          <p:cNvPr id="143389" name="Group 30">
            <a:extLst>
              <a:ext uri="{FF2B5EF4-FFF2-40B4-BE49-F238E27FC236}">
                <a16:creationId xmlns:a16="http://schemas.microsoft.com/office/drawing/2014/main" id="{E7A8A072-04AF-FE36-00A3-FC32F23F6632}"/>
              </a:ext>
            </a:extLst>
          </p:cNvPr>
          <p:cNvGrpSpPr>
            <a:grpSpLocks/>
          </p:cNvGrpSpPr>
          <p:nvPr/>
        </p:nvGrpSpPr>
        <p:grpSpPr bwMode="auto">
          <a:xfrm>
            <a:off x="4087813" y="3182938"/>
            <a:ext cx="1524000" cy="152400"/>
            <a:chOff x="2160" y="2016"/>
            <a:chExt cx="960" cy="96"/>
          </a:xfrm>
        </p:grpSpPr>
        <p:sp>
          <p:nvSpPr>
            <p:cNvPr id="143405" name="Line 31">
              <a:extLst>
                <a:ext uri="{FF2B5EF4-FFF2-40B4-BE49-F238E27FC236}">
                  <a16:creationId xmlns:a16="http://schemas.microsoft.com/office/drawing/2014/main" id="{A922E8C2-D71E-1CB8-2A29-FF992CEE2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3406" name="Line 32">
              <a:extLst>
                <a:ext uri="{FF2B5EF4-FFF2-40B4-BE49-F238E27FC236}">
                  <a16:creationId xmlns:a16="http://schemas.microsoft.com/office/drawing/2014/main" id="{FFC937D7-4102-CF09-4FA8-228E807A49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43390" name="Line 33">
            <a:extLst>
              <a:ext uri="{FF2B5EF4-FFF2-40B4-BE49-F238E27FC236}">
                <a16:creationId xmlns:a16="http://schemas.microsoft.com/office/drawing/2014/main" id="{83C54C75-B631-0E0F-DA48-2278E51620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8613" y="3030538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391" name="Line 34">
            <a:extLst>
              <a:ext uri="{FF2B5EF4-FFF2-40B4-BE49-F238E27FC236}">
                <a16:creationId xmlns:a16="http://schemas.microsoft.com/office/drawing/2014/main" id="{F016C4FC-54A5-F8E5-CC1A-2796242A3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0613" y="4552950"/>
            <a:ext cx="758825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392" name="Line 35">
            <a:extLst>
              <a:ext uri="{FF2B5EF4-FFF2-40B4-BE49-F238E27FC236}">
                <a16:creationId xmlns:a16="http://schemas.microsoft.com/office/drawing/2014/main" id="{7D690365-02AA-1A8F-8456-2BA7949835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0613" y="5240338"/>
            <a:ext cx="758825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393" name="Line 36">
            <a:extLst>
              <a:ext uri="{FF2B5EF4-FFF2-40B4-BE49-F238E27FC236}">
                <a16:creationId xmlns:a16="http://schemas.microsoft.com/office/drawing/2014/main" id="{75082555-4681-2953-DCAE-66C106BA464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0613" y="5545138"/>
            <a:ext cx="758825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394" name="Line 37">
            <a:extLst>
              <a:ext uri="{FF2B5EF4-FFF2-40B4-BE49-F238E27FC236}">
                <a16:creationId xmlns:a16="http://schemas.microsoft.com/office/drawing/2014/main" id="{32F6AB70-EF7A-F955-FC38-6D3D0DF12F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5413" y="5545138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395" name="Line 38">
            <a:extLst>
              <a:ext uri="{FF2B5EF4-FFF2-40B4-BE49-F238E27FC236}">
                <a16:creationId xmlns:a16="http://schemas.microsoft.com/office/drawing/2014/main" id="{322EBD75-A5F1-90FF-0533-DD8F2691C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5413" y="5240338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396" name="Line 39">
            <a:extLst>
              <a:ext uri="{FF2B5EF4-FFF2-40B4-BE49-F238E27FC236}">
                <a16:creationId xmlns:a16="http://schemas.microsoft.com/office/drawing/2014/main" id="{16F0D19D-F0E7-F016-2BC1-B0397CE5F5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5413" y="4630738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43397" name="Group 40">
            <a:extLst>
              <a:ext uri="{FF2B5EF4-FFF2-40B4-BE49-F238E27FC236}">
                <a16:creationId xmlns:a16="http://schemas.microsoft.com/office/drawing/2014/main" id="{86EFD557-5C09-6808-8086-59920390C7F1}"/>
              </a:ext>
            </a:extLst>
          </p:cNvPr>
          <p:cNvGrpSpPr>
            <a:grpSpLocks/>
          </p:cNvGrpSpPr>
          <p:nvPr/>
        </p:nvGrpSpPr>
        <p:grpSpPr bwMode="auto">
          <a:xfrm>
            <a:off x="4011613" y="4859338"/>
            <a:ext cx="1524000" cy="152400"/>
            <a:chOff x="2160" y="2016"/>
            <a:chExt cx="960" cy="96"/>
          </a:xfrm>
        </p:grpSpPr>
        <p:sp>
          <p:nvSpPr>
            <p:cNvPr id="143403" name="Line 41">
              <a:extLst>
                <a:ext uri="{FF2B5EF4-FFF2-40B4-BE49-F238E27FC236}">
                  <a16:creationId xmlns:a16="http://schemas.microsoft.com/office/drawing/2014/main" id="{09C05432-F0B2-C33C-993B-A8A7CE23C5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3404" name="Line 42">
              <a:extLst>
                <a:ext uri="{FF2B5EF4-FFF2-40B4-BE49-F238E27FC236}">
                  <a16:creationId xmlns:a16="http://schemas.microsoft.com/office/drawing/2014/main" id="{0AAAB965-523E-B5E6-D70D-337748382D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43398" name="Line 43">
            <a:extLst>
              <a:ext uri="{FF2B5EF4-FFF2-40B4-BE49-F238E27FC236}">
                <a16:creationId xmlns:a16="http://schemas.microsoft.com/office/drawing/2014/main" id="{ED4D3895-DC7C-CCEE-3EB8-4C6BC57B32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7013" y="4630738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399" name="Line 44">
            <a:extLst>
              <a:ext uri="{FF2B5EF4-FFF2-40B4-BE49-F238E27FC236}">
                <a16:creationId xmlns:a16="http://schemas.microsoft.com/office/drawing/2014/main" id="{A507B838-0D3F-07B3-52AD-811532DD66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7013" y="5011738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00" name="Line 45">
            <a:extLst>
              <a:ext uri="{FF2B5EF4-FFF2-40B4-BE49-F238E27FC236}">
                <a16:creationId xmlns:a16="http://schemas.microsoft.com/office/drawing/2014/main" id="{981CC5CE-AA79-87E9-3277-88973F6267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7013" y="5316538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01" name="Line 46">
            <a:extLst>
              <a:ext uri="{FF2B5EF4-FFF2-40B4-BE49-F238E27FC236}">
                <a16:creationId xmlns:a16="http://schemas.microsoft.com/office/drawing/2014/main" id="{5A4F1412-612D-92F0-679B-CBE9E100B3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7013" y="6383338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02" name="Line 47">
            <a:extLst>
              <a:ext uri="{FF2B5EF4-FFF2-40B4-BE49-F238E27FC236}">
                <a16:creationId xmlns:a16="http://schemas.microsoft.com/office/drawing/2014/main" id="{1F7C572F-DB31-0AF1-0138-C93E26A14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0413" y="6459538"/>
            <a:ext cx="758825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14578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890" name="Rectangle 2">
            <a:extLst>
              <a:ext uri="{FF2B5EF4-FFF2-40B4-BE49-F238E27FC236}">
                <a16:creationId xmlns:a16="http://schemas.microsoft.com/office/drawing/2014/main" id="{63ACCA33-5DE4-6BC1-167D-84353AFBBC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640638" cy="990600"/>
          </a:xfrm>
        </p:spPr>
        <p:txBody>
          <a:bodyPr/>
          <a:lstStyle/>
          <a:p>
            <a:pPr>
              <a:defRPr/>
            </a:pPr>
            <a:r>
              <a:rPr lang="en-US" altLang="en-US" sz="290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The Constrained Apriori Algorithm: Push a Succinct Constraint Deep</a:t>
            </a:r>
            <a:r>
              <a:rPr lang="en-US" altLang="en-US" sz="390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 </a:t>
            </a:r>
          </a:p>
        </p:txBody>
      </p:sp>
      <p:graphicFrame>
        <p:nvGraphicFramePr>
          <p:cNvPr id="145410" name="Object 2">
            <a:extLst>
              <a:ext uri="{FF2B5EF4-FFF2-40B4-BE49-F238E27FC236}">
                <a16:creationId xmlns:a16="http://schemas.microsoft.com/office/drawing/2014/main" id="{249D9D7A-EFD3-4F8D-DC20-966925302E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825" y="1939925"/>
          <a:ext cx="1814513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676400" imgH="1739900" progId="Excel.Sheet.8">
                  <p:embed/>
                </p:oleObj>
              </mc:Choice>
              <mc:Fallback>
                <p:oleObj name="Worksheet" r:id="rId3" imgW="1676400" imgH="1739900" progId="Excel.Sheet.8">
                  <p:embed/>
                  <p:pic>
                    <p:nvPicPr>
                      <p:cNvPr id="145410" name="Object 2">
                        <a:extLst>
                          <a:ext uri="{FF2B5EF4-FFF2-40B4-BE49-F238E27FC236}">
                            <a16:creationId xmlns:a16="http://schemas.microsoft.com/office/drawing/2014/main" id="{249D9D7A-EFD3-4F8D-DC20-966925302E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" y="1939925"/>
                        <a:ext cx="1814513" cy="162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1" name="Text Box 4">
            <a:extLst>
              <a:ext uri="{FF2B5EF4-FFF2-40B4-BE49-F238E27FC236}">
                <a16:creationId xmlns:a16="http://schemas.microsoft.com/office/drawing/2014/main" id="{82404730-8C3D-79F4-BC2C-57A100E5C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33525"/>
            <a:ext cx="159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Database D</a:t>
            </a:r>
          </a:p>
        </p:txBody>
      </p:sp>
      <p:graphicFrame>
        <p:nvGraphicFramePr>
          <p:cNvPr id="145412" name="Object 3">
            <a:extLst>
              <a:ext uri="{FF2B5EF4-FFF2-40B4-BE49-F238E27FC236}">
                <a16:creationId xmlns:a16="http://schemas.microsoft.com/office/drawing/2014/main" id="{F7F75475-6DD2-0C6E-CFEA-F2B54A77EB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3925" y="1612900"/>
          <a:ext cx="1824038" cy="194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625600" imgH="2082800" progId="Excel.Sheet.8">
                  <p:embed/>
                </p:oleObj>
              </mc:Choice>
              <mc:Fallback>
                <p:oleObj name="Worksheet" r:id="rId5" imgW="1625600" imgH="2082800" progId="Excel.Sheet.8">
                  <p:embed/>
                  <p:pic>
                    <p:nvPicPr>
                      <p:cNvPr id="145412" name="Object 3">
                        <a:extLst>
                          <a:ext uri="{FF2B5EF4-FFF2-40B4-BE49-F238E27FC236}">
                            <a16:creationId xmlns:a16="http://schemas.microsoft.com/office/drawing/2014/main" id="{F7F75475-6DD2-0C6E-CFEA-F2B54A77EB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925" y="1612900"/>
                        <a:ext cx="1824038" cy="194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3" name="Object 4">
            <a:extLst>
              <a:ext uri="{FF2B5EF4-FFF2-40B4-BE49-F238E27FC236}">
                <a16:creationId xmlns:a16="http://schemas.microsoft.com/office/drawing/2014/main" id="{332FCE08-AE08-62A1-5FE5-C826DB0714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6463" y="1704975"/>
          <a:ext cx="2046287" cy="166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625600" imgH="1739900" progId="Excel.Sheet.8">
                  <p:embed/>
                </p:oleObj>
              </mc:Choice>
              <mc:Fallback>
                <p:oleObj name="Worksheet" r:id="rId7" imgW="1625600" imgH="1739900" progId="Excel.Sheet.8">
                  <p:embed/>
                  <p:pic>
                    <p:nvPicPr>
                      <p:cNvPr id="145413" name="Object 4">
                        <a:extLst>
                          <a:ext uri="{FF2B5EF4-FFF2-40B4-BE49-F238E27FC236}">
                            <a16:creationId xmlns:a16="http://schemas.microsoft.com/office/drawing/2014/main" id="{332FCE08-AE08-62A1-5FE5-C826DB0714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6463" y="1704975"/>
                        <a:ext cx="2046287" cy="166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4" name="Text Box 7">
            <a:extLst>
              <a:ext uri="{FF2B5EF4-FFF2-40B4-BE49-F238E27FC236}">
                <a16:creationId xmlns:a16="http://schemas.microsoft.com/office/drawing/2014/main" id="{CF01D8C7-4D12-ADC1-6CB2-B9E46FA0B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838" y="2417763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Scan D</a:t>
            </a:r>
          </a:p>
        </p:txBody>
      </p:sp>
      <p:sp>
        <p:nvSpPr>
          <p:cNvPr id="145415" name="Line 8">
            <a:extLst>
              <a:ext uri="{FF2B5EF4-FFF2-40B4-BE49-F238E27FC236}">
                <a16:creationId xmlns:a16="http://schemas.microsoft.com/office/drawing/2014/main" id="{2D7B5C12-05D5-456F-1D53-8BCE18FB4A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8725" y="2863850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5416" name="Text Box 9">
            <a:extLst>
              <a:ext uri="{FF2B5EF4-FFF2-40B4-BE49-F238E27FC236}">
                <a16:creationId xmlns:a16="http://schemas.microsoft.com/office/drawing/2014/main" id="{18351C20-ED4E-5D05-E9A7-18F10F63F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688" y="18653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1</a:t>
            </a:r>
          </a:p>
        </p:txBody>
      </p:sp>
      <p:sp>
        <p:nvSpPr>
          <p:cNvPr id="145417" name="Text Box 10">
            <a:extLst>
              <a:ext uri="{FF2B5EF4-FFF2-40B4-BE49-F238E27FC236}">
                <a16:creationId xmlns:a16="http://schemas.microsoft.com/office/drawing/2014/main" id="{690A41F8-71DB-22DB-70C3-C82BB3605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8313" y="1708150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L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1</a:t>
            </a:r>
          </a:p>
        </p:txBody>
      </p:sp>
      <p:graphicFrame>
        <p:nvGraphicFramePr>
          <p:cNvPr id="145418" name="Object 5">
            <a:extLst>
              <a:ext uri="{FF2B5EF4-FFF2-40B4-BE49-F238E27FC236}">
                <a16:creationId xmlns:a16="http://schemas.microsoft.com/office/drawing/2014/main" id="{9D5BD16F-7A03-A4CE-EE26-FB06C7C57E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31013" y="3497263"/>
          <a:ext cx="11207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1003300" imgH="2425700" progId="Excel.Sheet.8">
                  <p:embed/>
                </p:oleObj>
              </mc:Choice>
              <mc:Fallback>
                <p:oleObj name="Worksheet" r:id="rId9" imgW="1003300" imgH="2425700" progId="Excel.Sheet.8">
                  <p:embed/>
                  <p:pic>
                    <p:nvPicPr>
                      <p:cNvPr id="145418" name="Object 5">
                        <a:extLst>
                          <a:ext uri="{FF2B5EF4-FFF2-40B4-BE49-F238E27FC236}">
                            <a16:creationId xmlns:a16="http://schemas.microsoft.com/office/drawing/2014/main" id="{9D5BD16F-7A03-A4CE-EE26-FB06C7C57E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1013" y="3497263"/>
                        <a:ext cx="1120775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9" name="Object 6">
            <a:extLst>
              <a:ext uri="{FF2B5EF4-FFF2-40B4-BE49-F238E27FC236}">
                <a16:creationId xmlns:a16="http://schemas.microsoft.com/office/drawing/2014/main" id="{5362F447-2BAC-6BE0-8E04-37A8C877B0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2013" y="3636963"/>
          <a:ext cx="17367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1" imgW="1587500" imgH="2425700" progId="Excel.Sheet.8">
                  <p:embed/>
                </p:oleObj>
              </mc:Choice>
              <mc:Fallback>
                <p:oleObj name="Worksheet" r:id="rId11" imgW="1587500" imgH="2425700" progId="Excel.Sheet.8">
                  <p:embed/>
                  <p:pic>
                    <p:nvPicPr>
                      <p:cNvPr id="145419" name="Object 6">
                        <a:extLst>
                          <a:ext uri="{FF2B5EF4-FFF2-40B4-BE49-F238E27FC236}">
                            <a16:creationId xmlns:a16="http://schemas.microsoft.com/office/drawing/2014/main" id="{5362F447-2BAC-6BE0-8E04-37A8C877B0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013" y="3636963"/>
                        <a:ext cx="1736725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0" name="Object 7">
            <a:extLst>
              <a:ext uri="{FF2B5EF4-FFF2-40B4-BE49-F238E27FC236}">
                <a16:creationId xmlns:a16="http://schemas.microsoft.com/office/drawing/2014/main" id="{B00B4F53-7A50-AE08-DCF0-DF0520A125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4413" y="3900488"/>
          <a:ext cx="1717675" cy="180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3" imgW="1587500" imgH="1739900" progId="Excel.Sheet.8">
                  <p:embed/>
                </p:oleObj>
              </mc:Choice>
              <mc:Fallback>
                <p:oleObj name="Worksheet" r:id="rId13" imgW="1587500" imgH="1739900" progId="Excel.Sheet.8">
                  <p:embed/>
                  <p:pic>
                    <p:nvPicPr>
                      <p:cNvPr id="145420" name="Object 7">
                        <a:extLst>
                          <a:ext uri="{FF2B5EF4-FFF2-40B4-BE49-F238E27FC236}">
                            <a16:creationId xmlns:a16="http://schemas.microsoft.com/office/drawing/2014/main" id="{B00B4F53-7A50-AE08-DCF0-DF0520A125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3" y="3900488"/>
                        <a:ext cx="1717675" cy="180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21" name="Text Box 14">
            <a:extLst>
              <a:ext uri="{FF2B5EF4-FFF2-40B4-BE49-F238E27FC236}">
                <a16:creationId xmlns:a16="http://schemas.microsoft.com/office/drawing/2014/main" id="{FFF71C51-2550-C446-66BC-D3D9FD51D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873500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L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</a:p>
        </p:txBody>
      </p:sp>
      <p:sp>
        <p:nvSpPr>
          <p:cNvPr id="145422" name="Text Box 15">
            <a:extLst>
              <a:ext uri="{FF2B5EF4-FFF2-40B4-BE49-F238E27FC236}">
                <a16:creationId xmlns:a16="http://schemas.microsoft.com/office/drawing/2014/main" id="{95CC22BE-0E95-AA06-7CBF-D240D0B2E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0525" y="34766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</a:p>
        </p:txBody>
      </p:sp>
      <p:sp>
        <p:nvSpPr>
          <p:cNvPr id="145423" name="Text Box 16">
            <a:extLst>
              <a:ext uri="{FF2B5EF4-FFF2-40B4-BE49-F238E27FC236}">
                <a16:creationId xmlns:a16="http://schemas.microsoft.com/office/drawing/2014/main" id="{BE407D31-10A8-1FC2-5C95-C2FC938BE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238" y="35274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</a:p>
        </p:txBody>
      </p:sp>
      <p:sp>
        <p:nvSpPr>
          <p:cNvPr id="145424" name="Line 17">
            <a:extLst>
              <a:ext uri="{FF2B5EF4-FFF2-40B4-BE49-F238E27FC236}">
                <a16:creationId xmlns:a16="http://schemas.microsoft.com/office/drawing/2014/main" id="{231B84D0-C8CB-BDBC-BA10-C866B5F811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29238" y="4397375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5425" name="Text Box 18">
            <a:extLst>
              <a:ext uri="{FF2B5EF4-FFF2-40B4-BE49-F238E27FC236}">
                <a16:creationId xmlns:a16="http://schemas.microsoft.com/office/drawing/2014/main" id="{19805C20-F8F4-39E2-66E7-AA4585E11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75" y="3895725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Scan D</a:t>
            </a:r>
          </a:p>
        </p:txBody>
      </p:sp>
      <p:sp>
        <p:nvSpPr>
          <p:cNvPr id="145426" name="AutoShape 19">
            <a:extLst>
              <a:ext uri="{FF2B5EF4-FFF2-40B4-BE49-F238E27FC236}">
                <a16:creationId xmlns:a16="http://schemas.microsoft.com/office/drawing/2014/main" id="{92B00513-7C04-E893-54E5-FB8286B61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913" y="3214688"/>
            <a:ext cx="627062" cy="855662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800">
              <a:latin typeface="Tahoma" panose="020B0604030504040204" pitchFamily="34" charset="0"/>
            </a:endParaRPr>
          </a:p>
        </p:txBody>
      </p:sp>
      <p:sp>
        <p:nvSpPr>
          <p:cNvPr id="145427" name="Line 20">
            <a:extLst>
              <a:ext uri="{FF2B5EF4-FFF2-40B4-BE49-F238E27FC236}">
                <a16:creationId xmlns:a16="http://schemas.microsoft.com/office/drawing/2014/main" id="{7DC131F0-F455-3B5B-5192-CAE1990057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6850" y="6443663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5428" name="Text Box 21">
            <a:extLst>
              <a:ext uri="{FF2B5EF4-FFF2-40B4-BE49-F238E27FC236}">
                <a16:creationId xmlns:a16="http://schemas.microsoft.com/office/drawing/2014/main" id="{4BA2A880-152E-B596-1785-61B41DE28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9467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C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3</a:t>
            </a:r>
          </a:p>
        </p:txBody>
      </p:sp>
      <p:sp>
        <p:nvSpPr>
          <p:cNvPr id="145429" name="Text Box 22">
            <a:extLst>
              <a:ext uri="{FF2B5EF4-FFF2-40B4-BE49-F238E27FC236}">
                <a16:creationId xmlns:a16="http://schemas.microsoft.com/office/drawing/2014/main" id="{057D0032-C2D4-B451-85EA-390D17BA0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6413" y="5935663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 i="1">
                <a:latin typeface="Times New Roman" panose="02020603050405020304" pitchFamily="18" charset="0"/>
                <a:ea typeface="굴림" panose="020B0600000101010101" pitchFamily="34" charset="-127"/>
              </a:rPr>
              <a:t>L</a:t>
            </a:r>
            <a:r>
              <a:rPr lang="en-US" altLang="ko-KR" sz="2800" i="1" baseline="-25000">
                <a:latin typeface="Times New Roman" panose="02020603050405020304" pitchFamily="18" charset="0"/>
                <a:ea typeface="굴림" panose="020B0600000101010101" pitchFamily="34" charset="-127"/>
              </a:rPr>
              <a:t>3</a:t>
            </a:r>
          </a:p>
        </p:txBody>
      </p:sp>
      <p:graphicFrame>
        <p:nvGraphicFramePr>
          <p:cNvPr id="145430" name="Object 8">
            <a:extLst>
              <a:ext uri="{FF2B5EF4-FFF2-40B4-BE49-F238E27FC236}">
                <a16:creationId xmlns:a16="http://schemas.microsoft.com/office/drawing/2014/main" id="{B3B408AD-115C-7560-46EE-EEBFFEC658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8425" y="5989638"/>
          <a:ext cx="1125538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5" imgW="1003300" imgH="723900" progId="Excel.Sheet.8">
                  <p:embed/>
                </p:oleObj>
              </mc:Choice>
              <mc:Fallback>
                <p:oleObj name="Worksheet" r:id="rId15" imgW="1003300" imgH="723900" progId="Excel.Sheet.8">
                  <p:embed/>
                  <p:pic>
                    <p:nvPicPr>
                      <p:cNvPr id="145430" name="Object 8">
                        <a:extLst>
                          <a:ext uri="{FF2B5EF4-FFF2-40B4-BE49-F238E27FC236}">
                            <a16:creationId xmlns:a16="http://schemas.microsoft.com/office/drawing/2014/main" id="{B3B408AD-115C-7560-46EE-EEBFFEC658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5989638"/>
                        <a:ext cx="1125538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31" name="Text Box 24">
            <a:extLst>
              <a:ext uri="{FF2B5EF4-FFF2-40B4-BE49-F238E27FC236}">
                <a16:creationId xmlns:a16="http://schemas.microsoft.com/office/drawing/2014/main" id="{AA4939FD-CD07-AB8F-455D-7F47B8782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3700" y="6026150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ko-KR" sz="2800">
                <a:latin typeface="Times New Roman" panose="02020603050405020304" pitchFamily="18" charset="0"/>
                <a:ea typeface="굴림" panose="020B0600000101010101" pitchFamily="34" charset="-127"/>
              </a:rPr>
              <a:t>Scan D</a:t>
            </a:r>
          </a:p>
        </p:txBody>
      </p:sp>
      <p:graphicFrame>
        <p:nvGraphicFramePr>
          <p:cNvPr id="145432" name="Object 9">
            <a:extLst>
              <a:ext uri="{FF2B5EF4-FFF2-40B4-BE49-F238E27FC236}">
                <a16:creationId xmlns:a16="http://schemas.microsoft.com/office/drawing/2014/main" id="{90FF49F9-597D-88D7-F77A-E8E2E30B29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0438" y="5980113"/>
          <a:ext cx="1754187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7" imgW="1587500" imgH="711200" progId="Excel.Sheet.8">
                  <p:embed/>
                </p:oleObj>
              </mc:Choice>
              <mc:Fallback>
                <p:oleObj name="Worksheet" r:id="rId17" imgW="1587500" imgH="711200" progId="Excel.Sheet.8">
                  <p:embed/>
                  <p:pic>
                    <p:nvPicPr>
                      <p:cNvPr id="145432" name="Object 9">
                        <a:extLst>
                          <a:ext uri="{FF2B5EF4-FFF2-40B4-BE49-F238E27FC236}">
                            <a16:creationId xmlns:a16="http://schemas.microsoft.com/office/drawing/2014/main" id="{90FF49F9-597D-88D7-F77A-E8E2E30B29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0438" y="5980113"/>
                        <a:ext cx="1754187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33" name="AutoShape 26">
            <a:extLst>
              <a:ext uri="{FF2B5EF4-FFF2-40B4-BE49-F238E27FC236}">
                <a16:creationId xmlns:a16="http://schemas.microsoft.com/office/drawing/2014/main" id="{205F7364-6FF2-E259-F254-4BBA7C171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4991100"/>
            <a:ext cx="441325" cy="1249363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800">
              <a:latin typeface="Tahoma" panose="020B0604030504040204" pitchFamily="34" charset="0"/>
            </a:endParaRPr>
          </a:p>
        </p:txBody>
      </p:sp>
      <p:sp>
        <p:nvSpPr>
          <p:cNvPr id="145434" name="Line 27">
            <a:extLst>
              <a:ext uri="{FF2B5EF4-FFF2-40B4-BE49-F238E27FC236}">
                <a16:creationId xmlns:a16="http://schemas.microsoft.com/office/drawing/2014/main" id="{58BFB89C-CF1C-9C1A-A0C3-B6E7FBD6CB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3213" y="2582863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5435" name="Line 28">
            <a:extLst>
              <a:ext uri="{FF2B5EF4-FFF2-40B4-BE49-F238E27FC236}">
                <a16:creationId xmlns:a16="http://schemas.microsoft.com/office/drawing/2014/main" id="{03E6DBF3-B704-4369-5D20-192BB6CC9B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68613" y="4792663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5436" name="Text Box 29">
            <a:extLst>
              <a:ext uri="{FF2B5EF4-FFF2-40B4-BE49-F238E27FC236}">
                <a16:creationId xmlns:a16="http://schemas.microsoft.com/office/drawing/2014/main" id="{C85E8961-01F3-F2BD-2FB0-89180CDA7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7213" y="6011863"/>
            <a:ext cx="1905000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400" b="1">
                <a:latin typeface="Tahoma" panose="020B0604030504040204" pitchFamily="34" charset="0"/>
                <a:ea typeface="굴림" panose="020B0600000101010101" pitchFamily="34" charset="-127"/>
              </a:rPr>
              <a:t>Constraint: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400" b="1">
                <a:latin typeface="Tahoma" panose="020B0604030504040204" pitchFamily="34" charset="0"/>
                <a:ea typeface="굴림" panose="020B0600000101010101" pitchFamily="34" charset="-127"/>
              </a:rPr>
              <a:t>min{S.price } &lt;= 1</a:t>
            </a:r>
          </a:p>
        </p:txBody>
      </p:sp>
      <p:sp>
        <p:nvSpPr>
          <p:cNvPr id="145437" name="Line 30">
            <a:extLst>
              <a:ext uri="{FF2B5EF4-FFF2-40B4-BE49-F238E27FC236}">
                <a16:creationId xmlns:a16="http://schemas.microsoft.com/office/drawing/2014/main" id="{69B1B295-4464-9766-340A-8D0422B182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8213" y="5707063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5438" name="Line 31">
            <a:extLst>
              <a:ext uri="{FF2B5EF4-FFF2-40B4-BE49-F238E27FC236}">
                <a16:creationId xmlns:a16="http://schemas.microsoft.com/office/drawing/2014/main" id="{F6CB6EAB-6341-5647-AA4B-E5ABF9A32A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8213" y="5402263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5439" name="Line 32">
            <a:extLst>
              <a:ext uri="{FF2B5EF4-FFF2-40B4-BE49-F238E27FC236}">
                <a16:creationId xmlns:a16="http://schemas.microsoft.com/office/drawing/2014/main" id="{01F60A9D-BF2D-55C8-2BBD-4EA8F753A3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8213" y="5097463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5440" name="Line 33">
            <a:extLst>
              <a:ext uri="{FF2B5EF4-FFF2-40B4-BE49-F238E27FC236}">
                <a16:creationId xmlns:a16="http://schemas.microsoft.com/office/drawing/2014/main" id="{18CDD42F-73A8-EDDD-9513-D20F739A41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9813" y="4792663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5441" name="Line 34">
            <a:extLst>
              <a:ext uri="{FF2B5EF4-FFF2-40B4-BE49-F238E27FC236}">
                <a16:creationId xmlns:a16="http://schemas.microsoft.com/office/drawing/2014/main" id="{A38F97C5-1580-6935-B94F-98B9EF1C82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9813" y="5173663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5442" name="Line 35">
            <a:extLst>
              <a:ext uri="{FF2B5EF4-FFF2-40B4-BE49-F238E27FC236}">
                <a16:creationId xmlns:a16="http://schemas.microsoft.com/office/drawing/2014/main" id="{26FD3232-A791-142A-3687-DEC053A559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9813" y="5478463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5443" name="Line 36">
            <a:extLst>
              <a:ext uri="{FF2B5EF4-FFF2-40B4-BE49-F238E27FC236}">
                <a16:creationId xmlns:a16="http://schemas.microsoft.com/office/drawing/2014/main" id="{EA5361F3-F4A0-988B-1E64-E80C2FDDA1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9813" y="6545263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5444" name="Line 37">
            <a:extLst>
              <a:ext uri="{FF2B5EF4-FFF2-40B4-BE49-F238E27FC236}">
                <a16:creationId xmlns:a16="http://schemas.microsoft.com/office/drawing/2014/main" id="{C3EB6E94-3907-A493-11C8-27E73726AB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3213" y="6621463"/>
            <a:ext cx="758825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45445" name="Group 38">
            <a:extLst>
              <a:ext uri="{FF2B5EF4-FFF2-40B4-BE49-F238E27FC236}">
                <a16:creationId xmlns:a16="http://schemas.microsoft.com/office/drawing/2014/main" id="{84C4AD1B-A2CA-8374-E87D-863771253062}"/>
              </a:ext>
            </a:extLst>
          </p:cNvPr>
          <p:cNvGrpSpPr>
            <a:grpSpLocks/>
          </p:cNvGrpSpPr>
          <p:nvPr/>
        </p:nvGrpSpPr>
        <p:grpSpPr bwMode="auto">
          <a:xfrm>
            <a:off x="6983413" y="4945063"/>
            <a:ext cx="762000" cy="152400"/>
            <a:chOff x="4272" y="3024"/>
            <a:chExt cx="480" cy="96"/>
          </a:xfrm>
        </p:grpSpPr>
        <p:sp>
          <p:nvSpPr>
            <p:cNvPr id="145456" name="Line 39">
              <a:extLst>
                <a:ext uri="{FF2B5EF4-FFF2-40B4-BE49-F238E27FC236}">
                  <a16:creationId xmlns:a16="http://schemas.microsoft.com/office/drawing/2014/main" id="{38CF8EEE-8378-F149-3678-D7A067476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5457" name="Line 40">
              <a:extLst>
                <a:ext uri="{FF2B5EF4-FFF2-40B4-BE49-F238E27FC236}">
                  <a16:creationId xmlns:a16="http://schemas.microsoft.com/office/drawing/2014/main" id="{ED089A62-D854-BD22-3E0B-AC2ED106EB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45446" name="Group 41">
            <a:extLst>
              <a:ext uri="{FF2B5EF4-FFF2-40B4-BE49-F238E27FC236}">
                <a16:creationId xmlns:a16="http://schemas.microsoft.com/office/drawing/2014/main" id="{2453C5BE-C0F9-ABC5-F01C-F6401B31887E}"/>
              </a:ext>
            </a:extLst>
          </p:cNvPr>
          <p:cNvGrpSpPr>
            <a:grpSpLocks/>
          </p:cNvGrpSpPr>
          <p:nvPr/>
        </p:nvGrpSpPr>
        <p:grpSpPr bwMode="auto">
          <a:xfrm>
            <a:off x="6983413" y="5249863"/>
            <a:ext cx="762000" cy="152400"/>
            <a:chOff x="4272" y="3024"/>
            <a:chExt cx="480" cy="96"/>
          </a:xfrm>
        </p:grpSpPr>
        <p:sp>
          <p:nvSpPr>
            <p:cNvPr id="145454" name="Line 42">
              <a:extLst>
                <a:ext uri="{FF2B5EF4-FFF2-40B4-BE49-F238E27FC236}">
                  <a16:creationId xmlns:a16="http://schemas.microsoft.com/office/drawing/2014/main" id="{2F4A37F5-BD2F-FA43-03F2-056B3E9E87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5455" name="Line 43">
              <a:extLst>
                <a:ext uri="{FF2B5EF4-FFF2-40B4-BE49-F238E27FC236}">
                  <a16:creationId xmlns:a16="http://schemas.microsoft.com/office/drawing/2014/main" id="{A31A0791-BEBC-45A4-8762-59C8CDEC3B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45447" name="Group 44">
            <a:extLst>
              <a:ext uri="{FF2B5EF4-FFF2-40B4-BE49-F238E27FC236}">
                <a16:creationId xmlns:a16="http://schemas.microsoft.com/office/drawing/2014/main" id="{48D1E638-15D4-76AE-F37A-3C141E7497AE}"/>
              </a:ext>
            </a:extLst>
          </p:cNvPr>
          <p:cNvGrpSpPr>
            <a:grpSpLocks/>
          </p:cNvGrpSpPr>
          <p:nvPr/>
        </p:nvGrpSpPr>
        <p:grpSpPr bwMode="auto">
          <a:xfrm>
            <a:off x="6983413" y="5630863"/>
            <a:ext cx="762000" cy="152400"/>
            <a:chOff x="4272" y="3024"/>
            <a:chExt cx="480" cy="96"/>
          </a:xfrm>
        </p:grpSpPr>
        <p:sp>
          <p:nvSpPr>
            <p:cNvPr id="145452" name="Line 45">
              <a:extLst>
                <a:ext uri="{FF2B5EF4-FFF2-40B4-BE49-F238E27FC236}">
                  <a16:creationId xmlns:a16="http://schemas.microsoft.com/office/drawing/2014/main" id="{E56E2C7C-476C-8F8D-B669-A3D11A2E8D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5453" name="Line 46">
              <a:extLst>
                <a:ext uri="{FF2B5EF4-FFF2-40B4-BE49-F238E27FC236}">
                  <a16:creationId xmlns:a16="http://schemas.microsoft.com/office/drawing/2014/main" id="{7A90B6F9-4B22-39EF-ED6A-338850D4CA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45448" name="Rectangle 47">
            <a:extLst>
              <a:ext uri="{FF2B5EF4-FFF2-40B4-BE49-F238E27FC236}">
                <a16:creationId xmlns:a16="http://schemas.microsoft.com/office/drawing/2014/main" id="{80B36E1A-C52D-03C6-6E2E-8048C5B01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213" y="4868863"/>
            <a:ext cx="914400" cy="914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800">
              <a:latin typeface="Tahoma" panose="020B0604030504040204" pitchFamily="34" charset="0"/>
            </a:endParaRPr>
          </a:p>
        </p:txBody>
      </p:sp>
      <p:sp>
        <p:nvSpPr>
          <p:cNvPr id="145449" name="Text Box 49">
            <a:extLst>
              <a:ext uri="{FF2B5EF4-FFF2-40B4-BE49-F238E27FC236}">
                <a16:creationId xmlns:a16="http://schemas.microsoft.com/office/drawing/2014/main" id="{823C72D7-C9FD-F855-CB39-AC8A8DF01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1138" y="4343400"/>
            <a:ext cx="1312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chemeClr val="hlink"/>
                </a:solidFill>
                <a:latin typeface="Tahoma" panose="020B0604030504040204" pitchFamily="34" charset="0"/>
                <a:ea typeface="굴림" panose="020B0600000101010101" pitchFamily="34" charset="-127"/>
              </a:rPr>
              <a:t>not immediately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chemeClr val="hlink"/>
                </a:solidFill>
                <a:latin typeface="Tahoma" panose="020B0604030504040204" pitchFamily="34" charset="0"/>
                <a:ea typeface="굴림" panose="020B0600000101010101" pitchFamily="34" charset="-127"/>
              </a:rPr>
              <a:t>to be used</a:t>
            </a:r>
          </a:p>
        </p:txBody>
      </p:sp>
      <p:sp>
        <p:nvSpPr>
          <p:cNvPr id="145450" name="Line 50">
            <a:extLst>
              <a:ext uri="{FF2B5EF4-FFF2-40B4-BE49-F238E27FC236}">
                <a16:creationId xmlns:a16="http://schemas.microsoft.com/office/drawing/2014/main" id="{634931D1-6AD6-DB5D-567A-D442A89F51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21613" y="4724400"/>
            <a:ext cx="484187" cy="449263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5451" name="Rectangle 51">
            <a:extLst>
              <a:ext uri="{FF2B5EF4-FFF2-40B4-BE49-F238E27FC236}">
                <a16:creationId xmlns:a16="http://schemas.microsoft.com/office/drawing/2014/main" id="{0166BB0D-DD89-6847-C88A-B4E052ABC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2013" y="4945063"/>
            <a:ext cx="1676400" cy="914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998398"/>
      </p:ext>
    </p:extLst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8771" name="Group 3">
            <a:extLst>
              <a:ext uri="{FF2B5EF4-FFF2-40B4-BE49-F238E27FC236}">
                <a16:creationId xmlns:a16="http://schemas.microsoft.com/office/drawing/2014/main" id="{98098B38-B41B-96AC-08E5-A1F79544FCB5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1506538"/>
          <a:ext cx="7848600" cy="4811714"/>
        </p:xfrm>
        <a:graphic>
          <a:graphicData uri="http://schemas.openxmlformats.org/drawingml/2006/table">
            <a:tbl>
              <a:tblPr/>
              <a:tblGrid>
                <a:gridCol w="248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5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Constraint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Antimonotone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Monotone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Succinct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v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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 S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S  V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S  V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min(S) 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v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min(S) 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v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max(S) 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v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max(S) 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v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count(S)  v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 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weakly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count(S)  v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weakly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sum(S)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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 v ( a 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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  S, a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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 0 )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sum(S)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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 v ( a 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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  S, a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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 0 )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range(S)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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 v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range(S)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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 v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avg(S)  v,   { ,  ,   }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convertible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convertible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support(S)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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 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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 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support(S)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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  <a:sym typeface="Symbol" charset="0"/>
                        </a:rPr>
                        <a:t>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   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yes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굴림" charset="0"/>
                          <a:cs typeface="굴림" charset="0"/>
                        </a:rPr>
                        <a:t>no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47549" name="Rectangle 2">
            <a:extLst>
              <a:ext uri="{FF2B5EF4-FFF2-40B4-BE49-F238E27FC236}">
                <a16:creationId xmlns:a16="http://schemas.microsoft.com/office/drawing/2014/main" id="{D37700EE-F60B-1656-B40E-5AD7D99D5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General Practice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147550" name="Picture 7" descr="JCU_Logo_RGB.jpg">
            <a:extLst>
              <a:ext uri="{FF2B5EF4-FFF2-40B4-BE49-F238E27FC236}">
                <a16:creationId xmlns:a16="http://schemas.microsoft.com/office/drawing/2014/main" id="{784C10F8-5260-6DBE-D270-384ADC1EE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7551" name="Line 9">
            <a:extLst>
              <a:ext uri="{FF2B5EF4-FFF2-40B4-BE49-F238E27FC236}">
                <a16:creationId xmlns:a16="http://schemas.microsoft.com/office/drawing/2014/main" id="{AD86FFDD-545B-610E-C037-A3A73A31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7552" name="Line 10">
            <a:extLst>
              <a:ext uri="{FF2B5EF4-FFF2-40B4-BE49-F238E27FC236}">
                <a16:creationId xmlns:a16="http://schemas.microsoft.com/office/drawing/2014/main" id="{C8684189-F2FC-9B80-FA3B-CB6FE3E028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7553" name="Slide Number Placeholder 6">
            <a:extLst>
              <a:ext uri="{FF2B5EF4-FFF2-40B4-BE49-F238E27FC236}">
                <a16:creationId xmlns:a16="http://schemas.microsoft.com/office/drawing/2014/main" id="{D99F0A13-D58F-E2E6-2FED-EA4F6FFA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EAC9DF-8C36-F44F-9EC0-63882362C5B2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444584"/>
      </p:ext>
    </p:extLst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505" name="Group 3">
            <a:extLst>
              <a:ext uri="{FF2B5EF4-FFF2-40B4-BE49-F238E27FC236}">
                <a16:creationId xmlns:a16="http://schemas.microsoft.com/office/drawing/2014/main" id="{6609ED90-B1D8-3317-CB41-9AC3E5E49A7F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676400"/>
            <a:ext cx="7848600" cy="4343400"/>
            <a:chOff x="480" y="1200"/>
            <a:chExt cx="5136" cy="2880"/>
          </a:xfrm>
        </p:grpSpPr>
        <p:sp>
          <p:nvSpPr>
            <p:cNvPr id="149511" name="Text Box 4">
              <a:extLst>
                <a:ext uri="{FF2B5EF4-FFF2-40B4-BE49-F238E27FC236}">
                  <a16:creationId xmlns:a16="http://schemas.microsoft.com/office/drawing/2014/main" id="{7855EA74-7C36-23C4-A2EB-4C2AA1F17C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120"/>
              <a:ext cx="1375" cy="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000" b="1">
                  <a:latin typeface="Tahoma" panose="020B0604030504040204" pitchFamily="34" charset="0"/>
                  <a:ea typeface="굴림" panose="020B0600000101010101" pitchFamily="34" charset="-127"/>
                </a:rPr>
                <a:t>Convertible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000" b="1">
                  <a:latin typeface="Tahoma" panose="020B0604030504040204" pitchFamily="34" charset="0"/>
                  <a:ea typeface="굴림" panose="020B0600000101010101" pitchFamily="34" charset="-127"/>
                </a:rPr>
                <a:t>anti-monotone</a:t>
              </a:r>
            </a:p>
          </p:txBody>
        </p:sp>
        <p:sp>
          <p:nvSpPr>
            <p:cNvPr id="149512" name="Text Box 5">
              <a:extLst>
                <a:ext uri="{FF2B5EF4-FFF2-40B4-BE49-F238E27FC236}">
                  <a16:creationId xmlns:a16="http://schemas.microsoft.com/office/drawing/2014/main" id="{F3E63870-38DD-383D-FD94-BE06EC940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120"/>
              <a:ext cx="1089" cy="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000" b="1">
                  <a:latin typeface="Tahoma" panose="020B0604030504040204" pitchFamily="34" charset="0"/>
                  <a:ea typeface="굴림" panose="020B0600000101010101" pitchFamily="34" charset="-127"/>
                </a:rPr>
                <a:t>Convertible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000" b="1">
                  <a:latin typeface="Tahoma" panose="020B0604030504040204" pitchFamily="34" charset="0"/>
                  <a:ea typeface="굴림" panose="020B0600000101010101" pitchFamily="34" charset="-127"/>
                </a:rPr>
                <a:t>monotone</a:t>
              </a:r>
            </a:p>
          </p:txBody>
        </p:sp>
        <p:sp>
          <p:nvSpPr>
            <p:cNvPr id="149513" name="Text Box 6">
              <a:extLst>
                <a:ext uri="{FF2B5EF4-FFF2-40B4-BE49-F238E27FC236}">
                  <a16:creationId xmlns:a16="http://schemas.microsoft.com/office/drawing/2014/main" id="{880CD5EA-3B0E-2436-24BF-C9640262C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256"/>
              <a:ext cx="96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600" b="1">
                  <a:latin typeface="Tahoma" panose="020B0604030504040204" pitchFamily="34" charset="0"/>
                  <a:ea typeface="굴림" panose="020B0600000101010101" pitchFamily="34" charset="-127"/>
                </a:rPr>
                <a:t>Strongly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600" b="1">
                  <a:latin typeface="Tahoma" panose="020B0604030504040204" pitchFamily="34" charset="0"/>
                  <a:ea typeface="굴림" panose="020B0600000101010101" pitchFamily="34" charset="-127"/>
                </a:rPr>
                <a:t>convertible</a:t>
              </a:r>
            </a:p>
          </p:txBody>
        </p:sp>
        <p:sp>
          <p:nvSpPr>
            <p:cNvPr id="149514" name="Rectangle 7">
              <a:extLst>
                <a:ext uri="{FF2B5EF4-FFF2-40B4-BE49-F238E27FC236}">
                  <a16:creationId xmlns:a16="http://schemas.microsoft.com/office/drawing/2014/main" id="{CC4B6145-43E8-D1F2-6DA7-A84484188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200"/>
              <a:ext cx="5136" cy="2880"/>
            </a:xfrm>
            <a:prstGeom prst="rect">
              <a:avLst/>
            </a:prstGeom>
            <a:noFill/>
            <a:ln w="635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2800">
                <a:latin typeface="Tahoma" panose="020B0604030504040204" pitchFamily="34" charset="0"/>
              </a:endParaRPr>
            </a:p>
          </p:txBody>
        </p:sp>
        <p:sp>
          <p:nvSpPr>
            <p:cNvPr id="149515" name="Text Box 8">
              <a:extLst>
                <a:ext uri="{FF2B5EF4-FFF2-40B4-BE49-F238E27FC236}">
                  <a16:creationId xmlns:a16="http://schemas.microsoft.com/office/drawing/2014/main" id="{13769FA2-D1DC-823F-8F11-2372ECC0F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744"/>
              <a:ext cx="1253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000" b="1">
                  <a:latin typeface="Tahoma" panose="020B0604030504040204" pitchFamily="34" charset="0"/>
                  <a:ea typeface="굴림" panose="020B0600000101010101" pitchFamily="34" charset="-127"/>
                </a:rPr>
                <a:t>Inconvertible</a:t>
              </a:r>
            </a:p>
          </p:txBody>
        </p:sp>
        <p:sp>
          <p:nvSpPr>
            <p:cNvPr id="149516" name="Oval 9">
              <a:extLst>
                <a:ext uri="{FF2B5EF4-FFF2-40B4-BE49-F238E27FC236}">
                  <a16:creationId xmlns:a16="http://schemas.microsoft.com/office/drawing/2014/main" id="{39C84366-3750-BEA1-878E-06EE503AF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296"/>
              <a:ext cx="2592" cy="25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2800">
                <a:latin typeface="Tahoma" panose="020B0604030504040204" pitchFamily="34" charset="0"/>
              </a:endParaRPr>
            </a:p>
          </p:txBody>
        </p:sp>
        <p:sp>
          <p:nvSpPr>
            <p:cNvPr id="149517" name="Oval 10">
              <a:extLst>
                <a:ext uri="{FF2B5EF4-FFF2-40B4-BE49-F238E27FC236}">
                  <a16:creationId xmlns:a16="http://schemas.microsoft.com/office/drawing/2014/main" id="{1EEFA5EE-ECA0-C4CB-D629-0F2A655EF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344"/>
              <a:ext cx="2592" cy="25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2800">
                <a:latin typeface="Tahoma" panose="020B0604030504040204" pitchFamily="34" charset="0"/>
              </a:endParaRPr>
            </a:p>
          </p:txBody>
        </p:sp>
        <p:sp>
          <p:nvSpPr>
            <p:cNvPr id="149518" name="Oval 11">
              <a:extLst>
                <a:ext uri="{FF2B5EF4-FFF2-40B4-BE49-F238E27FC236}">
                  <a16:creationId xmlns:a16="http://schemas.microsoft.com/office/drawing/2014/main" id="{1F3B161C-6A3B-2DBC-8BEB-9CFAEA46F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968"/>
              <a:ext cx="3024" cy="9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2800">
                <a:latin typeface="Tahoma" panose="020B0604030504040204" pitchFamily="34" charset="0"/>
              </a:endParaRPr>
            </a:p>
          </p:txBody>
        </p:sp>
        <p:sp>
          <p:nvSpPr>
            <p:cNvPr id="149519" name="Oval 12">
              <a:extLst>
                <a:ext uri="{FF2B5EF4-FFF2-40B4-BE49-F238E27FC236}">
                  <a16:creationId xmlns:a16="http://schemas.microsoft.com/office/drawing/2014/main" id="{26842C67-5A89-95E2-C56C-99CA3E905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392"/>
              <a:ext cx="1488" cy="11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2800">
                <a:latin typeface="Tahoma" panose="020B0604030504040204" pitchFamily="34" charset="0"/>
              </a:endParaRPr>
            </a:p>
          </p:txBody>
        </p:sp>
        <p:sp>
          <p:nvSpPr>
            <p:cNvPr id="149520" name="Oval 13">
              <a:extLst>
                <a:ext uri="{FF2B5EF4-FFF2-40B4-BE49-F238E27FC236}">
                  <a16:creationId xmlns:a16="http://schemas.microsoft.com/office/drawing/2014/main" id="{1BAC405A-5A1F-4547-7E15-DC53F3C25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344"/>
              <a:ext cx="1488" cy="11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2800">
                <a:latin typeface="Tahoma" panose="020B0604030504040204" pitchFamily="34" charset="0"/>
              </a:endParaRPr>
            </a:p>
          </p:txBody>
        </p:sp>
        <p:sp>
          <p:nvSpPr>
            <p:cNvPr id="149521" name="Text Box 14">
              <a:extLst>
                <a:ext uri="{FF2B5EF4-FFF2-40B4-BE49-F238E27FC236}">
                  <a16:creationId xmlns:a16="http://schemas.microsoft.com/office/drawing/2014/main" id="{55477331-F9E6-33EC-0819-17EA09DC2F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496"/>
              <a:ext cx="825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000" b="1">
                  <a:latin typeface="Tahoma" panose="020B0604030504040204" pitchFamily="34" charset="0"/>
                  <a:ea typeface="굴림" panose="020B0600000101010101" pitchFamily="34" charset="-127"/>
                </a:rPr>
                <a:t>Succinct</a:t>
              </a:r>
            </a:p>
          </p:txBody>
        </p:sp>
        <p:sp>
          <p:nvSpPr>
            <p:cNvPr id="149522" name="Text Box 15">
              <a:extLst>
                <a:ext uri="{FF2B5EF4-FFF2-40B4-BE49-F238E27FC236}">
                  <a16:creationId xmlns:a16="http://schemas.microsoft.com/office/drawing/2014/main" id="{85C34F76-EBAB-CC3D-6467-998B4E3B0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728"/>
              <a:ext cx="1488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2000" b="1">
                  <a:latin typeface="Tahoma" panose="020B0604030504040204" pitchFamily="34" charset="0"/>
                  <a:ea typeface="굴림" panose="020B0600000101010101" pitchFamily="34" charset="-127"/>
                </a:rPr>
                <a:t>Antimonotone</a:t>
              </a:r>
            </a:p>
          </p:txBody>
        </p:sp>
        <p:sp>
          <p:nvSpPr>
            <p:cNvPr id="149523" name="Text Box 16">
              <a:extLst>
                <a:ext uri="{FF2B5EF4-FFF2-40B4-BE49-F238E27FC236}">
                  <a16:creationId xmlns:a16="http://schemas.microsoft.com/office/drawing/2014/main" id="{0B47B8C3-5661-4861-254E-33B35EB023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0" y="2661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ko-KR" altLang="en-AU" sz="2800">
                <a:latin typeface="Tahoma" panose="020B0604030504040204" pitchFamily="34" charset="0"/>
                <a:ea typeface="굴림" panose="020B0600000101010101" pitchFamily="34" charset="-127"/>
              </a:endParaRPr>
            </a:p>
          </p:txBody>
        </p:sp>
        <p:sp>
          <p:nvSpPr>
            <p:cNvPr id="149524" name="Text Box 17">
              <a:extLst>
                <a:ext uri="{FF2B5EF4-FFF2-40B4-BE49-F238E27FC236}">
                  <a16:creationId xmlns:a16="http://schemas.microsoft.com/office/drawing/2014/main" id="{C12B39DF-CBE2-A9AF-7B5B-F369415DD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632"/>
              <a:ext cx="965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000" b="1">
                  <a:latin typeface="Tahoma" panose="020B0604030504040204" pitchFamily="34" charset="0"/>
                  <a:ea typeface="굴림" panose="020B0600000101010101" pitchFamily="34" charset="-127"/>
                </a:rPr>
                <a:t>Monotone</a:t>
              </a:r>
            </a:p>
          </p:txBody>
        </p:sp>
      </p:grpSp>
      <p:sp>
        <p:nvSpPr>
          <p:cNvPr id="149506" name="Rectangle 2">
            <a:extLst>
              <a:ext uri="{FF2B5EF4-FFF2-40B4-BE49-F238E27FC236}">
                <a16:creationId xmlns:a16="http://schemas.microsoft.com/office/drawing/2014/main" id="{B466AE04-E768-8A43-4A76-625E84534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662738" cy="815975"/>
          </a:xfrm>
        </p:spPr>
        <p:txBody>
          <a:bodyPr lIns="0" tIns="0" rIns="0" bIns="0"/>
          <a:lstStyle/>
          <a:p>
            <a:pPr algn="l"/>
            <a:r>
              <a:rPr lang="en-AU" altLang="en-US">
                <a:solidFill>
                  <a:srgbClr val="0066B3"/>
                </a:solidFill>
                <a:latin typeface="Times" pitchFamily="-84" charset="0"/>
                <a:ea typeface="ＭＳ Ｐゴシック" panose="020B0600070205080204" pitchFamily="34" charset="-128"/>
              </a:rPr>
              <a:t>Classification of Constraints</a:t>
            </a:r>
            <a:endParaRPr lang="en-US" altLang="en-US">
              <a:solidFill>
                <a:srgbClr val="0066B3"/>
              </a:solidFill>
              <a:latin typeface="Times" pitchFamily="-84" charset="0"/>
              <a:ea typeface="ＭＳ Ｐゴシック" panose="020B0600070205080204" pitchFamily="34" charset="-128"/>
            </a:endParaRPr>
          </a:p>
        </p:txBody>
      </p:sp>
      <p:pic>
        <p:nvPicPr>
          <p:cNvPr id="149507" name="Picture 7" descr="JCU_Logo_RGB.jpg">
            <a:extLst>
              <a:ext uri="{FF2B5EF4-FFF2-40B4-BE49-F238E27FC236}">
                <a16:creationId xmlns:a16="http://schemas.microsoft.com/office/drawing/2014/main" id="{7FA784D6-326C-280B-D54E-BF0DF77B9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241300"/>
            <a:ext cx="181451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9508" name="Line 9">
            <a:extLst>
              <a:ext uri="{FF2B5EF4-FFF2-40B4-BE49-F238E27FC236}">
                <a16:creationId xmlns:a16="http://schemas.microsoft.com/office/drawing/2014/main" id="{E6EF79E3-DE27-1342-4CB2-DF6D7BC45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196975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509" name="Line 10">
            <a:extLst>
              <a:ext uri="{FF2B5EF4-FFF2-40B4-BE49-F238E27FC236}">
                <a16:creationId xmlns:a16="http://schemas.microsoft.com/office/drawing/2014/main" id="{19827FB6-909E-4BB0-FFD6-64B68CD29C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586538"/>
            <a:ext cx="8164513" cy="0"/>
          </a:xfrm>
          <a:prstGeom prst="line">
            <a:avLst/>
          </a:prstGeom>
          <a:noFill/>
          <a:ln w="6350">
            <a:solidFill>
              <a:srgbClr val="005A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510" name="Slide Number Placeholder 6">
            <a:extLst>
              <a:ext uri="{FF2B5EF4-FFF2-40B4-BE49-F238E27FC236}">
                <a16:creationId xmlns:a16="http://schemas.microsoft.com/office/drawing/2014/main" id="{3B2CA68E-8A40-FE3F-00C3-3C0B1068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26177A-EC19-3A4B-85A5-15F6D846F6C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493362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040782-C37B-764D-B7FE-F961436603D0}">
  <we:reference id="WA200010215" version="2.0.0.1" store="Omex" storeType="OMEX"/>
  <we:alternateReferences>
    <we:reference id="WA200010215" version="2.0.0.1" store="WA200010215" storeType="OMEX"/>
  </we:alternateReferences>
  <we:properties>
    <we:property name="bps.codex_control.document_id" value="&quot;65f5eb0c-aae1-4628-bca1-ec7c7cc8c0e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D23BF17FCDC947B8E404D646247F8D" ma:contentTypeVersion="16" ma:contentTypeDescription="Create a new document." ma:contentTypeScope="" ma:versionID="29d8ace8dc41074792c1ec8140cc849b">
  <xsd:schema xmlns:xsd="http://www.w3.org/2001/XMLSchema" xmlns:xs="http://www.w3.org/2001/XMLSchema" xmlns:p="http://schemas.microsoft.com/office/2006/metadata/properties" xmlns:ns2="0f5e39c8-e5a1-4a0d-b53f-9134be983d19" xmlns:ns3="c64b295e-e158-430a-a9fe-95bbf17b9d7d" targetNamespace="http://schemas.microsoft.com/office/2006/metadata/properties" ma:root="true" ma:fieldsID="f469e829c8e0d9e5502ef49b41822689" ns2:_="" ns3:_="">
    <xsd:import namespace="0f5e39c8-e5a1-4a0d-b53f-9134be983d19"/>
    <xsd:import namespace="c64b295e-e158-430a-a9fe-95bbf17b9d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5e39c8-e5a1-4a0d-b53f-9134be983d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9026d15-0072-472a-9e8b-1e695e239e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4b295e-e158-430a-a9fe-95bbf17b9d7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68d3613-7e1d-4cd9-9b9e-5b63bfbe3843}" ma:internalName="TaxCatchAll" ma:showField="CatchAllData" ma:web="c64b295e-e158-430a-a9fe-95bbf17b9d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0C39A51-F0C0-4CBB-844E-CD56A56B85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5e39c8-e5a1-4a0d-b53f-9134be983d19"/>
    <ds:schemaRef ds:uri="c64b295e-e158-430a-a9fe-95bbf17b9d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FD6B3A7-8845-4715-9CAD-6A8D0C11BCC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5392</Words>
  <Application>Microsoft Macintosh PowerPoint</Application>
  <PresentationFormat>On-screen Show (4:3)</PresentationFormat>
  <Paragraphs>1554</Paragraphs>
  <Slides>74</Slides>
  <Notes>68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74</vt:i4>
      </vt:variant>
    </vt:vector>
  </HeadingPairs>
  <TitlesOfParts>
    <vt:vector size="92" baseType="lpstr">
      <vt:lpstr>DengXian</vt:lpstr>
      <vt:lpstr>굴림</vt:lpstr>
      <vt:lpstr>ＭＳ Ｐゴシック</vt:lpstr>
      <vt:lpstr>Arial</vt:lpstr>
      <vt:lpstr>Bookman Old Style</vt:lpstr>
      <vt:lpstr>Calibri</vt:lpstr>
      <vt:lpstr>Cambria Math</vt:lpstr>
      <vt:lpstr>Symbol</vt:lpstr>
      <vt:lpstr>Tahoma</vt:lpstr>
      <vt:lpstr>Times</vt:lpstr>
      <vt:lpstr>Times New Roman</vt:lpstr>
      <vt:lpstr>Verdana</vt:lpstr>
      <vt:lpstr>Wingdings</vt:lpstr>
      <vt:lpstr>Office Theme</vt:lpstr>
      <vt:lpstr>Chart</vt:lpstr>
      <vt:lpstr>Equation</vt:lpstr>
      <vt:lpstr>Image</vt:lpstr>
      <vt:lpstr>Worksheet</vt:lpstr>
      <vt:lpstr>Association Rules mining Princess of Data Mining</vt:lpstr>
      <vt:lpstr>Reading</vt:lpstr>
      <vt:lpstr>Outline</vt:lpstr>
      <vt:lpstr>Association Rules Mining</vt:lpstr>
      <vt:lpstr>Association Rules Mining</vt:lpstr>
      <vt:lpstr>ARM - Cartoon</vt:lpstr>
      <vt:lpstr>ARM - Quote</vt:lpstr>
      <vt:lpstr>ARM – Important Terms</vt:lpstr>
      <vt:lpstr>Association Rules Mining</vt:lpstr>
      <vt:lpstr>Used in many recommender systems</vt:lpstr>
      <vt:lpstr>Transaction Database</vt:lpstr>
      <vt:lpstr>Transaction Database</vt:lpstr>
      <vt:lpstr>Itemsets and Association Rules</vt:lpstr>
      <vt:lpstr>Use of Association Rules</vt:lpstr>
      <vt:lpstr>Measuring the strength of a rule</vt:lpstr>
      <vt:lpstr>Support and Confidence</vt:lpstr>
      <vt:lpstr>Support and Confidence</vt:lpstr>
      <vt:lpstr>Support and Confidence</vt:lpstr>
      <vt:lpstr>Support and Confidence</vt:lpstr>
      <vt:lpstr>Support and Confidence</vt:lpstr>
      <vt:lpstr>Think/Pair/Share</vt:lpstr>
      <vt:lpstr>Outline</vt:lpstr>
      <vt:lpstr>How to Mine?</vt:lpstr>
      <vt:lpstr>Apriori</vt:lpstr>
      <vt:lpstr>Apriori Algorithm – An Example</vt:lpstr>
      <vt:lpstr>Details of Apriori</vt:lpstr>
      <vt:lpstr>Apriori Rule Generation - Example</vt:lpstr>
      <vt:lpstr>Apriori Rule Generation - Example</vt:lpstr>
      <vt:lpstr>Apriori Rule Generation - Example</vt:lpstr>
      <vt:lpstr>Apriori Rule Generation - Example</vt:lpstr>
      <vt:lpstr>Bottleneck of Apriori</vt:lpstr>
      <vt:lpstr>Think/Pair/Share</vt:lpstr>
      <vt:lpstr>Outline</vt:lpstr>
      <vt:lpstr>FP-Tree</vt:lpstr>
      <vt:lpstr>Example for FP-Tree</vt:lpstr>
      <vt:lpstr>PowerPoint Presentation</vt:lpstr>
      <vt:lpstr>FP-Tree</vt:lpstr>
      <vt:lpstr>Aprior vs. FP-tree</vt:lpstr>
      <vt:lpstr>Problem: Too Many Patterns</vt:lpstr>
      <vt:lpstr>Closed Patterns</vt:lpstr>
      <vt:lpstr>PowerPoint Presentation</vt:lpstr>
      <vt:lpstr>Max Patterns</vt:lpstr>
      <vt:lpstr>Think/Pair/Share</vt:lpstr>
      <vt:lpstr>Outline</vt:lpstr>
      <vt:lpstr>ARM Issues in Practice</vt:lpstr>
      <vt:lpstr>ARM Issues in Practice</vt:lpstr>
      <vt:lpstr>PowerPoint Presentation</vt:lpstr>
      <vt:lpstr>Multi-level ARM</vt:lpstr>
      <vt:lpstr>MARM: Redundancy</vt:lpstr>
      <vt:lpstr>Quantitative ARM</vt:lpstr>
      <vt:lpstr>Interesting Measure: Lift</vt:lpstr>
      <vt:lpstr>Lift</vt:lpstr>
      <vt:lpstr>Review</vt:lpstr>
      <vt:lpstr>Review</vt:lpstr>
      <vt:lpstr>Question</vt:lpstr>
      <vt:lpstr>Question</vt:lpstr>
      <vt:lpstr>Think/Pair/Share</vt:lpstr>
      <vt:lpstr>ARM Quiz</vt:lpstr>
      <vt:lpstr>ARM Quiz</vt:lpstr>
      <vt:lpstr>ARM Quiz</vt:lpstr>
      <vt:lpstr>ARM Quiz</vt:lpstr>
      <vt:lpstr>Outline</vt:lpstr>
      <vt:lpstr>Constraint ARM</vt:lpstr>
      <vt:lpstr>Constraints in Mining</vt:lpstr>
      <vt:lpstr>Anti-monotonicity</vt:lpstr>
      <vt:lpstr>Monotonicity</vt:lpstr>
      <vt:lpstr>Succinctness</vt:lpstr>
      <vt:lpstr>Convertibility</vt:lpstr>
      <vt:lpstr>The Apriori Algorithm — Example</vt:lpstr>
      <vt:lpstr>Naïve Algorithm: Apriori + Constraint </vt:lpstr>
      <vt:lpstr>The Constrained Apriori Algorithm: Push an Anti-monotone Constraint Deep </vt:lpstr>
      <vt:lpstr>The Constrained Apriori Algorithm: Push a Succinct Constraint Deep </vt:lpstr>
      <vt:lpstr>General Practice</vt:lpstr>
      <vt:lpstr>Classification of Constraints</vt:lpstr>
    </vt:vector>
  </TitlesOfParts>
  <Company>James Cook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Amanda Page</dc:creator>
  <cp:lastModifiedBy>Zi Xian, Elijah Ang</cp:lastModifiedBy>
  <cp:revision>158</cp:revision>
  <cp:lastPrinted>2009-02-11T05:45:31Z</cp:lastPrinted>
  <dcterms:created xsi:type="dcterms:W3CDTF">2009-02-16T05:08:11Z</dcterms:created>
  <dcterms:modified xsi:type="dcterms:W3CDTF">2026-10-01T07:12:26Z</dcterms:modified>
</cp:coreProperties>
</file>